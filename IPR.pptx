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2.xml" ContentType="application/vnd.openxmlformats-officedocument.them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1"/>
  </p:notesMasterIdLst>
  <p:sldIdLst>
    <p:sldId id="257" r:id="rId2"/>
    <p:sldId id="259" r:id="rId3"/>
    <p:sldId id="273" r:id="rId4"/>
    <p:sldId id="274" r:id="rId5"/>
    <p:sldId id="275" r:id="rId6"/>
    <p:sldId id="276" r:id="rId7"/>
    <p:sldId id="277" r:id="rId8"/>
    <p:sldId id="278" r:id="rId9"/>
    <p:sldId id="279" r:id="rId10"/>
    <p:sldId id="280" r:id="rId11"/>
    <p:sldId id="281" r:id="rId12"/>
    <p:sldId id="282" r:id="rId13"/>
    <p:sldId id="283" r:id="rId14"/>
    <p:sldId id="284" r:id="rId15"/>
    <p:sldId id="288" r:id="rId16"/>
    <p:sldId id="285" r:id="rId17"/>
    <p:sldId id="286" r:id="rId18"/>
    <p:sldId id="287" r:id="rId19"/>
    <p:sldId id="289" r:id="rId20"/>
    <p:sldId id="290" r:id="rId21"/>
    <p:sldId id="291" r:id="rId22"/>
    <p:sldId id="292" r:id="rId23"/>
    <p:sldId id="293" r:id="rId24"/>
    <p:sldId id="294" r:id="rId25"/>
    <p:sldId id="295" r:id="rId26"/>
    <p:sldId id="300" r:id="rId27"/>
    <p:sldId id="301" r:id="rId28"/>
    <p:sldId id="296" r:id="rId29"/>
    <p:sldId id="297" r:id="rId30"/>
    <p:sldId id="302" r:id="rId31"/>
    <p:sldId id="298" r:id="rId32"/>
    <p:sldId id="299" r:id="rId33"/>
    <p:sldId id="303" r:id="rId34"/>
    <p:sldId id="320" r:id="rId35"/>
    <p:sldId id="304" r:id="rId36"/>
    <p:sldId id="305" r:id="rId37"/>
    <p:sldId id="306" r:id="rId38"/>
    <p:sldId id="307" r:id="rId39"/>
    <p:sldId id="308" r:id="rId40"/>
    <p:sldId id="309" r:id="rId41"/>
    <p:sldId id="310" r:id="rId42"/>
    <p:sldId id="311" r:id="rId43"/>
    <p:sldId id="312" r:id="rId44"/>
    <p:sldId id="313" r:id="rId45"/>
    <p:sldId id="314" r:id="rId46"/>
    <p:sldId id="315" r:id="rId47"/>
    <p:sldId id="316" r:id="rId48"/>
    <p:sldId id="317" r:id="rId49"/>
    <p:sldId id="321" r:id="rId50"/>
    <p:sldId id="318" r:id="rId51"/>
    <p:sldId id="322" r:id="rId52"/>
    <p:sldId id="323" r:id="rId53"/>
    <p:sldId id="324" r:id="rId54"/>
    <p:sldId id="325" r:id="rId55"/>
    <p:sldId id="326" r:id="rId56"/>
    <p:sldId id="327" r:id="rId57"/>
    <p:sldId id="328" r:id="rId58"/>
    <p:sldId id="329" r:id="rId59"/>
    <p:sldId id="332" r:id="rId60"/>
    <p:sldId id="330" r:id="rId61"/>
    <p:sldId id="331" r:id="rId62"/>
    <p:sldId id="319" r:id="rId63"/>
    <p:sldId id="333" r:id="rId64"/>
    <p:sldId id="334" r:id="rId65"/>
    <p:sldId id="335" r:id="rId66"/>
    <p:sldId id="336" r:id="rId67"/>
    <p:sldId id="337" r:id="rId68"/>
    <p:sldId id="338" r:id="rId69"/>
    <p:sldId id="339" r:id="rId70"/>
    <p:sldId id="340" r:id="rId71"/>
    <p:sldId id="341" r:id="rId72"/>
    <p:sldId id="343" r:id="rId73"/>
    <p:sldId id="344" r:id="rId74"/>
    <p:sldId id="345" r:id="rId75"/>
    <p:sldId id="346" r:id="rId76"/>
    <p:sldId id="347" r:id="rId77"/>
    <p:sldId id="348" r:id="rId78"/>
    <p:sldId id="349" r:id="rId79"/>
    <p:sldId id="350" r:id="rId80"/>
    <p:sldId id="351" r:id="rId81"/>
    <p:sldId id="352" r:id="rId82"/>
    <p:sldId id="353" r:id="rId83"/>
    <p:sldId id="354" r:id="rId84"/>
    <p:sldId id="355" r:id="rId85"/>
    <p:sldId id="356" r:id="rId86"/>
    <p:sldId id="357" r:id="rId87"/>
    <p:sldId id="358" r:id="rId88"/>
    <p:sldId id="359" r:id="rId89"/>
    <p:sldId id="360" r:id="rId90"/>
    <p:sldId id="361" r:id="rId91"/>
    <p:sldId id="362" r:id="rId92"/>
    <p:sldId id="363" r:id="rId93"/>
    <p:sldId id="364" r:id="rId94"/>
    <p:sldId id="365" r:id="rId95"/>
    <p:sldId id="366" r:id="rId96"/>
    <p:sldId id="367" r:id="rId97"/>
    <p:sldId id="368" r:id="rId98"/>
    <p:sldId id="369" r:id="rId99"/>
    <p:sldId id="370" r:id="rId100"/>
    <p:sldId id="371" r:id="rId101"/>
    <p:sldId id="372" r:id="rId102"/>
    <p:sldId id="373" r:id="rId103"/>
    <p:sldId id="374" r:id="rId104"/>
    <p:sldId id="375" r:id="rId105"/>
    <p:sldId id="376" r:id="rId106"/>
    <p:sldId id="377" r:id="rId107"/>
    <p:sldId id="378" r:id="rId108"/>
    <p:sldId id="379" r:id="rId109"/>
    <p:sldId id="380" r:id="rId110"/>
    <p:sldId id="381" r:id="rId111"/>
    <p:sldId id="382" r:id="rId112"/>
    <p:sldId id="383" r:id="rId113"/>
    <p:sldId id="384" r:id="rId114"/>
    <p:sldId id="385" r:id="rId115"/>
    <p:sldId id="386" r:id="rId116"/>
    <p:sldId id="387" r:id="rId117"/>
    <p:sldId id="388" r:id="rId118"/>
    <p:sldId id="389" r:id="rId119"/>
    <p:sldId id="390" r:id="rId120"/>
    <p:sldId id="391" r:id="rId121"/>
    <p:sldId id="392" r:id="rId122"/>
    <p:sldId id="393" r:id="rId123"/>
    <p:sldId id="394" r:id="rId124"/>
    <p:sldId id="395" r:id="rId125"/>
    <p:sldId id="396" r:id="rId126"/>
    <p:sldId id="397" r:id="rId127"/>
    <p:sldId id="398" r:id="rId128"/>
    <p:sldId id="399" r:id="rId129"/>
    <p:sldId id="260"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69" d="100"/>
          <a:sy n="69" d="100"/>
        </p:scale>
        <p:origin x="608" y="4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579326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1.xml"/><Relationship Id="rId7"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Master" Target="../slideMasters/slideMaster1.xml"/><Relationship Id="rId5" Type="http://schemas.openxmlformats.org/officeDocument/2006/relationships/tags" Target="../tags/tag29.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7.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image" Target="../media/image2.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slideMaster" Target="../slideMasters/slideMaster1.xml"/><Relationship Id="rId5" Type="http://schemas.openxmlformats.org/officeDocument/2006/relationships/tags" Target="../tags/tag34.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slideMaster" Target="../slideMasters/slideMaster1.xml"/><Relationship Id="rId4" Type="http://schemas.openxmlformats.org/officeDocument/2006/relationships/tags" Target="../tags/tag64.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Master" Target="../slideMasters/slideMaster1.xml"/><Relationship Id="rId5" Type="http://schemas.openxmlformats.org/officeDocument/2006/relationships/tags" Target="../tags/tag69.xml"/><Relationship Id="rId4" Type="http://schemas.openxmlformats.org/officeDocument/2006/relationships/tags" Target="../tags/tag68.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7.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2.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slideMaster" Target="../slideMasters/slideMaster1.xml"/><Relationship Id="rId5" Type="http://schemas.openxmlformats.org/officeDocument/2006/relationships/tags" Target="../tags/tag74.xml"/><Relationship Id="rId10" Type="http://schemas.openxmlformats.org/officeDocument/2006/relationships/tags" Target="../tags/tag79.xml"/><Relationship Id="rId4" Type="http://schemas.openxmlformats.org/officeDocument/2006/relationships/tags" Target="../tags/tag73.xml"/><Relationship Id="rId9" Type="http://schemas.openxmlformats.org/officeDocument/2006/relationships/tags" Target="../tags/tag7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2" name="矩形 11"/>
          <p:cNvSpPr/>
          <p:nvPr>
            <p:custDataLst>
              <p:tags r:id="rId1"/>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sp>
        <p:nvSpPr>
          <p:cNvPr id="13" name="等腰三角形 15"/>
          <p:cNvSpPr/>
          <p:nvPr>
            <p:custDataLst>
              <p:tags r:id="rId2"/>
            </p:custDataLst>
          </p:nvPr>
        </p:nvSpPr>
        <p:spPr>
          <a:xfrm rot="13818227">
            <a:off x="10679324" y="3597564"/>
            <a:ext cx="416585"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4" name="图片 13"/>
          <p:cNvPicPr>
            <a:picLocks noChangeAspect="1"/>
          </p:cNvPicPr>
          <p:nvPr>
            <p:custDataLst>
              <p:tags r:id="rId3"/>
            </p:custDataLst>
          </p:nvPr>
        </p:nvPicPr>
        <p:blipFill>
          <a:blip r:embed="rId13">
            <a:extLst>
              <a:ext uri="{28A0092B-C50C-407E-A947-70E740481C1C}">
                <a14:useLocalDpi xmlns:a14="http://schemas.microsoft.com/office/drawing/2010/main" val="0"/>
              </a:ext>
            </a:extLst>
          </a:blip>
          <a:srcRect l="79693" t="52925"/>
          <a:stretch>
            <a:fillRect/>
          </a:stretch>
        </p:blipFill>
        <p:spPr>
          <a:xfrm>
            <a:off x="9715433" y="3636576"/>
            <a:ext cx="2475424"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hasCustomPrompt="1"/>
            <p:custDataLst>
              <p:tags r:id="rId4"/>
            </p:custDataLst>
          </p:nvPr>
        </p:nvSpPr>
        <p:spPr>
          <a:xfrm>
            <a:off x="838200" y="1252855"/>
            <a:ext cx="10515600" cy="2902585"/>
          </a:xfrm>
          <a:noFill/>
        </p:spPr>
        <p:txBody>
          <a:bodyPr wrap="square" rtlCol="0" anchor="t">
            <a:normAutofit/>
          </a:bodyPr>
          <a:lstStyle>
            <a:lvl1pPr>
              <a:defRPr lang="en-US" sz="5200" dirty="0">
                <a:gradFill flip="none" rotWithShape="1">
                  <a:gsLst>
                    <a:gs pos="0">
                      <a:schemeClr val="accent2">
                        <a:lumMod val="60000"/>
                        <a:lumOff val="40000"/>
                      </a:schemeClr>
                    </a:gs>
                    <a:gs pos="35000">
                      <a:schemeClr val="accent2"/>
                    </a:gs>
                    <a:gs pos="100000">
                      <a:schemeClr val="accent1"/>
                    </a:gs>
                  </a:gsLst>
                  <a:lin ang="3000000" scaled="0"/>
                  <a:tileRect/>
                </a:gradFill>
                <a:latin typeface="+mj-lt"/>
                <a:sym typeface="+mn-lt"/>
              </a:defRPr>
            </a:lvl1pPr>
          </a:lstStyle>
          <a:p>
            <a:pPr marL="0" lvl="0" defTabSz="1218565"/>
            <a:r>
              <a:rPr sz="6000" dirty="0">
                <a:sym typeface="+mn-ea"/>
              </a:rPr>
              <a:t>Click to add title</a:t>
            </a:r>
          </a:p>
        </p:txBody>
      </p:sp>
      <p:sp>
        <p:nvSpPr>
          <p:cNvPr id="3" name="副标题 2"/>
          <p:cNvSpPr>
            <a:spLocks noGrp="1"/>
          </p:cNvSpPr>
          <p:nvPr>
            <p:ph type="subTitle" idx="1" hasCustomPrompt="1"/>
            <p:custDataLst>
              <p:tags r:id="rId5"/>
            </p:custDataLst>
          </p:nvPr>
        </p:nvSpPr>
        <p:spPr>
          <a:xfrm>
            <a:off x="904875" y="180975"/>
            <a:ext cx="10515600" cy="944880"/>
          </a:xfrm>
          <a:noFill/>
        </p:spPr>
        <p:txBody>
          <a:bodyPr wrap="square" rtlCol="0" anchor="b">
            <a:normAutofit/>
          </a:bodyPr>
          <a:lstStyle>
            <a:lvl1pPr marL="0" indent="0">
              <a:buNone/>
              <a:defRPr lang="en-US" sz="1800" b="1" dirty="0">
                <a:solidFill>
                  <a:schemeClr val="tx1">
                    <a:lumMod val="75000"/>
                    <a:lumOff val="25000"/>
                  </a:schemeClr>
                </a:solidFill>
                <a:latin typeface="+mj-lt"/>
              </a:defRPr>
            </a:lvl1pPr>
          </a:lstStyle>
          <a:p>
            <a:pPr marL="0" lvl="0"/>
            <a:r>
              <a:rPr>
                <a:sym typeface="+mn-ea"/>
              </a:rPr>
              <a:t>Click to add subtitle</a:t>
            </a:r>
          </a:p>
        </p:txBody>
      </p:sp>
      <p:sp>
        <p:nvSpPr>
          <p:cNvPr id="4" name="日期占位符 3"/>
          <p:cNvSpPr>
            <a:spLocks noGrp="1"/>
          </p:cNvSpPr>
          <p:nvPr>
            <p:ph type="dt" sz="half" idx="10"/>
            <p:custDataLst>
              <p:tags r:id="rId6"/>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7"/>
            </p:custDataLst>
          </p:nvPr>
        </p:nvSpPr>
        <p:spPr/>
        <p:txBody>
          <a:bodyPr>
            <a:normAutofit/>
          </a:bodyPr>
          <a:lstStyle>
            <a:lvl1pPr>
              <a:defRPr>
                <a:latin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10" name="文本占位符 9"/>
          <p:cNvSpPr>
            <a:spLocks noGrp="1"/>
          </p:cNvSpPr>
          <p:nvPr>
            <p:ph type="body" sz="quarter" idx="13" hasCustomPrompt="1"/>
            <p:custDataLst>
              <p:tags r:id="rId9"/>
            </p:custDataLst>
          </p:nvPr>
        </p:nvSpPr>
        <p:spPr>
          <a:xfrm>
            <a:off x="891540" y="4946650"/>
            <a:ext cx="5776595" cy="1244600"/>
          </a:xfrm>
        </p:spPr>
        <p:txBody>
          <a:bodyPr wrap="square" anchor="b" anchorCtr="0">
            <a:normAutofit/>
          </a:bodyPr>
          <a:lstStyle>
            <a:lvl1pPr marL="0" indent="0">
              <a:lnSpc>
                <a:spcPct val="100000"/>
              </a:lnSpc>
              <a:buNone/>
              <a:defRPr sz="1800" b="1">
                <a:gradFill>
                  <a:gsLst>
                    <a:gs pos="0">
                      <a:schemeClr val="accent2">
                        <a:lumMod val="70000"/>
                        <a:lumOff val="30000"/>
                      </a:schemeClr>
                    </a:gs>
                    <a:gs pos="35000">
                      <a:schemeClr val="accent2"/>
                    </a:gs>
                    <a:gs pos="100000">
                      <a:schemeClr val="accent1"/>
                    </a:gs>
                  </a:gsLst>
                  <a:lin ang="3000000" scaled="0"/>
                </a:gradFill>
                <a:latin typeface="+mn-lt"/>
              </a:defRPr>
            </a:lvl1pPr>
          </a:lstStyle>
          <a:p>
            <a:pPr lvl="0"/>
            <a:r>
              <a:rPr lang="en-US" dirty="0">
                <a:sym typeface="+mn-ea"/>
              </a:rPr>
              <a:t>Click to add text</a:t>
            </a:r>
          </a:p>
        </p:txBody>
      </p:sp>
      <p:sp>
        <p:nvSpPr>
          <p:cNvPr id="24" name="文本占位符 23"/>
          <p:cNvSpPr>
            <a:spLocks noGrp="1"/>
          </p:cNvSpPr>
          <p:nvPr>
            <p:ph type="body" sz="quarter" idx="17" hasCustomPrompt="1"/>
            <p:custDataLst>
              <p:tags r:id="rId10"/>
            </p:custDataLst>
          </p:nvPr>
        </p:nvSpPr>
        <p:spPr>
          <a:xfrm>
            <a:off x="1421061" y="4299150"/>
            <a:ext cx="5193634" cy="504000"/>
          </a:xfrm>
        </p:spPr>
        <p:txBody>
          <a:bodyPr wrap="square" anchor="ctr">
            <a:normAutofit/>
          </a:bodyPr>
          <a:lstStyle>
            <a:lvl1pPr marL="0" indent="0" algn="l">
              <a:lnSpc>
                <a:spcPct val="100000"/>
              </a:lnSpc>
              <a:buNone/>
              <a:defRPr sz="2000" b="1">
                <a:gradFill>
                  <a:gsLst>
                    <a:gs pos="0">
                      <a:schemeClr val="accent2">
                        <a:lumMod val="60000"/>
                        <a:lumOff val="40000"/>
                      </a:schemeClr>
                    </a:gs>
                    <a:gs pos="35000">
                      <a:schemeClr val="accent2"/>
                    </a:gs>
                    <a:gs pos="100000">
                      <a:schemeClr val="accent1"/>
                    </a:gs>
                  </a:gsLst>
                  <a:lin ang="3000000" scaled="0"/>
                </a:gradFill>
                <a:latin typeface="+mn-lt"/>
              </a:defRPr>
            </a:lvl1pPr>
          </a:lstStyle>
          <a:p>
            <a:pPr lvl="0"/>
            <a:r>
              <a:rPr lang="en-US" dirty="0">
                <a:sym typeface="+mn-ea"/>
              </a:rPr>
              <a:t>Click to add text</a:t>
            </a:r>
          </a:p>
        </p:txBody>
      </p:sp>
      <p:sp>
        <p:nvSpPr>
          <p:cNvPr id="9" name="iconfont-10342-5064101"/>
          <p:cNvSpPr>
            <a:spLocks noChangeAspect="1"/>
          </p:cNvSpPr>
          <p:nvPr>
            <p:custDataLst>
              <p:tags r:id="rId11"/>
            </p:custDataLst>
          </p:nvPr>
        </p:nvSpPr>
        <p:spPr>
          <a:xfrm>
            <a:off x="838198" y="4335150"/>
            <a:ext cx="432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Arial" panose="020B0604020202020204" pitchFamily="34" charset="0"/>
              <a:sym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矩形 6"/>
          <p:cNvSpPr/>
          <p:nvPr>
            <p:custDataLst>
              <p:tags r:id="rId1"/>
            </p:custDataLst>
          </p:nvPr>
        </p:nvSpPr>
        <p:spPr>
          <a:xfrm flipH="1">
            <a:off x="0" y="0"/>
            <a:ext cx="12192000" cy="6858000"/>
          </a:xfrm>
          <a:prstGeom prst="rect">
            <a:avLst/>
          </a:prstGeom>
          <a:gradFill flip="none" rotWithShape="1">
            <a:gsLst>
              <a:gs pos="0">
                <a:schemeClr val="bg1">
                  <a:lumMod val="95000"/>
                </a:schemeClr>
              </a:gs>
              <a:gs pos="100000">
                <a:schemeClr val="bg2"/>
              </a:gs>
            </a:gsLst>
            <a:lin ang="9000000" scaled="0"/>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en-US" sz="1600">
              <a:latin typeface="Arial" panose="020B0604020202020204" pitchFamily="34" charset="0"/>
              <a:sym typeface="Arial" panose="020B0604020202020204" pitchFamily="34" charset="0"/>
            </a:endParaRPr>
          </a:p>
        </p:txBody>
      </p:sp>
      <p:sp>
        <p:nvSpPr>
          <p:cNvPr id="2" name="标题 1"/>
          <p:cNvSpPr>
            <a:spLocks noGrp="1"/>
          </p:cNvSpPr>
          <p:nvPr>
            <p:ph type="title" hasCustomPrompt="1"/>
            <p:custDataLst>
              <p:tags r:id="rId2"/>
            </p:custDataLst>
          </p:nvPr>
        </p:nvSpPr>
        <p:spPr/>
        <p:txBody>
          <a:bodyPr wrap="square">
            <a:normAutofit/>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atalog Slide">
    <p:spTree>
      <p:nvGrpSpPr>
        <p:cNvPr id="1" name=""/>
        <p:cNvGrpSpPr/>
        <p:nvPr/>
      </p:nvGrpSpPr>
      <p:grpSpPr>
        <a:xfrm>
          <a:off x="0" y="0"/>
          <a:ext cx="0" cy="0"/>
          <a:chOff x="0" y="0"/>
          <a:chExt cx="0" cy="0"/>
        </a:xfrm>
      </p:grpSpPr>
      <p:sp>
        <p:nvSpPr>
          <p:cNvPr id="10" name="矩形 9"/>
          <p:cNvSpPr/>
          <p:nvPr>
            <p:custDataLst>
              <p:tags r:id="rId1"/>
            </p:custDataLst>
          </p:nvPr>
        </p:nvSpPr>
        <p:spPr>
          <a:xfrm flipH="1">
            <a:off x="0" y="0"/>
            <a:ext cx="12192000" cy="6858000"/>
          </a:xfrm>
          <a:prstGeom prst="rect">
            <a:avLst/>
          </a:prstGeom>
          <a:gradFill flip="none" rotWithShape="1">
            <a:gsLst>
              <a:gs pos="0">
                <a:schemeClr val="bg1">
                  <a:lumMod val="95000"/>
                </a:schemeClr>
              </a:gs>
              <a:gs pos="100000">
                <a:schemeClr val="bg2"/>
              </a:gs>
            </a:gsLst>
            <a:lin ang="9000000" scaled="0"/>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en-US" sz="1600">
              <a:latin typeface="Arial" panose="020B0604020202020204" pitchFamily="34" charset="0"/>
              <a:sym typeface="Arial" panose="020B0604020202020204" pitchFamily="34" charset="0"/>
            </a:endParaRPr>
          </a:p>
        </p:txBody>
      </p:sp>
      <p:sp>
        <p:nvSpPr>
          <p:cNvPr id="2" name="标题 1"/>
          <p:cNvSpPr>
            <a:spLocks noGrp="1"/>
          </p:cNvSpPr>
          <p:nvPr>
            <p:ph type="title" hasCustomPrompt="1"/>
            <p:custDataLst>
              <p:tags r:id="rId2"/>
            </p:custDataLst>
          </p:nvPr>
        </p:nvSpPr>
        <p:spPr>
          <a:xfrm>
            <a:off x="0" y="995680"/>
            <a:ext cx="4690745" cy="2914015"/>
          </a:xfrm>
        </p:spPr>
        <p:txBody>
          <a:bodyPr wrap="square" anchor="b">
            <a:normAutofit/>
          </a:bodyPr>
          <a:lstStyle>
            <a:lvl1pPr algn="ctr">
              <a:defRPr sz="5800">
                <a:gradFill>
                  <a:gsLst>
                    <a:gs pos="0">
                      <a:schemeClr val="accent2">
                        <a:lumMod val="70000"/>
                        <a:lumOff val="30000"/>
                      </a:schemeClr>
                    </a:gs>
                    <a:gs pos="35000">
                      <a:schemeClr val="accent2"/>
                    </a:gs>
                    <a:gs pos="100000">
                      <a:schemeClr val="accent1"/>
                    </a:gs>
                  </a:gsLst>
                  <a:lin ang="3000000" scaled="0"/>
                </a:gradFill>
                <a:latin typeface="+mj-lt"/>
                <a:sym typeface="Arial" panose="020B0604020202020204" pitchFamily="34" charset="0"/>
              </a:defRPr>
            </a:lvl1pPr>
          </a:lstStyle>
          <a:p>
            <a:r>
              <a:rPr lang="en-US" dirty="0">
                <a:latin typeface="+mj-lt"/>
              </a:rPr>
              <a:t>Click to add title</a:t>
            </a:r>
            <a:endParaRPr lang="en-US" dirty="0"/>
          </a:p>
        </p:txBody>
      </p:sp>
      <p:sp>
        <p:nvSpPr>
          <p:cNvPr id="7" name="日期占位符 6"/>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8" name="页脚占位符 7"/>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10" name="矩形 9"/>
          <p:cNvSpPr/>
          <p:nvPr>
            <p:custDataLst>
              <p:tags r:id="rId1"/>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sp>
        <p:nvSpPr>
          <p:cNvPr id="11" name="等腰三角形 15"/>
          <p:cNvSpPr/>
          <p:nvPr>
            <p:custDataLst>
              <p:tags r:id="rId2"/>
            </p:custDataLst>
          </p:nvPr>
        </p:nvSpPr>
        <p:spPr>
          <a:xfrm rot="13818227">
            <a:off x="10844016" y="3946656"/>
            <a:ext cx="371259"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2" name="图片 11"/>
          <p:cNvPicPr>
            <a:picLocks noChangeAspect="1"/>
          </p:cNvPicPr>
          <p:nvPr>
            <p:custDataLst>
              <p:tags r:id="rId3"/>
            </p:custDataLst>
          </p:nvPr>
        </p:nvPicPr>
        <p:blipFill>
          <a:blip r:embed="rId12">
            <a:extLst>
              <a:ext uri="{28A0092B-C50C-407E-A947-70E740481C1C}">
                <a14:useLocalDpi xmlns:a14="http://schemas.microsoft.com/office/drawing/2010/main" val="0"/>
              </a:ext>
            </a:extLst>
          </a:blip>
          <a:srcRect l="79693" t="52925"/>
          <a:stretch>
            <a:fillRect/>
          </a:stretch>
        </p:blipFill>
        <p:spPr>
          <a:xfrm>
            <a:off x="9985001" y="3981423"/>
            <a:ext cx="2206086"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13" name="等腰三角形 15"/>
          <p:cNvSpPr/>
          <p:nvPr>
            <p:custDataLst>
              <p:tags r:id="rId4"/>
            </p:custDataLst>
          </p:nvPr>
        </p:nvSpPr>
        <p:spPr>
          <a:xfrm rot="3018227">
            <a:off x="977129" y="580746"/>
            <a:ext cx="371259"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4" name="图片 13"/>
          <p:cNvPicPr>
            <a:picLocks noChangeAspect="1"/>
          </p:cNvPicPr>
          <p:nvPr>
            <p:custDataLst>
              <p:tags r:id="rId5"/>
            </p:custDataLst>
          </p:nvPr>
        </p:nvPicPr>
        <p:blipFill>
          <a:blip r:embed="rId12">
            <a:extLst>
              <a:ext uri="{28A0092B-C50C-407E-A947-70E740481C1C}">
                <a14:useLocalDpi xmlns:a14="http://schemas.microsoft.com/office/drawing/2010/main" val="0"/>
              </a:ext>
            </a:extLst>
          </a:blip>
          <a:srcRect l="79693" t="52925"/>
          <a:stretch>
            <a:fillRect/>
          </a:stretch>
        </p:blipFill>
        <p:spPr>
          <a:xfrm rot="10800000">
            <a:off x="1317" y="4445"/>
            <a:ext cx="2206086"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title" hasCustomPrompt="1"/>
            <p:custDataLst>
              <p:tags r:id="rId6"/>
            </p:custDataLst>
          </p:nvPr>
        </p:nvSpPr>
        <p:spPr>
          <a:xfrm>
            <a:off x="696000" y="3274695"/>
            <a:ext cx="10800000" cy="2646680"/>
          </a:xfrm>
        </p:spPr>
        <p:txBody>
          <a:bodyPr wrap="square" anchor="t" anchorCtr="0">
            <a:normAutofit/>
          </a:bodyPr>
          <a:lstStyle>
            <a:lvl1pPr algn="ctr">
              <a:defRPr sz="6000">
                <a:gradFill>
                  <a:gsLst>
                    <a:gs pos="0">
                      <a:schemeClr val="accent2">
                        <a:lumMod val="70000"/>
                        <a:lumOff val="30000"/>
                      </a:schemeClr>
                    </a:gs>
                    <a:gs pos="35000">
                      <a:schemeClr val="accent2"/>
                    </a:gs>
                    <a:gs pos="100000">
                      <a:schemeClr val="accent1"/>
                    </a:gs>
                  </a:gsLst>
                  <a:lin ang="3000000" scaled="0"/>
                </a:gradFill>
                <a:latin typeface="+mj-lt"/>
                <a:sym typeface="Arial" panose="020B0604020202020204" pitchFamily="34" charset="0"/>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8"/>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9"/>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8" name="文本占位符 7"/>
          <p:cNvSpPr>
            <a:spLocks noGrp="1"/>
          </p:cNvSpPr>
          <p:nvPr>
            <p:ph type="body" sz="quarter" idx="13" hasCustomPrompt="1"/>
            <p:custDataLst>
              <p:tags r:id="rId10"/>
            </p:custDataLst>
          </p:nvPr>
        </p:nvSpPr>
        <p:spPr>
          <a:xfrm>
            <a:off x="1524000" y="307340"/>
            <a:ext cx="9144000" cy="2759710"/>
          </a:xfrm>
        </p:spPr>
        <p:txBody>
          <a:bodyPr wrap="none" anchor="b" anchorCtr="0">
            <a:normAutofit/>
          </a:bodyPr>
          <a:lstStyle>
            <a:lvl1pPr marL="0" indent="0" algn="ctr">
              <a:buNone/>
              <a:defRPr sz="5000">
                <a:gradFill>
                  <a:gsLst>
                    <a:gs pos="0">
                      <a:schemeClr val="accent2">
                        <a:lumMod val="70000"/>
                        <a:lumOff val="30000"/>
                      </a:schemeClr>
                    </a:gs>
                    <a:gs pos="35000">
                      <a:schemeClr val="accent2"/>
                    </a:gs>
                    <a:gs pos="100000">
                      <a:schemeClr val="accent1"/>
                    </a:gs>
                  </a:gsLst>
                  <a:lin ang="3000000" scaled="0"/>
                </a:gradFill>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vert="horz" wrap="square" lIns="0" tIns="0" rIns="0" bIns="0" rtlCol="0" anchor="ctr">
            <a:normAutofit/>
          </a:bodyPr>
          <a:lstStyle>
            <a:lvl1pPr>
              <a:defRPr lang="en-US" dirty="0">
                <a:latin typeface="+mj-lt"/>
                <a:sym typeface="Arial" panose="020B060402020202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2"/>
            </p:custDataLst>
          </p:nvPr>
        </p:nvSpPr>
        <p:spPr>
          <a:xfrm>
            <a:off x="695960" y="1301750"/>
            <a:ext cx="5323840" cy="4875850"/>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3"/>
            </p:custDataLst>
          </p:nvPr>
        </p:nvSpPr>
        <p:spPr>
          <a:xfrm>
            <a:off x="6172200" y="1301750"/>
            <a:ext cx="5323840" cy="4875850"/>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日期占位符 4"/>
          <p:cNvSpPr>
            <a:spLocks noGrp="1"/>
          </p:cNvSpPr>
          <p:nvPr>
            <p:ph type="dt" sz="half" idx="10"/>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6" name="页脚占位符 5"/>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6"/>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5960" y="360045"/>
            <a:ext cx="10800715" cy="864235"/>
          </a:xfrm>
        </p:spPr>
        <p:txBody>
          <a:bodyPr vert="horz" wrap="square" lIns="0" tIns="0" rIns="0" bIns="0" rtlCol="0" anchor="ctr">
            <a:normAutofit/>
          </a:bodyPr>
          <a:lstStyle>
            <a:lvl1pPr>
              <a:defRPr lang="en-US" dirty="0">
                <a:latin typeface="+mj-lt"/>
                <a:sym typeface="Arial" panose="020B0604020202020204" pitchFamily="34" charset="0"/>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3"/>
            </p:custDataLst>
          </p:nvPr>
        </p:nvSpPr>
        <p:spPr>
          <a:xfrm>
            <a:off x="695960" y="1875099"/>
            <a:ext cx="5323840" cy="4300276"/>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5"/>
            </p:custDataLst>
          </p:nvPr>
        </p:nvSpPr>
        <p:spPr>
          <a:xfrm>
            <a:off x="6172200" y="1875099"/>
            <a:ext cx="5323840" cy="4300276"/>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7" name="日期占位符 6"/>
          <p:cNvSpPr>
            <a:spLocks noGrp="1"/>
          </p:cNvSpPr>
          <p:nvPr>
            <p:ph type="dt" sz="half" idx="10"/>
            <p:custDataLst>
              <p:tags r:id="rId6"/>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8" name="页脚占位符 7"/>
          <p:cNvSpPr>
            <a:spLocks noGrp="1"/>
          </p:cNvSpPr>
          <p:nvPr>
            <p:ph type="ftr" sz="quarter" idx="11"/>
            <p:custDataLst>
              <p:tags r:id="rId7"/>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8"/>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a:normAutofit/>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3" name="页脚占位符 2"/>
          <p:cNvSpPr>
            <a:spLocks noGrp="1"/>
          </p:cNvSpPr>
          <p:nvPr>
            <p:ph type="ftr" sz="quarter" idx="11"/>
            <p:custDataLst>
              <p:tags r:id="rId2"/>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2"/>
          <p:cNvSpPr>
            <a:spLocks noGrp="1"/>
          </p:cNvSpPr>
          <p:nvPr>
            <p:ph idx="1" hasCustomPrompt="1"/>
            <p:custDataLst>
              <p:tags r:id="rId1"/>
            </p:custDataLst>
          </p:nvPr>
        </p:nvSpPr>
        <p:spPr>
          <a:xfrm>
            <a:off x="695960" y="360045"/>
            <a:ext cx="10801985" cy="5817870"/>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2"/>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5960" y="360045"/>
            <a:ext cx="10798810" cy="864235"/>
          </a:xfrm>
        </p:spPr>
        <p:txBody>
          <a:bodyPr wrap="square">
            <a:normAutofit/>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6"/>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8" name="页脚占位符 7"/>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11" name="矩形 10"/>
          <p:cNvSpPr/>
          <p:nvPr>
            <p:custDataLst>
              <p:tags r:id="rId1"/>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sp>
        <p:nvSpPr>
          <p:cNvPr id="12" name="等腰三角形 15"/>
          <p:cNvSpPr/>
          <p:nvPr>
            <p:custDataLst>
              <p:tags r:id="rId2"/>
            </p:custDataLst>
          </p:nvPr>
        </p:nvSpPr>
        <p:spPr>
          <a:xfrm rot="13818227">
            <a:off x="10679324" y="3597564"/>
            <a:ext cx="416585"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3" name="图片 12"/>
          <p:cNvPicPr>
            <a:picLocks noChangeAspect="1"/>
          </p:cNvPicPr>
          <p:nvPr>
            <p:custDataLst>
              <p:tags r:id="rId3"/>
            </p:custDataLst>
          </p:nvPr>
        </p:nvPicPr>
        <p:blipFill>
          <a:blip r:embed="rId12">
            <a:extLst>
              <a:ext uri="{28A0092B-C50C-407E-A947-70E740481C1C}">
                <a14:useLocalDpi xmlns:a14="http://schemas.microsoft.com/office/drawing/2010/main" val="0"/>
              </a:ext>
            </a:extLst>
          </a:blip>
          <a:srcRect l="79693" t="52925"/>
          <a:stretch>
            <a:fillRect/>
          </a:stretch>
        </p:blipFill>
        <p:spPr>
          <a:xfrm>
            <a:off x="9715433" y="3636576"/>
            <a:ext cx="2475424"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hasCustomPrompt="1"/>
            <p:custDataLst>
              <p:tags r:id="rId4"/>
            </p:custDataLst>
          </p:nvPr>
        </p:nvSpPr>
        <p:spPr>
          <a:xfrm>
            <a:off x="838835" y="212725"/>
            <a:ext cx="10514965" cy="2973070"/>
          </a:xfrm>
          <a:noFill/>
        </p:spPr>
        <p:txBody>
          <a:bodyPr vert="horz" wrap="square" lIns="0" tIns="0" rIns="0" bIns="0" rtlCol="0" anchor="b" anchorCtr="0">
            <a:normAutofit/>
          </a:bodyPr>
          <a:lstStyle>
            <a:lvl1pPr marL="0" marR="0" lvl="0" algn="l" defTabSz="1218565" rtl="0" eaLnBrk="1" fontAlgn="auto" latinLnBrk="0" hangingPunct="1">
              <a:lnSpc>
                <a:spcPct val="100000"/>
              </a:lnSpc>
              <a:buClrTx/>
              <a:buSzTx/>
              <a:buFontTx/>
              <a:buNone/>
              <a:defRPr kumimoji="0" lang="en-US" sz="6000" b="1" i="0" u="none" strike="noStrike" kern="1200" cap="none" spc="0" normalizeH="0" baseline="0" noProof="1" dirty="0">
                <a:gradFill flip="none" rotWithShape="1">
                  <a:gsLst>
                    <a:gs pos="0">
                      <a:schemeClr val="accent2">
                        <a:lumMod val="60000"/>
                        <a:lumOff val="40000"/>
                      </a:schemeClr>
                    </a:gs>
                    <a:gs pos="35000">
                      <a:schemeClr val="accent2"/>
                    </a:gs>
                    <a:gs pos="100000">
                      <a:schemeClr val="accent1"/>
                    </a:gs>
                  </a:gsLst>
                  <a:lin ang="3000000" scaled="0"/>
                  <a:tileRect/>
                </a:gradFill>
                <a:latin typeface="+mj-lt"/>
                <a:sym typeface="+mn-ea"/>
              </a:defRPr>
            </a:lvl1pPr>
          </a:lstStyle>
          <a:p>
            <a:pPr lvl="0"/>
            <a:r>
              <a:rPr dirty="0">
                <a:sym typeface="+mn-ea"/>
              </a:rPr>
              <a:t>Click to add title</a:t>
            </a:r>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6"/>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10" name="文本占位符 9"/>
          <p:cNvSpPr>
            <a:spLocks noGrp="1"/>
          </p:cNvSpPr>
          <p:nvPr>
            <p:ph type="body" sz="quarter" idx="13" hasCustomPrompt="1"/>
            <p:custDataLst>
              <p:tags r:id="rId8"/>
            </p:custDataLst>
          </p:nvPr>
        </p:nvSpPr>
        <p:spPr>
          <a:xfrm>
            <a:off x="892175" y="5288280"/>
            <a:ext cx="7315200" cy="894715"/>
          </a:xfrm>
        </p:spPr>
        <p:txBody>
          <a:bodyPr vert="horz" wrap="square" lIns="0" tIns="0" rIns="0" bIns="0" rtlCol="0" anchor="b" anchorCtr="0">
            <a:normAutofit/>
          </a:bodyPr>
          <a:lstStyle>
            <a:lvl1pPr marL="0" marR="0" lvl="0" indent="0" algn="l" defTabSz="914400" rtl="0" eaLnBrk="1" fontAlgn="auto" latinLnBrk="0" hangingPunct="1">
              <a:lnSpc>
                <a:spcPct val="100000"/>
              </a:lnSpc>
              <a:spcBef>
                <a:spcPts val="1000"/>
              </a:spcBef>
              <a:buClrTx/>
              <a:buSzTx/>
              <a:buFont typeface="Arial" panose="020B0604020202020204" pitchFamily="34" charset="0"/>
              <a:buNone/>
              <a:defRPr kumimoji="0" lang="en-US" sz="1800" b="1" i="0" u="none" strike="noStrike" kern="1200" cap="none" spc="0" normalizeH="0" baseline="0" noProof="1" dirty="0">
                <a:gradFill>
                  <a:gsLst>
                    <a:gs pos="0">
                      <a:schemeClr val="accent2">
                        <a:lumMod val="70000"/>
                        <a:lumOff val="30000"/>
                      </a:schemeClr>
                    </a:gs>
                    <a:gs pos="35000">
                      <a:schemeClr val="accent2"/>
                    </a:gs>
                    <a:gs pos="100000">
                      <a:schemeClr val="accent1"/>
                    </a:gs>
                  </a:gsLst>
                  <a:lin ang="3000000" scaled="0"/>
                </a:gradFill>
                <a:latin typeface="+mn-lt"/>
                <a:sym typeface="+mn-ea"/>
              </a:defRPr>
            </a:lvl1pPr>
          </a:lstStyle>
          <a:p>
            <a:pPr lvl="0"/>
            <a:r>
              <a:rPr>
                <a:sym typeface="+mn-ea"/>
              </a:rPr>
              <a:t>Click to add text</a:t>
            </a:r>
          </a:p>
        </p:txBody>
      </p:sp>
      <p:sp>
        <p:nvSpPr>
          <p:cNvPr id="24" name="文本占位符 23"/>
          <p:cNvSpPr>
            <a:spLocks noGrp="1"/>
          </p:cNvSpPr>
          <p:nvPr>
            <p:ph type="body" sz="quarter" idx="17" hasCustomPrompt="1"/>
            <p:custDataLst>
              <p:tags r:id="rId9"/>
            </p:custDataLst>
          </p:nvPr>
        </p:nvSpPr>
        <p:spPr>
          <a:xfrm>
            <a:off x="1443990" y="3674110"/>
            <a:ext cx="9910445" cy="1203960"/>
          </a:xfrm>
        </p:spPr>
        <p:txBody>
          <a:bodyPr vert="horz" wrap="square" lIns="0" tIns="0" rIns="0" bIns="0" rtlCol="0" anchor="t" anchorCtr="0">
            <a:normAutofit/>
          </a:bodyPr>
          <a:lstStyle>
            <a:lvl1pPr marL="0" marR="0" lvl="0" indent="0" algn="l" defTabSz="914400" rtl="0" eaLnBrk="1" fontAlgn="auto" latinLnBrk="0" hangingPunct="1">
              <a:lnSpc>
                <a:spcPct val="100000"/>
              </a:lnSpc>
              <a:spcBef>
                <a:spcPts val="1000"/>
              </a:spcBef>
              <a:buClrTx/>
              <a:buSzTx/>
              <a:buFont typeface="Arial" panose="020B0604020202020204" pitchFamily="34" charset="0"/>
              <a:buNone/>
              <a:defRPr kumimoji="0" lang="en-US" sz="2000" b="1" i="0" u="none" strike="noStrike" kern="1200" cap="none" spc="0" normalizeH="0" baseline="0" noProof="1" dirty="0">
                <a:gradFill>
                  <a:gsLst>
                    <a:gs pos="0">
                      <a:schemeClr val="accent2">
                        <a:lumMod val="60000"/>
                        <a:lumOff val="40000"/>
                      </a:schemeClr>
                    </a:gs>
                    <a:gs pos="35000">
                      <a:schemeClr val="accent2"/>
                    </a:gs>
                    <a:gs pos="100000">
                      <a:schemeClr val="accent1"/>
                    </a:gs>
                  </a:gsLst>
                  <a:lin ang="3000000" scaled="0"/>
                </a:gradFill>
                <a:latin typeface="+mn-lt"/>
                <a:sym typeface="+mn-ea"/>
              </a:defRPr>
            </a:lvl1pPr>
          </a:lstStyle>
          <a:p>
            <a:pPr lvl="0"/>
            <a:r>
              <a:rPr>
                <a:sym typeface="+mn-ea"/>
              </a:rPr>
              <a:t>Click to add text</a:t>
            </a:r>
          </a:p>
        </p:txBody>
      </p:sp>
      <p:sp>
        <p:nvSpPr>
          <p:cNvPr id="9" name="iconfont-10342-5064101"/>
          <p:cNvSpPr>
            <a:spLocks noChangeAspect="1"/>
          </p:cNvSpPr>
          <p:nvPr>
            <p:custDataLst>
              <p:tags r:id="rId10"/>
            </p:custDataLst>
          </p:nvPr>
        </p:nvSpPr>
        <p:spPr>
          <a:xfrm>
            <a:off x="838833" y="3603245"/>
            <a:ext cx="432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Arial" panose="020B0604020202020204" pitchFamily="34" charset="0"/>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商务-红色-折纸_03"/>
          <p:cNvPicPr>
            <a:picLocks noChangeAspect="1"/>
          </p:cNvPicPr>
          <p:nvPr>
            <p:custDataLst>
              <p:tags r:id="rId13"/>
            </p:custDataLst>
          </p:nvPr>
        </p:nvPicPr>
        <p:blipFill>
          <a:blip r:embed="rId20"/>
          <a:stretch>
            <a:fillRect/>
          </a:stretch>
        </p:blipFill>
        <p:spPr>
          <a:xfrm>
            <a:off x="0" y="0"/>
            <a:ext cx="12192000" cy="6858000"/>
          </a:xfrm>
          <a:prstGeom prst="rect">
            <a:avLst/>
          </a:prstGeom>
        </p:spPr>
      </p:pic>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ctr">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7" name="KSO_TEMPLATE" hidden="1"/>
          <p:cNvSpPr/>
          <p:nvPr>
            <p:custDataLst>
              <p:tags r:id="rId19"/>
            </p:custDataLst>
          </p:nvPr>
        </p:nvSpPr>
        <p:spPr>
          <a:xfrm>
            <a:off x="0" y="0"/>
            <a:ext cx="0" cy="0"/>
          </a:xfrm>
          <a:prstGeom prst="rect">
            <a:avLst/>
          </a:prstGeom>
          <a:gradFill>
            <a:gsLst>
              <a:gs pos="0">
                <a:schemeClr val="accent3">
                  <a:lumMod val="80000"/>
                  <a:lumOff val="20000"/>
                </a:schemeClr>
              </a:gs>
              <a:gs pos="50000">
                <a:schemeClr val="accent2"/>
              </a:gs>
              <a:gs pos="100000">
                <a:schemeClr val="accent1"/>
              </a:gs>
            </a:gsLst>
            <a:lin ang="108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zh-CN" alt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gradFill>
            <a:gsLst>
              <a:gs pos="0">
                <a:schemeClr val="accent2">
                  <a:lumMod val="70000"/>
                  <a:lumOff val="30000"/>
                </a:schemeClr>
              </a:gs>
              <a:gs pos="35000">
                <a:schemeClr val="accent2"/>
              </a:gs>
              <a:gs pos="100000">
                <a:schemeClr val="accent1"/>
              </a:gs>
            </a:gsLst>
            <a:lin ang="3000000" scaled="0"/>
          </a:gra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4.xml"/><Relationship Id="rId1" Type="http://schemas.openxmlformats.org/officeDocument/2006/relationships/tags" Target="../tags/tag83.xml"/></Relationships>
</file>

<file path=ppt/slides/_rels/slide3.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slideLayout" Target="../slideLayouts/slideLayout2.xml"/><Relationship Id="rId4" Type="http://schemas.openxmlformats.org/officeDocument/2006/relationships/tags" Target="../tags/tag97.xml"/></Relationships>
</file>

<file path=ppt/slides/_rels/slide7.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tags" Target="../tags/tag107.xml"/></Relationships>
</file>

<file path=ppt/slides/_rels/slide11.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slideLayout" Target="../slideLayouts/slideLayout2.xml"/><Relationship Id="rId4" Type="http://schemas.openxmlformats.org/officeDocument/2006/relationships/tags" Target="../tags/tag112.xml"/></Relationships>
</file>

<file path=ppt/slides/_rels/slide12.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3.xml"/><Relationship Id="rId1" Type="http://schemas.openxmlformats.org/officeDocument/2006/relationships/tags" Target="../tags/tag122.xml"/></Relationships>
</file>

<file path=ppt/slides/_rels/slide16.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tags" Target="../tags/tag160.xml"/></Relationships>
</file>

<file path=ppt/slides/_rels/slide29.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6.xml"/><Relationship Id="rId1" Type="http://schemas.openxmlformats.org/officeDocument/2006/relationships/tags" Target="../tags/tag165.xml"/></Relationships>
</file>

<file path=ppt/slides/_rels/slide31.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slideLayout" Target="../slideLayouts/slideLayout2.xml"/><Relationship Id="rId4" Type="http://schemas.openxmlformats.org/officeDocument/2006/relationships/tags" Target="../tags/tag17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2.xml"/><Relationship Id="rId1" Type="http://schemas.openxmlformats.org/officeDocument/2006/relationships/tags" Target="../tags/tag17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4.xml"/><Relationship Id="rId1" Type="http://schemas.openxmlformats.org/officeDocument/2006/relationships/tags" Target="../tags/tag17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6.xml"/><Relationship Id="rId1" Type="http://schemas.openxmlformats.org/officeDocument/2006/relationships/tags" Target="../tags/tag17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8.xml"/><Relationship Id="rId1" Type="http://schemas.openxmlformats.org/officeDocument/2006/relationships/tags" Target="../tags/tag17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80.xml"/><Relationship Id="rId1" Type="http://schemas.openxmlformats.org/officeDocument/2006/relationships/tags" Target="../tags/tag1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ctrTitle"/>
            <p:custDataLst>
              <p:tags r:id="rId2"/>
            </p:custDataLst>
          </p:nvPr>
        </p:nvSpPr>
        <p:spPr>
          <a:xfrm>
            <a:off x="838200" y="1252855"/>
            <a:ext cx="10515600" cy="2902585"/>
          </a:xfrm>
        </p:spPr>
        <p:txBody>
          <a:bodyPr anchor="ctr" anchorCtr="0"/>
          <a:lstStyle/>
          <a:p>
            <a:r>
              <a:rPr lang="en-US" altLang="en-US" dirty="0"/>
              <a:t>SE421: Intellectual</a:t>
            </a:r>
            <a:br>
              <a:rPr lang="en-US" altLang="en-US" dirty="0"/>
            </a:br>
            <a:r>
              <a:rPr lang="en-US" altLang="en-US" dirty="0"/>
              <a:t>Property Rights and Cyber</a:t>
            </a:r>
            <a:br>
              <a:rPr lang="en-US" altLang="en-US" dirty="0"/>
            </a:br>
            <a:r>
              <a:rPr lang="en-US" altLang="en-US" dirty="0"/>
              <a:t>Laws</a:t>
            </a:r>
          </a:p>
        </p:txBody>
      </p:sp>
      <p:sp>
        <p:nvSpPr>
          <p:cNvPr id="12" name="署名"/>
          <p:cNvSpPr>
            <a:spLocks noGrp="1"/>
          </p:cNvSpPr>
          <p:nvPr>
            <p:ph type="body" sz="quarter" idx="17"/>
            <p:custDataLst>
              <p:tags r:id="rId3"/>
            </p:custDataLst>
          </p:nvPr>
        </p:nvSpPr>
        <p:spPr>
          <a:prstGeom prst="rect">
            <a:avLst/>
          </a:prstGeom>
        </p:spPr>
        <p:txBody>
          <a:bodyPr/>
          <a:lstStyle/>
          <a:p>
            <a:r>
              <a:rPr lang="en-US"/>
              <a:t>By Mr. Jatin</a:t>
            </a: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a:xfrm>
            <a:off x="696000" y="1766570"/>
            <a:ext cx="10800000" cy="2646680"/>
          </a:xfrm>
        </p:spPr>
        <p:txBody>
          <a:bodyPr/>
          <a:lstStyle/>
          <a:p>
            <a:r>
              <a:rPr lang="en-US" altLang="en-US"/>
              <a:t>Concept of Intellectual Property Rights (IPR)</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What is Intellectual Property (IP)?</a:t>
            </a:r>
          </a:p>
        </p:txBody>
      </p:sp>
      <p:sp>
        <p:nvSpPr>
          <p:cNvPr id="3" name="Content Placeholder 2"/>
          <p:cNvSpPr>
            <a:spLocks noGrp="1"/>
          </p:cNvSpPr>
          <p:nvPr>
            <p:ph idx="1"/>
            <p:custDataLst>
              <p:tags r:id="rId3"/>
            </p:custDataLst>
          </p:nvPr>
        </p:nvSpPr>
        <p:spPr>
          <a:xfrm>
            <a:off x="695960" y="1301750"/>
            <a:ext cx="10800080" cy="5379720"/>
          </a:xfrm>
        </p:spPr>
        <p:txBody>
          <a:bodyPr>
            <a:noAutofit/>
          </a:bodyPr>
          <a:lstStyle/>
          <a:p>
            <a:pPr marL="0" indent="0">
              <a:lnSpc>
                <a:spcPct val="110000"/>
              </a:lnSpc>
              <a:buNone/>
            </a:pPr>
            <a:r>
              <a:rPr lang="en-US" altLang="en-US" sz="1600"/>
              <a:t>Intellectual Property (IP) refers to the creations of the human intellect or mind that have commercial, artistic, scientific, or industrial value. These creations are intangible assets, meaning they cannot be physically touched but have significant economic and social importance.</a:t>
            </a:r>
          </a:p>
          <a:p>
            <a:pPr marL="0" indent="0">
              <a:lnSpc>
                <a:spcPct val="110000"/>
              </a:lnSpc>
              <a:buNone/>
            </a:pPr>
            <a:r>
              <a:rPr lang="en-US" altLang="en-US" sz="1600"/>
              <a:t>Examples of intellectual property include:</a:t>
            </a:r>
          </a:p>
          <a:p>
            <a:pPr>
              <a:lnSpc>
                <a:spcPct val="110000"/>
              </a:lnSpc>
            </a:pPr>
            <a:r>
              <a:rPr lang="en-US" altLang="en-US" sz="1600"/>
              <a:t>Inventions and technological innovations</a:t>
            </a:r>
          </a:p>
          <a:p>
            <a:pPr>
              <a:lnSpc>
                <a:spcPct val="110000"/>
              </a:lnSpc>
            </a:pPr>
            <a:r>
              <a:rPr lang="en-US" altLang="en-US" sz="1600"/>
              <a:t>Computer software and mobile applications</a:t>
            </a:r>
          </a:p>
          <a:p>
            <a:pPr>
              <a:lnSpc>
                <a:spcPct val="110000"/>
              </a:lnSpc>
            </a:pPr>
            <a:r>
              <a:rPr lang="en-US" altLang="en-US" sz="1600"/>
              <a:t>Books, research papers, and articles</a:t>
            </a:r>
          </a:p>
          <a:p>
            <a:pPr>
              <a:lnSpc>
                <a:spcPct val="110000"/>
              </a:lnSpc>
            </a:pPr>
            <a:r>
              <a:rPr lang="en-US" altLang="en-US" sz="1600"/>
              <a:t>Paintings, photographs, and sculptures</a:t>
            </a:r>
          </a:p>
          <a:p>
            <a:pPr>
              <a:lnSpc>
                <a:spcPct val="110000"/>
              </a:lnSpc>
            </a:pPr>
            <a:r>
              <a:rPr lang="en-US" altLang="en-US" sz="1600"/>
              <a:t>Music, films, and videos</a:t>
            </a:r>
          </a:p>
          <a:p>
            <a:pPr>
              <a:lnSpc>
                <a:spcPct val="110000"/>
              </a:lnSpc>
            </a:pPr>
            <a:r>
              <a:rPr lang="en-US" altLang="en-US" sz="1600"/>
              <a:t>Logos, brand names, and trademarks</a:t>
            </a:r>
          </a:p>
          <a:p>
            <a:pPr>
              <a:lnSpc>
                <a:spcPct val="110000"/>
              </a:lnSpc>
            </a:pPr>
            <a:r>
              <a:rPr lang="en-US" altLang="en-US" sz="1600"/>
              <a:t>Industrial product designs</a:t>
            </a:r>
          </a:p>
          <a:p>
            <a:pPr>
              <a:lnSpc>
                <a:spcPct val="110000"/>
              </a:lnSpc>
            </a:pPr>
            <a:r>
              <a:rPr lang="en-US" altLang="en-US" sz="1600"/>
              <a:t>Business processes and trade secrets</a:t>
            </a:r>
          </a:p>
          <a:p>
            <a:pPr marL="0" indent="0">
              <a:lnSpc>
                <a:spcPct val="110000"/>
              </a:lnSpc>
              <a:buNone/>
            </a:pPr>
            <a:r>
              <a:rPr lang="en-US" altLang="en-US" sz="1600"/>
              <a:t>Just as physical property (such as land, buildings, or vehicles) can be owned and protected, intellectual creations can also be legally protected through Intellectual Property Rights.</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What are Intellectual Property Rights (IPR)?</a:t>
            </a:r>
          </a:p>
        </p:txBody>
      </p:sp>
      <p:sp>
        <p:nvSpPr>
          <p:cNvPr id="3" name="Content Placeholder 2"/>
          <p:cNvSpPr>
            <a:spLocks noGrp="1"/>
          </p:cNvSpPr>
          <p:nvPr>
            <p:ph idx="1"/>
            <p:custDataLst>
              <p:tags r:id="rId3"/>
            </p:custDataLst>
          </p:nvPr>
        </p:nvSpPr>
        <p:spPr/>
        <p:txBody>
          <a:bodyPr>
            <a:normAutofit/>
          </a:bodyPr>
          <a:lstStyle/>
          <a:p>
            <a:r>
              <a:rPr lang="en-US" altLang="en-US"/>
              <a:t>Intellectual Property Rights (IPR) are the legal rights granted by the government to creators, inventors, authors, designers, and businesses over their intellectual creations. These rights provide the owner with exclusive control over the use, production, sale, licensing, and commercialization of their work for a specified period.</a:t>
            </a:r>
          </a:p>
          <a:p>
            <a:r>
              <a:rPr lang="en-US" altLang="en-US"/>
              <a:t>In simple words, IPR gives creators the exclusive legal right to use, protect, and benefit financially from their intellectual creations while preventing unauthorized use by others.</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Definitions of IPR</a:t>
            </a:r>
          </a:p>
        </p:txBody>
      </p:sp>
      <p:sp>
        <p:nvSpPr>
          <p:cNvPr id="3" name="Content Placeholder 2"/>
          <p:cNvSpPr>
            <a:spLocks noGrp="1"/>
          </p:cNvSpPr>
          <p:nvPr>
            <p:ph idx="1"/>
            <p:custDataLst>
              <p:tags r:id="rId3"/>
            </p:custDataLst>
          </p:nvPr>
        </p:nvSpPr>
        <p:spPr/>
        <p:txBody>
          <a:bodyPr>
            <a:normAutofit/>
          </a:bodyPr>
          <a:lstStyle/>
          <a:p>
            <a:pPr marL="0" indent="0">
              <a:buNone/>
            </a:pPr>
            <a:r>
              <a:rPr lang="en-US" altLang="en-US"/>
              <a:t>According to WIPO (World Intellectual Property Organization):</a:t>
            </a:r>
          </a:p>
          <a:p>
            <a:pPr marL="0" indent="0">
              <a:buNone/>
            </a:pPr>
            <a:r>
              <a:rPr lang="en-US" altLang="en-US"/>
              <a:t>"Intellectual Property refers to creations of the mind, such as inventions, literary and artistic works, designs, symbols, names, and images used in commerce."</a:t>
            </a:r>
          </a:p>
          <a:p>
            <a:endParaRPr lang="en-US" altLang="en-US"/>
          </a:p>
          <a:p>
            <a:pPr marL="0" indent="0">
              <a:buNone/>
            </a:pPr>
            <a:r>
              <a:rPr lang="en-US" altLang="en-US"/>
              <a:t>Simple Definition:</a:t>
            </a:r>
          </a:p>
          <a:p>
            <a:pPr marL="0" indent="0">
              <a:buNone/>
            </a:pPr>
            <a:r>
              <a:rPr lang="en-US" altLang="en-US"/>
              <a:t>Intellectual Property Rights are legal rights that protect the creations of the human mind by giving creators exclusive ownership and control over their work for a limited period.</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Why are Intellectual Property Rights Needed?</a:t>
            </a:r>
          </a:p>
        </p:txBody>
      </p:sp>
      <p:sp>
        <p:nvSpPr>
          <p:cNvPr id="3" name="Content Placeholder 2"/>
          <p:cNvSpPr>
            <a:spLocks noGrp="1"/>
          </p:cNvSpPr>
          <p:nvPr>
            <p:ph idx="1"/>
            <p:custDataLst>
              <p:tags r:id="rId3"/>
            </p:custDataLst>
          </p:nvPr>
        </p:nvSpPr>
        <p:spPr>
          <a:xfrm>
            <a:off x="695960" y="1301750"/>
            <a:ext cx="4832985" cy="4873625"/>
          </a:xfrm>
        </p:spPr>
        <p:txBody>
          <a:bodyPr>
            <a:normAutofit fontScale="87500" lnSpcReduction="20000"/>
          </a:bodyPr>
          <a:lstStyle/>
          <a:p>
            <a:pPr marL="0" indent="0">
              <a:buNone/>
            </a:pPr>
            <a:r>
              <a:rPr lang="en-US" altLang="en-US" sz="2500"/>
              <a:t>Without IPR:</a:t>
            </a:r>
          </a:p>
          <a:p>
            <a:r>
              <a:rPr lang="en-US" altLang="en-US" sz="2500"/>
              <a:t>Anyone could copy inventions without permission.</a:t>
            </a:r>
          </a:p>
          <a:p>
            <a:r>
              <a:rPr lang="en-US" altLang="en-US" sz="2500"/>
              <a:t>Authors would not receive recognition for their work.</a:t>
            </a:r>
          </a:p>
          <a:p>
            <a:r>
              <a:rPr lang="en-US" altLang="en-US" sz="2500"/>
              <a:t>Businesses could misuse famous brand names.</a:t>
            </a:r>
          </a:p>
          <a:p>
            <a:r>
              <a:rPr lang="en-US" altLang="en-US" sz="2500"/>
              <a:t>Innovation and creativity would decline.</a:t>
            </a:r>
          </a:p>
          <a:p>
            <a:r>
              <a:rPr lang="en-US" altLang="en-US" sz="2500"/>
              <a:t>Counterfeit and duplicate products would increase.</a:t>
            </a:r>
          </a:p>
        </p:txBody>
      </p:sp>
      <p:sp>
        <p:nvSpPr>
          <p:cNvPr id="4" name="Content Placeholder 2"/>
          <p:cNvSpPr>
            <a:spLocks noGrp="1"/>
          </p:cNvSpPr>
          <p:nvPr>
            <p:custDataLst>
              <p:tags r:id="rId4"/>
            </p:custDataLst>
          </p:nvPr>
        </p:nvSpPr>
        <p:spPr>
          <a:xfrm>
            <a:off x="5877560" y="1428750"/>
            <a:ext cx="4832985"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None/>
            </a:pPr>
            <a:r>
              <a:rPr lang="en-US" altLang="en-US" sz="2000"/>
              <a:t>With IPR:</a:t>
            </a:r>
          </a:p>
          <a:p>
            <a:r>
              <a:rPr lang="en-US" altLang="en-US" sz="2000"/>
              <a:t>Inventors receive legal protection.</a:t>
            </a:r>
          </a:p>
          <a:p>
            <a:r>
              <a:rPr lang="en-US" altLang="en-US" sz="2000"/>
              <a:t>Businesses build strong brands.</a:t>
            </a:r>
          </a:p>
          <a:p>
            <a:r>
              <a:rPr lang="en-US" altLang="en-US" sz="2000"/>
              <a:t>Artists and authors earn royalties.</a:t>
            </a:r>
          </a:p>
          <a:p>
            <a:r>
              <a:rPr lang="en-US" altLang="en-US" sz="2000"/>
              <a:t>Research and development are encouraged.</a:t>
            </a:r>
          </a:p>
          <a:p>
            <a:r>
              <a:rPr lang="en-US" altLang="en-US" sz="2000"/>
              <a:t>Consumers receive genuine and quality products.</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Objectives of IPR</a:t>
            </a:r>
          </a:p>
        </p:txBody>
      </p:sp>
      <p:sp>
        <p:nvSpPr>
          <p:cNvPr id="3" name="Content Placeholder 2"/>
          <p:cNvSpPr>
            <a:spLocks noGrp="1"/>
          </p:cNvSpPr>
          <p:nvPr>
            <p:ph idx="1"/>
            <p:custDataLst>
              <p:tags r:id="rId3"/>
            </p:custDataLst>
          </p:nvPr>
        </p:nvSpPr>
        <p:spPr/>
        <p:txBody>
          <a:bodyPr>
            <a:normAutofit fontScale="90000" lnSpcReduction="10000"/>
          </a:bodyPr>
          <a:lstStyle/>
          <a:p>
            <a:pPr marL="0" indent="0">
              <a:buNone/>
            </a:pPr>
            <a:r>
              <a:rPr lang="en-US" altLang="en-US"/>
              <a:t>The primary objectives of Intellectual Property Rights are:</a:t>
            </a:r>
          </a:p>
          <a:p>
            <a:r>
              <a:rPr lang="en-US" altLang="en-US"/>
              <a:t>To encourage innovation and creativity.</a:t>
            </a:r>
          </a:p>
          <a:p>
            <a:r>
              <a:rPr lang="en-US" altLang="en-US"/>
              <a:t>To provide legal protection for inventions and creative works.</a:t>
            </a:r>
          </a:p>
          <a:p>
            <a:r>
              <a:rPr lang="en-US" altLang="en-US"/>
              <a:t>To reward inventors and creators for their efforts.</a:t>
            </a:r>
          </a:p>
          <a:p>
            <a:r>
              <a:rPr lang="en-US" altLang="en-US"/>
              <a:t>To promote research and technological development.</a:t>
            </a:r>
          </a:p>
          <a:p>
            <a:r>
              <a:rPr lang="en-US" altLang="en-US"/>
              <a:t>To facilitate technology transfer and commercialization.</a:t>
            </a:r>
          </a:p>
          <a:p>
            <a:r>
              <a:rPr lang="en-US" altLang="en-US"/>
              <a:t>To stimulate economic growth and industrial development.</a:t>
            </a:r>
          </a:p>
          <a:p>
            <a:r>
              <a:rPr lang="en-US" altLang="en-US"/>
              <a:t>To protect consumers from counterfeit products.</a:t>
            </a:r>
          </a:p>
          <a:p>
            <a:r>
              <a:rPr lang="en-US" altLang="en-US"/>
              <a:t>To encourage fair competition in the marketplace.</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Characteristics of Intellectual Property Rights</a:t>
            </a:r>
          </a:p>
        </p:txBody>
      </p:sp>
      <p:sp>
        <p:nvSpPr>
          <p:cNvPr id="3" name="Content Placeholder 2"/>
          <p:cNvSpPr>
            <a:spLocks noGrp="1"/>
          </p:cNvSpPr>
          <p:nvPr>
            <p:ph idx="1"/>
            <p:custDataLst>
              <p:tags r:id="rId3"/>
            </p:custDataLst>
          </p:nvPr>
        </p:nvSpPr>
        <p:spPr/>
        <p:txBody>
          <a:bodyPr>
            <a:normAutofit fontScale="80000" lnSpcReduction="10000"/>
          </a:bodyPr>
          <a:lstStyle/>
          <a:p>
            <a:pPr marL="457200" indent="-457200">
              <a:buAutoNum type="arabicPeriod"/>
            </a:pPr>
            <a:r>
              <a:rPr lang="en-US" altLang="en-US"/>
              <a:t>Intangible Nature: Intellectual property has no physical form but possesses economic value.</a:t>
            </a:r>
          </a:p>
          <a:p>
            <a:pPr marL="457200" indent="-457200">
              <a:buAutoNum type="arabicPeriod"/>
            </a:pPr>
            <a:r>
              <a:rPr lang="en-US" altLang="en-US"/>
              <a:t>Exclusive Rights: Only the owner has the legal authority to use, sell, or license the intellectual property.</a:t>
            </a:r>
          </a:p>
          <a:p>
            <a:pPr marL="457200" indent="-457200">
              <a:buAutoNum type="arabicPeriod"/>
            </a:pPr>
            <a:r>
              <a:rPr lang="en-US" altLang="en-US"/>
              <a:t>Territorial Protection: Protection is generally limited to the country or region where the rights are granted.</a:t>
            </a:r>
          </a:p>
          <a:p>
            <a:pPr marL="457200" indent="-457200">
              <a:buAutoNum type="arabicPeriod"/>
            </a:pPr>
            <a:r>
              <a:rPr lang="en-US" altLang="en-US"/>
              <a:t>Limited Duration: Most intellectual property rights are valid only for a specified period.</a:t>
            </a:r>
          </a:p>
          <a:p>
            <a:pPr marL="457200" indent="-457200">
              <a:buAutoNum type="arabicPeriod"/>
            </a:pPr>
            <a:r>
              <a:rPr lang="en-US" altLang="en-US"/>
              <a:t>Transferable: Intellectual property rights can be sold, assigned, licensed, or inherited.</a:t>
            </a:r>
          </a:p>
          <a:p>
            <a:pPr marL="457200" indent="-457200">
              <a:buAutoNum type="arabicPeriod"/>
            </a:pPr>
            <a:r>
              <a:rPr lang="en-US" altLang="en-US"/>
              <a:t>Legal Protection: The owner can take legal action against infringement or unauthorized use.</a:t>
            </a:r>
          </a:p>
          <a:p>
            <a:pPr marL="457200" indent="-457200">
              <a:buAutoNum type="arabicPeriod"/>
            </a:pPr>
            <a:r>
              <a:rPr lang="en-US" altLang="en-US"/>
              <a:t>Commercial Value: Intellectual property can generate income through licensing, royalties, franchising, or commercialization.</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Components of Intellectual Property</a:t>
            </a:r>
          </a:p>
        </p:txBody>
      </p:sp>
      <p:sp>
        <p:nvSpPr>
          <p:cNvPr id="3" name="Content Placeholder 2"/>
          <p:cNvSpPr>
            <a:spLocks noGrp="1"/>
          </p:cNvSpPr>
          <p:nvPr>
            <p:ph idx="1"/>
            <p:custDataLst>
              <p:tags r:id="rId3"/>
            </p:custDataLst>
          </p:nvPr>
        </p:nvSpPr>
        <p:spPr/>
        <p:txBody>
          <a:bodyPr>
            <a:normAutofit fontScale="97500" lnSpcReduction="10000"/>
          </a:bodyPr>
          <a:lstStyle/>
          <a:p>
            <a:pPr marL="0" indent="0">
              <a:buNone/>
            </a:pPr>
            <a:r>
              <a:rPr lang="en-US" altLang="en-US"/>
              <a:t>The major forms of Intellectual Property include:</a:t>
            </a:r>
          </a:p>
          <a:p>
            <a:pPr marL="457200" indent="-457200">
              <a:lnSpc>
                <a:spcPct val="120000"/>
              </a:lnSpc>
              <a:buAutoNum type="arabicPeriod"/>
            </a:pPr>
            <a:r>
              <a:rPr lang="en-US" altLang="en-US"/>
              <a:t>Patent – Protects inventions and technological innovations.</a:t>
            </a:r>
          </a:p>
          <a:p>
            <a:pPr marL="457200" indent="-457200">
              <a:lnSpc>
                <a:spcPct val="120000"/>
              </a:lnSpc>
              <a:buAutoNum type="arabicPeriod"/>
            </a:pPr>
            <a:r>
              <a:rPr lang="en-US" altLang="en-US"/>
              <a:t>Trademark – Protects brand names, logos, symbols, and slogans.</a:t>
            </a:r>
          </a:p>
          <a:p>
            <a:pPr marL="457200" indent="-457200">
              <a:lnSpc>
                <a:spcPct val="120000"/>
              </a:lnSpc>
              <a:buAutoNum type="arabicPeriod"/>
            </a:pPr>
            <a:r>
              <a:rPr lang="en-US" altLang="en-US"/>
              <a:t>Copyright – Protects literary, artistic, musical, and software works.</a:t>
            </a:r>
          </a:p>
          <a:p>
            <a:pPr marL="457200" indent="-457200">
              <a:lnSpc>
                <a:spcPct val="120000"/>
              </a:lnSpc>
              <a:buAutoNum type="arabicPeriod"/>
            </a:pPr>
            <a:r>
              <a:rPr lang="en-US" altLang="en-US"/>
              <a:t>Industrial Design – Protects the visual appearance of products.</a:t>
            </a:r>
          </a:p>
          <a:p>
            <a:pPr marL="457200" indent="-457200">
              <a:lnSpc>
                <a:spcPct val="120000"/>
              </a:lnSpc>
              <a:buAutoNum type="arabicPeriod"/>
            </a:pPr>
            <a:r>
              <a:rPr lang="en-US" altLang="en-US"/>
              <a:t>Geographical Indication (GI) – Protects products associated with a specific geographical origin.</a:t>
            </a:r>
          </a:p>
          <a:p>
            <a:pPr marL="457200" indent="-457200">
              <a:lnSpc>
                <a:spcPct val="120000"/>
              </a:lnSpc>
              <a:buAutoNum type="arabicPeriod"/>
            </a:pPr>
            <a:r>
              <a:rPr lang="en-US" altLang="en-US"/>
              <a:t>Trade Secret – Protects confidential business information and formulas.</a:t>
            </a:r>
          </a:p>
          <a:p>
            <a:pPr marL="457200" indent="-457200">
              <a:lnSpc>
                <a:spcPct val="120000"/>
              </a:lnSpc>
              <a:buAutoNum type="arabicPeriod"/>
            </a:pPr>
            <a:r>
              <a:rPr lang="en-US" altLang="en-US"/>
              <a:t>Plant Variety Protection – Protects new plant varieties developed through breeding.</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Real-Life Examples</a:t>
            </a:r>
          </a:p>
        </p:txBody>
      </p:sp>
      <p:graphicFrame>
        <p:nvGraphicFramePr>
          <p:cNvPr id="4" name="Table 3"/>
          <p:cNvGraphicFramePr/>
          <p:nvPr/>
        </p:nvGraphicFramePr>
        <p:xfrm>
          <a:off x="938530" y="1353185"/>
          <a:ext cx="9436100" cy="4662805"/>
        </p:xfrm>
        <a:graphic>
          <a:graphicData uri="http://schemas.openxmlformats.org/drawingml/2006/table">
            <a:tbl>
              <a:tblPr firstRow="1" bandRow="1">
                <a:tableStyleId>{5C22544A-7EE6-4342-B048-85BDC9FD1C3A}</a:tableStyleId>
              </a:tblPr>
              <a:tblGrid>
                <a:gridCol w="4718050">
                  <a:extLst>
                    <a:ext uri="{9D8B030D-6E8A-4147-A177-3AD203B41FA5}">
                      <a16:colId xmlns:a16="http://schemas.microsoft.com/office/drawing/2014/main" val="20000"/>
                    </a:ext>
                  </a:extLst>
                </a:gridCol>
                <a:gridCol w="4718050">
                  <a:extLst>
                    <a:ext uri="{9D8B030D-6E8A-4147-A177-3AD203B41FA5}">
                      <a16:colId xmlns:a16="http://schemas.microsoft.com/office/drawing/2014/main" val="20001"/>
                    </a:ext>
                  </a:extLst>
                </a:gridCol>
              </a:tblGrid>
              <a:tr h="666115">
                <a:tc>
                  <a:txBody>
                    <a:bodyPr/>
                    <a:lstStyle/>
                    <a:p>
                      <a:pPr algn="ctr"/>
                      <a:r>
                        <a:rPr sz="1800"/>
                        <a:t>Intellectual Property</a:t>
                      </a:r>
                    </a:p>
                  </a:txBody>
                  <a:tcPr marL="0" marR="0" marT="0" marB="0" anchor="ctr"/>
                </a:tc>
                <a:tc>
                  <a:txBody>
                    <a:bodyPr/>
                    <a:lstStyle/>
                    <a:p>
                      <a:pPr algn="ctr"/>
                      <a:r>
                        <a:rPr sz="1800"/>
                        <a:t>Type of IPR</a:t>
                      </a:r>
                    </a:p>
                  </a:txBody>
                  <a:tcPr marL="0" marR="0" marT="0" marB="0" anchor="ctr"/>
                </a:tc>
                <a:extLst>
                  <a:ext uri="{0D108BD9-81ED-4DB2-BD59-A6C34878D82A}">
                    <a16:rowId xmlns:a16="http://schemas.microsoft.com/office/drawing/2014/main" val="10000"/>
                  </a:ext>
                </a:extLst>
              </a:tr>
              <a:tr h="666115">
                <a:tc>
                  <a:txBody>
                    <a:bodyPr/>
                    <a:lstStyle/>
                    <a:p>
                      <a:r>
                        <a:rPr sz="1800"/>
                        <a:t>Microsoft Windows</a:t>
                      </a:r>
                    </a:p>
                  </a:txBody>
                  <a:tcPr marL="0" marR="0" marT="0" marB="0" anchor="ctr"/>
                </a:tc>
                <a:tc>
                  <a:txBody>
                    <a:bodyPr/>
                    <a:lstStyle/>
                    <a:p>
                      <a:r>
                        <a:rPr sz="1800"/>
                        <a:t>Copyright</a:t>
                      </a:r>
                    </a:p>
                  </a:txBody>
                  <a:tcPr marL="0" marR="0" marT="0" marB="0" anchor="ctr"/>
                </a:tc>
                <a:extLst>
                  <a:ext uri="{0D108BD9-81ED-4DB2-BD59-A6C34878D82A}">
                    <a16:rowId xmlns:a16="http://schemas.microsoft.com/office/drawing/2014/main" val="10001"/>
                  </a:ext>
                </a:extLst>
              </a:tr>
              <a:tr h="666115">
                <a:tc>
                  <a:txBody>
                    <a:bodyPr/>
                    <a:lstStyle/>
                    <a:p>
                      <a:r>
                        <a:rPr sz="1800"/>
                        <a:t>Apple Logo</a:t>
                      </a:r>
                    </a:p>
                  </a:txBody>
                  <a:tcPr marL="0" marR="0" marT="0" marB="0" anchor="ctr"/>
                </a:tc>
                <a:tc>
                  <a:txBody>
                    <a:bodyPr/>
                    <a:lstStyle/>
                    <a:p>
                      <a:r>
                        <a:rPr sz="1800"/>
                        <a:t>Trademark</a:t>
                      </a:r>
                    </a:p>
                  </a:txBody>
                  <a:tcPr marL="0" marR="0" marT="0" marB="0" anchor="ctr"/>
                </a:tc>
                <a:extLst>
                  <a:ext uri="{0D108BD9-81ED-4DB2-BD59-A6C34878D82A}">
                    <a16:rowId xmlns:a16="http://schemas.microsoft.com/office/drawing/2014/main" val="10002"/>
                  </a:ext>
                </a:extLst>
              </a:tr>
              <a:tr h="666115">
                <a:tc>
                  <a:txBody>
                    <a:bodyPr/>
                    <a:lstStyle/>
                    <a:p>
                      <a:r>
                        <a:rPr sz="1800"/>
                        <a:t>New Electric Vehicle Battery</a:t>
                      </a:r>
                    </a:p>
                  </a:txBody>
                  <a:tcPr marL="0" marR="0" marT="0" marB="0" anchor="ctr"/>
                </a:tc>
                <a:tc>
                  <a:txBody>
                    <a:bodyPr/>
                    <a:lstStyle/>
                    <a:p>
                      <a:r>
                        <a:rPr sz="1800"/>
                        <a:t>Patent</a:t>
                      </a:r>
                    </a:p>
                  </a:txBody>
                  <a:tcPr marL="0" marR="0" marT="0" marB="0" anchor="ctr"/>
                </a:tc>
                <a:extLst>
                  <a:ext uri="{0D108BD9-81ED-4DB2-BD59-A6C34878D82A}">
                    <a16:rowId xmlns:a16="http://schemas.microsoft.com/office/drawing/2014/main" val="10003"/>
                  </a:ext>
                </a:extLst>
              </a:tr>
              <a:tr h="666115">
                <a:tc>
                  <a:txBody>
                    <a:bodyPr/>
                    <a:lstStyle/>
                    <a:p>
                      <a:r>
                        <a:rPr sz="1800"/>
                        <a:t>Coca-Cola Bottle Shape</a:t>
                      </a:r>
                    </a:p>
                  </a:txBody>
                  <a:tcPr marL="0" marR="0" marT="0" marB="0" anchor="ctr"/>
                </a:tc>
                <a:tc>
                  <a:txBody>
                    <a:bodyPr/>
                    <a:lstStyle/>
                    <a:p>
                      <a:r>
                        <a:rPr sz="1800"/>
                        <a:t>Industrial Design</a:t>
                      </a:r>
                    </a:p>
                  </a:txBody>
                  <a:tcPr marL="0" marR="0" marT="0" marB="0" anchor="ctr"/>
                </a:tc>
                <a:extLst>
                  <a:ext uri="{0D108BD9-81ED-4DB2-BD59-A6C34878D82A}">
                    <a16:rowId xmlns:a16="http://schemas.microsoft.com/office/drawing/2014/main" val="10004"/>
                  </a:ext>
                </a:extLst>
              </a:tr>
              <a:tr h="666115">
                <a:tc>
                  <a:txBody>
                    <a:bodyPr/>
                    <a:lstStyle/>
                    <a:p>
                      <a:r>
                        <a:rPr sz="1800"/>
                        <a:t>Darjeeling Tea</a:t>
                      </a:r>
                    </a:p>
                  </a:txBody>
                  <a:tcPr marL="0" marR="0" marT="0" marB="0" anchor="ctr"/>
                </a:tc>
                <a:tc>
                  <a:txBody>
                    <a:bodyPr/>
                    <a:lstStyle/>
                    <a:p>
                      <a:r>
                        <a:rPr sz="1800"/>
                        <a:t>Geographical Indication</a:t>
                      </a:r>
                    </a:p>
                  </a:txBody>
                  <a:tcPr marL="0" marR="0" marT="0" marB="0" anchor="ctr"/>
                </a:tc>
                <a:extLst>
                  <a:ext uri="{0D108BD9-81ED-4DB2-BD59-A6C34878D82A}">
                    <a16:rowId xmlns:a16="http://schemas.microsoft.com/office/drawing/2014/main" val="10005"/>
                  </a:ext>
                </a:extLst>
              </a:tr>
              <a:tr h="666115">
                <a:tc>
                  <a:txBody>
                    <a:bodyPr/>
                    <a:lstStyle/>
                    <a:p>
                      <a:r>
                        <a:rPr sz="1800"/>
                        <a:t>Coca-Cola Formula</a:t>
                      </a:r>
                    </a:p>
                  </a:txBody>
                  <a:tcPr marL="0" marR="0" marT="0" marB="0" anchor="ctr"/>
                </a:tc>
                <a:tc>
                  <a:txBody>
                    <a:bodyPr/>
                    <a:lstStyle/>
                    <a:p>
                      <a:r>
                        <a:rPr sz="1800"/>
                        <a:t>Trade Secret</a:t>
                      </a:r>
                    </a:p>
                  </a:txBody>
                  <a:tcPr marL="0" marR="0" marT="0" marB="0" anchor="ctr"/>
                </a:tc>
                <a:extLst>
                  <a:ext uri="{0D108BD9-81ED-4DB2-BD59-A6C34878D82A}">
                    <a16:rowId xmlns:a16="http://schemas.microsoft.com/office/drawing/2014/main" val="10006"/>
                  </a:ext>
                </a:extLst>
              </a:tr>
            </a:tbl>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Advantages of IPR</a:t>
            </a:r>
          </a:p>
        </p:txBody>
      </p:sp>
      <p:sp>
        <p:nvSpPr>
          <p:cNvPr id="3" name="Content Placeholder 2"/>
          <p:cNvSpPr>
            <a:spLocks noGrp="1"/>
          </p:cNvSpPr>
          <p:nvPr>
            <p:ph idx="1"/>
            <p:custDataLst>
              <p:tags r:id="rId3"/>
            </p:custDataLst>
          </p:nvPr>
        </p:nvSpPr>
        <p:spPr>
          <a:xfrm>
            <a:off x="695960" y="1301750"/>
            <a:ext cx="4969510" cy="5233670"/>
          </a:xfrm>
        </p:spPr>
        <p:txBody>
          <a:bodyPr>
            <a:noAutofit/>
          </a:bodyPr>
          <a:lstStyle/>
          <a:p>
            <a:pPr marL="0" indent="0">
              <a:buNone/>
            </a:pPr>
            <a:r>
              <a:rPr lang="en-US" altLang="en-US" sz="1800"/>
              <a:t>For Individuals</a:t>
            </a:r>
          </a:p>
          <a:p>
            <a:r>
              <a:rPr lang="en-US" altLang="en-US" sz="1800"/>
              <a:t>Recognition for innovation.</a:t>
            </a:r>
          </a:p>
          <a:p>
            <a:r>
              <a:rPr lang="en-US" altLang="en-US" sz="1800"/>
              <a:t>Financial rewards through licensing and royalties.</a:t>
            </a:r>
          </a:p>
          <a:p>
            <a:r>
              <a:rPr lang="en-US" altLang="en-US" sz="1800"/>
              <a:t>Motivation to create new ideas.</a:t>
            </a:r>
          </a:p>
          <a:p>
            <a:pPr marL="0" indent="0">
              <a:buNone/>
            </a:pPr>
            <a:r>
              <a:rPr lang="en-US" altLang="en-US" sz="1800"/>
              <a:t>For Businesses</a:t>
            </a:r>
          </a:p>
          <a:p>
            <a:r>
              <a:rPr lang="en-US" altLang="en-US" sz="1800"/>
              <a:t>Brand protection.</a:t>
            </a:r>
          </a:p>
          <a:p>
            <a:r>
              <a:rPr lang="en-US" altLang="en-US" sz="1800"/>
              <a:t>Competitive advantage.</a:t>
            </a:r>
          </a:p>
          <a:p>
            <a:r>
              <a:rPr lang="en-US" altLang="en-US" sz="1800"/>
              <a:t>Increased market value.</a:t>
            </a:r>
          </a:p>
          <a:p>
            <a:r>
              <a:rPr lang="en-US" altLang="en-US" sz="1800"/>
              <a:t>Business expansion through licensing and franchising.</a:t>
            </a:r>
          </a:p>
        </p:txBody>
      </p:sp>
      <p:sp>
        <p:nvSpPr>
          <p:cNvPr id="4" name="Content Placeholder 2"/>
          <p:cNvSpPr>
            <a:spLocks noGrp="1"/>
          </p:cNvSpPr>
          <p:nvPr>
            <p:custDataLst>
              <p:tags r:id="rId4"/>
            </p:custDataLst>
          </p:nvPr>
        </p:nvSpPr>
        <p:spPr>
          <a:xfrm>
            <a:off x="6023610" y="1428750"/>
            <a:ext cx="4855845" cy="4243705"/>
          </a:xfrm>
          <a:prstGeom prst="rect">
            <a:avLst/>
          </a:prstGeom>
        </p:spPr>
        <p:txBody>
          <a:bodyPr vert="horz" wrap="square" lIns="0" tIns="0" rIns="0" bIns="0" rtlCol="0"/>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None/>
            </a:pPr>
            <a:r>
              <a:rPr lang="en-US" altLang="en-US" sz="1800"/>
              <a:t>For Society</a:t>
            </a:r>
          </a:p>
          <a:p>
            <a:r>
              <a:rPr lang="en-US" altLang="en-US" sz="1800"/>
              <a:t>Encourages technological advancement.</a:t>
            </a:r>
          </a:p>
          <a:p>
            <a:r>
              <a:rPr lang="en-US" altLang="en-US" sz="1800"/>
              <a:t>Promotes economic development.</a:t>
            </a:r>
          </a:p>
          <a:p>
            <a:r>
              <a:rPr lang="en-US" altLang="en-US" sz="1800"/>
              <a:t>Improves product quality.</a:t>
            </a:r>
          </a:p>
          <a:p>
            <a:r>
              <a:rPr lang="en-US" altLang="en-US" sz="1800"/>
              <a:t>Creates employment opportunities.</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Limitations of IPR</a:t>
            </a:r>
          </a:p>
        </p:txBody>
      </p:sp>
      <p:sp>
        <p:nvSpPr>
          <p:cNvPr id="3" name="Content Placeholder 2"/>
          <p:cNvSpPr>
            <a:spLocks noGrp="1"/>
          </p:cNvSpPr>
          <p:nvPr>
            <p:ph idx="1"/>
            <p:custDataLst>
              <p:tags r:id="rId3"/>
            </p:custDataLst>
          </p:nvPr>
        </p:nvSpPr>
        <p:spPr/>
        <p:txBody>
          <a:bodyPr/>
          <a:lstStyle/>
          <a:p>
            <a:r>
              <a:rPr lang="en-US" altLang="en-US"/>
              <a:t>Registration and maintenance can be expensive.</a:t>
            </a:r>
          </a:p>
          <a:p>
            <a:r>
              <a:rPr lang="en-US" altLang="en-US"/>
              <a:t>Enforcement of rights may require legal proceedings.</a:t>
            </a:r>
          </a:p>
          <a:p>
            <a:r>
              <a:rPr lang="en-US" altLang="en-US"/>
              <a:t>Protection is limited to a specific period.</a:t>
            </a:r>
          </a:p>
          <a:p>
            <a:r>
              <a:rPr lang="en-US" altLang="en-US"/>
              <a:t>Rights are generally territorial and may require separate registration in different countries.</a:t>
            </a:r>
          </a:p>
          <a:p>
            <a:r>
              <a:rPr lang="en-US" altLang="en-US"/>
              <a:t>Misuse of IPR can create monopolies and restrict competition if not properly regulated.</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Importance of IPR in the Digital Era</a:t>
            </a:r>
          </a:p>
        </p:txBody>
      </p:sp>
      <p:sp>
        <p:nvSpPr>
          <p:cNvPr id="3" name="Content Placeholder 2"/>
          <p:cNvSpPr>
            <a:spLocks noGrp="1"/>
          </p:cNvSpPr>
          <p:nvPr>
            <p:ph idx="1"/>
            <p:custDataLst>
              <p:tags r:id="rId3"/>
            </p:custDataLst>
          </p:nvPr>
        </p:nvSpPr>
        <p:spPr/>
        <p:txBody>
          <a:bodyPr>
            <a:normAutofit fontScale="85000" lnSpcReduction="20000"/>
          </a:bodyPr>
          <a:lstStyle/>
          <a:p>
            <a:pPr marL="0" indent="0">
              <a:buNone/>
            </a:pPr>
            <a:r>
              <a:rPr lang="en-US" altLang="en-US"/>
              <a:t>With the rapid growth of digital technologies, IPR has become increasingly important to protect:</a:t>
            </a:r>
          </a:p>
          <a:p>
            <a:r>
              <a:rPr lang="en-US" altLang="en-US"/>
              <a:t>Software applications</a:t>
            </a:r>
          </a:p>
          <a:p>
            <a:r>
              <a:rPr lang="en-US" altLang="en-US"/>
              <a:t>Artificial Intelligence (AI) innovations</a:t>
            </a:r>
          </a:p>
          <a:p>
            <a:r>
              <a:rPr lang="en-US" altLang="en-US"/>
              <a:t>Mobile applications</a:t>
            </a:r>
          </a:p>
          <a:p>
            <a:r>
              <a:rPr lang="en-US" altLang="en-US"/>
              <a:t>Websites and digital content</a:t>
            </a:r>
          </a:p>
          <a:p>
            <a:r>
              <a:rPr lang="en-US" altLang="en-US"/>
              <a:t>Online educational materials</a:t>
            </a:r>
          </a:p>
          <a:p>
            <a:r>
              <a:rPr lang="en-US" altLang="en-US"/>
              <a:t>Multimedia and streaming content</a:t>
            </a:r>
          </a:p>
          <a:p>
            <a:r>
              <a:rPr lang="en-US" altLang="en-US"/>
              <a:t>E-commerce brands</a:t>
            </a:r>
          </a:p>
          <a:p>
            <a:r>
              <a:rPr lang="en-US" altLang="en-US"/>
              <a:t>Databases and cloud-based services</a:t>
            </a:r>
          </a:p>
          <a:p>
            <a:pPr marL="0" indent="0">
              <a:buNone/>
            </a:pPr>
            <a:r>
              <a:rPr lang="en-US" altLang="en-US"/>
              <a:t>As digital information can be copied and distributed easily, IPR provides the legal framework to safeguard innovation, creativity, and commercial interests.</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sym typeface="+mn-ea"/>
              </a:rPr>
              <a:t>Summary</a:t>
            </a:r>
            <a:endParaRPr lang="en-US"/>
          </a:p>
        </p:txBody>
      </p:sp>
      <p:sp>
        <p:nvSpPr>
          <p:cNvPr id="3" name="Content Placeholder 2"/>
          <p:cNvSpPr>
            <a:spLocks noGrp="1"/>
          </p:cNvSpPr>
          <p:nvPr>
            <p:ph idx="1"/>
            <p:custDataLst>
              <p:tags r:id="rId3"/>
            </p:custDataLst>
          </p:nvPr>
        </p:nvSpPr>
        <p:spPr/>
        <p:txBody>
          <a:bodyPr>
            <a:normAutofit fontScale="92500"/>
          </a:bodyPr>
          <a:lstStyle/>
          <a:p>
            <a:r>
              <a:rPr lang="en-US" altLang="en-US"/>
              <a:t>Intellectual Property (IP) refers to creations of the human mind that have value.</a:t>
            </a:r>
          </a:p>
          <a:p>
            <a:r>
              <a:rPr lang="en-US" altLang="en-US"/>
              <a:t>Intellectual Property Rights (IPR) are legal rights that protect these creations.</a:t>
            </a:r>
          </a:p>
          <a:p>
            <a:r>
              <a:rPr lang="en-US" altLang="en-US"/>
              <a:t>IPR encourages innovation, rewards creators, promotes economic growth, and prevents unauthorized use of intellectual assets.</a:t>
            </a:r>
          </a:p>
          <a:p>
            <a:r>
              <a:rPr lang="en-US" altLang="en-US"/>
              <a:t>The major forms of IPR include Patents, Copyrights, Trademarks, Industrial Designs, Geographical Indications, and Trade Secrets.</a:t>
            </a:r>
          </a:p>
          <a:p>
            <a:r>
              <a:rPr lang="en-US" altLang="en-US"/>
              <a:t>In today's knowledge-driven and digital economy, IPR plays a vital role in fostering innovation, protecting investments, and supporting sustainable technological and economic development.</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a:xfrm>
            <a:off x="696000" y="1766570"/>
            <a:ext cx="10800000" cy="2646680"/>
          </a:xfrm>
        </p:spPr>
        <p:txBody>
          <a:bodyPr>
            <a:normAutofit fontScale="90000"/>
          </a:bodyPr>
          <a:lstStyle/>
          <a:p>
            <a:r>
              <a:rPr lang="en-US" altLang="en-US"/>
              <a:t>Historical Development of Intellectual Property Rights (IPR)</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sym typeface="+mn-ea"/>
              </a:rPr>
              <a:t>Introduction</a:t>
            </a:r>
            <a:endParaRPr lang="en-US"/>
          </a:p>
        </p:txBody>
      </p:sp>
      <p:sp>
        <p:nvSpPr>
          <p:cNvPr id="3" name="Content Placeholder 2"/>
          <p:cNvSpPr>
            <a:spLocks noGrp="1"/>
          </p:cNvSpPr>
          <p:nvPr>
            <p:ph idx="1"/>
            <p:custDataLst>
              <p:tags r:id="rId3"/>
            </p:custDataLst>
          </p:nvPr>
        </p:nvSpPr>
        <p:spPr/>
        <p:txBody>
          <a:bodyPr/>
          <a:lstStyle/>
          <a:p>
            <a:r>
              <a:rPr lang="en-US" altLang="en-US"/>
              <a:t>The concept of Intellectual Property Rights (IPR) has evolved over several centuries to protect human creativity, innovation, and artistic expression. Initially, inventors and creators had little or no legal protection for their work. Over time, governments recognized that providing exclusive rights to inventors and authors would encourage innovation, scientific advancement, and economic growth. Today, IPR has become an essential part of international trade and technological development.</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95960" y="360045"/>
            <a:ext cx="10800080" cy="941705"/>
          </a:xfrm>
        </p:spPr>
        <p:txBody>
          <a:bodyPr>
            <a:normAutofit fontScale="90000"/>
          </a:bodyPr>
          <a:lstStyle/>
          <a:p>
            <a:r>
              <a:rPr lang="en-US" altLang="en-US"/>
              <a:t>Timeline of the Historical Development of IPR</a:t>
            </a:r>
            <a:br>
              <a:rPr lang="en-US" altLang="en-US"/>
            </a:br>
            <a:r>
              <a:rPr lang="en-US" altLang="en-US">
                <a:sym typeface="+mn-ea"/>
              </a:rPr>
              <a:t>1. Statute of Monopolies (1624) – England</a:t>
            </a:r>
            <a:endParaRPr lang="en-US" altLang="en-US"/>
          </a:p>
        </p:txBody>
      </p:sp>
      <p:sp>
        <p:nvSpPr>
          <p:cNvPr id="3" name="Content Placeholder 2"/>
          <p:cNvSpPr>
            <a:spLocks noGrp="1"/>
          </p:cNvSpPr>
          <p:nvPr>
            <p:ph idx="1"/>
            <p:custDataLst>
              <p:tags r:id="rId3"/>
            </p:custDataLst>
          </p:nvPr>
        </p:nvSpPr>
        <p:spPr>
          <a:xfrm>
            <a:off x="695960" y="1504314"/>
            <a:ext cx="10800000" cy="4873625"/>
          </a:xfrm>
        </p:spPr>
        <p:txBody>
          <a:bodyPr>
            <a:normAutofit/>
          </a:bodyPr>
          <a:lstStyle/>
          <a:p>
            <a:pPr marL="0" indent="0">
              <a:buNone/>
            </a:pPr>
            <a:r>
              <a:rPr lang="en-US" altLang="en-US"/>
              <a:t>The Statute of Monopolies was enacted by the English Parliament in 1624.</a:t>
            </a:r>
          </a:p>
          <a:p>
            <a:pPr marL="0" indent="0">
              <a:buNone/>
            </a:pPr>
            <a:r>
              <a:rPr lang="en-US" altLang="en-US"/>
              <a:t>Key Features</a:t>
            </a:r>
          </a:p>
          <a:p>
            <a:r>
              <a:rPr lang="en-US" altLang="en-US"/>
              <a:t>Restricted the King's power to grant monopolies arbitrarily.</a:t>
            </a:r>
          </a:p>
          <a:p>
            <a:r>
              <a:rPr lang="en-US" altLang="en-US"/>
              <a:t>Allowed patents only for new inventions.</a:t>
            </a:r>
          </a:p>
          <a:p>
            <a:r>
              <a:rPr lang="en-US" altLang="en-US"/>
              <a:t>Patent protection was generally granted for 14 years.</a:t>
            </a:r>
          </a:p>
          <a:p>
            <a:pPr marL="0" indent="0">
              <a:buNone/>
            </a:pPr>
            <a:r>
              <a:rPr lang="en-US" altLang="en-US"/>
              <a:t>Importance</a:t>
            </a:r>
          </a:p>
          <a:p>
            <a:r>
              <a:rPr lang="en-US" altLang="en-US"/>
              <a:t>Considered the basis of modern patent law.</a:t>
            </a:r>
          </a:p>
          <a:p>
            <a:r>
              <a:rPr lang="en-US" altLang="en-US"/>
              <a:t>Established that patents should reward genuine innovation.</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2. Statute of Anne (1710) – England</a:t>
            </a:r>
          </a:p>
        </p:txBody>
      </p:sp>
      <p:sp>
        <p:nvSpPr>
          <p:cNvPr id="3" name="Content Placeholder 2"/>
          <p:cNvSpPr>
            <a:spLocks noGrp="1"/>
          </p:cNvSpPr>
          <p:nvPr>
            <p:ph idx="1"/>
            <p:custDataLst>
              <p:tags r:id="rId3"/>
            </p:custDataLst>
          </p:nvPr>
        </p:nvSpPr>
        <p:spPr/>
        <p:txBody>
          <a:bodyPr>
            <a:normAutofit fontScale="97500"/>
          </a:bodyPr>
          <a:lstStyle/>
          <a:p>
            <a:pPr marL="0" indent="0">
              <a:buNone/>
            </a:pPr>
            <a:r>
              <a:rPr lang="en-US" altLang="en-US"/>
              <a:t>The Statute of Anne, enacted in 1710, is regarded as the first modern copyright law.</a:t>
            </a:r>
          </a:p>
          <a:p>
            <a:pPr marL="0" indent="0">
              <a:buNone/>
            </a:pPr>
            <a:r>
              <a:rPr lang="en-US" altLang="en-US"/>
              <a:t>Key Features</a:t>
            </a:r>
          </a:p>
          <a:p>
            <a:r>
              <a:rPr lang="en-US" altLang="en-US"/>
              <a:t>Protected authors rather than printers.</a:t>
            </a:r>
          </a:p>
          <a:p>
            <a:r>
              <a:rPr lang="en-US" altLang="en-US"/>
              <a:t>Granted exclusive rights to publish literary works.</a:t>
            </a:r>
          </a:p>
          <a:p>
            <a:r>
              <a:rPr lang="en-US" altLang="en-US"/>
              <a:t>Initial protection period of 14 years, renewable once.</a:t>
            </a:r>
          </a:p>
          <a:p>
            <a:pPr marL="0" indent="0">
              <a:buNone/>
            </a:pPr>
            <a:r>
              <a:rPr lang="en-US" altLang="en-US"/>
              <a:t>Importance</a:t>
            </a:r>
          </a:p>
          <a:p>
            <a:r>
              <a:rPr lang="en-US" altLang="en-US"/>
              <a:t>Recognized authors as owners of their creative works.</a:t>
            </a:r>
          </a:p>
          <a:p>
            <a:r>
              <a:rPr lang="en-US" altLang="en-US"/>
              <a:t>Encouraged literary and educational development.</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3. Industrial Revolution (18th–19th Century)</a:t>
            </a:r>
          </a:p>
        </p:txBody>
      </p:sp>
      <p:sp>
        <p:nvSpPr>
          <p:cNvPr id="3" name="Content Placeholder 2"/>
          <p:cNvSpPr>
            <a:spLocks noGrp="1"/>
          </p:cNvSpPr>
          <p:nvPr>
            <p:ph idx="1"/>
            <p:custDataLst>
              <p:tags r:id="rId3"/>
            </p:custDataLst>
          </p:nvPr>
        </p:nvSpPr>
        <p:spPr/>
        <p:txBody>
          <a:bodyPr>
            <a:normAutofit fontScale="87500" lnSpcReduction="10000"/>
          </a:bodyPr>
          <a:lstStyle/>
          <a:p>
            <a:pPr marL="0" indent="0">
              <a:buNone/>
            </a:pPr>
            <a:r>
              <a:rPr lang="en-US" altLang="en-US"/>
              <a:t>The Industrial Revolution brought rapid technological advancements, increasing the need for stronger intellectual property protection.</a:t>
            </a:r>
          </a:p>
          <a:p>
            <a:pPr marL="0" indent="0">
              <a:buNone/>
            </a:pPr>
            <a:r>
              <a:rPr lang="en-US" altLang="en-US"/>
              <a:t>Developments</a:t>
            </a:r>
          </a:p>
          <a:p>
            <a:r>
              <a:rPr lang="en-US" altLang="en-US"/>
              <a:t>Growth of inventions and machinery.</a:t>
            </a:r>
          </a:p>
          <a:p>
            <a:r>
              <a:rPr lang="en-US" altLang="en-US"/>
              <a:t>Increased patent filings.</a:t>
            </a:r>
          </a:p>
          <a:p>
            <a:r>
              <a:rPr lang="en-US" altLang="en-US"/>
              <a:t>Expansion of international trade.</a:t>
            </a:r>
          </a:p>
          <a:p>
            <a:r>
              <a:rPr lang="en-US" altLang="en-US"/>
              <a:t>Recognition of trademarks for product identification.</a:t>
            </a:r>
          </a:p>
          <a:p>
            <a:pPr marL="0" indent="0">
              <a:buNone/>
            </a:pPr>
            <a:r>
              <a:rPr lang="en-US" altLang="en-US"/>
              <a:t>Importance</a:t>
            </a:r>
          </a:p>
          <a:p>
            <a:r>
              <a:rPr lang="en-US" altLang="en-US"/>
              <a:t>Governments strengthened patent and trademark systems.</a:t>
            </a:r>
          </a:p>
          <a:p>
            <a:r>
              <a:rPr lang="en-US" altLang="en-US"/>
              <a:t>Encouraged industrial innovation.</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4. Paris Convention (1883)</a:t>
            </a:r>
          </a:p>
        </p:txBody>
      </p:sp>
      <p:sp>
        <p:nvSpPr>
          <p:cNvPr id="3" name="Content Placeholder 2"/>
          <p:cNvSpPr>
            <a:spLocks noGrp="1"/>
          </p:cNvSpPr>
          <p:nvPr>
            <p:ph idx="1"/>
            <p:custDataLst>
              <p:tags r:id="rId3"/>
            </p:custDataLst>
          </p:nvPr>
        </p:nvSpPr>
        <p:spPr/>
        <p:txBody>
          <a:bodyPr>
            <a:normAutofit fontScale="90000" lnSpcReduction="20000"/>
          </a:bodyPr>
          <a:lstStyle/>
          <a:p>
            <a:pPr marL="0" indent="0">
              <a:buNone/>
            </a:pPr>
            <a:r>
              <a:rPr lang="en-US" altLang="en-US"/>
              <a:t>The Paris Convention for the Protection of Industrial Property was signed in 1883.</a:t>
            </a:r>
          </a:p>
          <a:p>
            <a:pPr marL="0" indent="0">
              <a:buNone/>
            </a:pPr>
            <a:r>
              <a:rPr lang="en-US" altLang="en-US"/>
              <a:t>Purpose: To protect industrial property internationally.</a:t>
            </a:r>
          </a:p>
          <a:p>
            <a:pPr marL="0" indent="0">
              <a:buNone/>
            </a:pPr>
            <a:r>
              <a:rPr lang="en-US" altLang="en-US"/>
              <a:t>Covers: Patents, Trademarks, Industrial Designs, Utility Models, Trade Names</a:t>
            </a:r>
          </a:p>
          <a:p>
            <a:pPr marL="0" indent="0">
              <a:buNone/>
            </a:pPr>
            <a:r>
              <a:rPr lang="en-US" altLang="en-US"/>
              <a:t>Key Principles</a:t>
            </a:r>
          </a:p>
          <a:p>
            <a:r>
              <a:rPr lang="en-US" altLang="en-US"/>
              <a:t>National Treatment: Foreign applicants receive the same protection as citizens.</a:t>
            </a:r>
          </a:p>
          <a:p>
            <a:r>
              <a:rPr lang="en-US" altLang="en-US"/>
              <a:t>Right of Priority: An applicant filing in one member country can claim the same filing date in other member countries within a specified time.</a:t>
            </a:r>
          </a:p>
          <a:p>
            <a:pPr marL="0" indent="0">
              <a:buNone/>
            </a:pPr>
            <a:r>
              <a:rPr lang="en-US" altLang="en-US"/>
              <a:t>Importance</a:t>
            </a:r>
          </a:p>
          <a:p>
            <a:r>
              <a:rPr lang="en-US" altLang="en-US"/>
              <a:t>First international agreement on industrial property.</a:t>
            </a:r>
          </a:p>
          <a:p>
            <a:r>
              <a:rPr lang="en-US" altLang="en-US"/>
              <a:t>Facilitated international patent and trademark protection.</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5. Berne Convention (1886)</a:t>
            </a:r>
          </a:p>
        </p:txBody>
      </p:sp>
      <p:sp>
        <p:nvSpPr>
          <p:cNvPr id="3" name="Content Placeholder 2"/>
          <p:cNvSpPr>
            <a:spLocks noGrp="1"/>
          </p:cNvSpPr>
          <p:nvPr>
            <p:ph idx="1"/>
            <p:custDataLst>
              <p:tags r:id="rId3"/>
            </p:custDataLst>
          </p:nvPr>
        </p:nvSpPr>
        <p:spPr/>
        <p:txBody>
          <a:bodyPr>
            <a:normAutofit fontScale="87500"/>
          </a:bodyPr>
          <a:lstStyle/>
          <a:p>
            <a:pPr marL="0" indent="0">
              <a:buNone/>
            </a:pPr>
            <a:r>
              <a:rPr lang="en-US" altLang="en-US"/>
              <a:t>The Berne Convention for the Protection of Literary and Artistic Works was adopted in 1886.</a:t>
            </a:r>
          </a:p>
          <a:p>
            <a:pPr marL="0" indent="0">
              <a:buNone/>
            </a:pPr>
            <a:r>
              <a:rPr lang="en-US" altLang="en-US"/>
              <a:t>Protects: Books, Music, Films, Paintings, Photographs, Computer Software, Artistic Works</a:t>
            </a:r>
          </a:p>
          <a:p>
            <a:pPr marL="0" indent="0">
              <a:buNone/>
            </a:pPr>
            <a:r>
              <a:rPr lang="en-US" altLang="en-US"/>
              <a:t>Key Features</a:t>
            </a:r>
          </a:p>
          <a:p>
            <a:r>
              <a:rPr lang="en-US" altLang="en-US"/>
              <a:t>Automatic copyright protection.</a:t>
            </a:r>
          </a:p>
          <a:p>
            <a:r>
              <a:rPr lang="en-US" altLang="en-US"/>
              <a:t>No registration required.</a:t>
            </a:r>
          </a:p>
          <a:p>
            <a:r>
              <a:rPr lang="en-US" altLang="en-US"/>
              <a:t>Equal protection in all member countries.</a:t>
            </a:r>
          </a:p>
          <a:p>
            <a:pPr marL="0" indent="0">
              <a:buNone/>
            </a:pPr>
            <a:r>
              <a:rPr lang="en-US" altLang="en-US"/>
              <a:t>Importance</a:t>
            </a:r>
          </a:p>
          <a:p>
            <a:r>
              <a:rPr lang="en-US" altLang="en-US"/>
              <a:t>Established global standards for copyright protection.</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6. Establishment of WIPO (1967)</a:t>
            </a:r>
          </a:p>
        </p:txBody>
      </p:sp>
      <p:sp>
        <p:nvSpPr>
          <p:cNvPr id="3" name="Content Placeholder 2"/>
          <p:cNvSpPr>
            <a:spLocks noGrp="1"/>
          </p:cNvSpPr>
          <p:nvPr>
            <p:ph idx="1"/>
            <p:custDataLst>
              <p:tags r:id="rId3"/>
            </p:custDataLst>
          </p:nvPr>
        </p:nvSpPr>
        <p:spPr/>
        <p:txBody>
          <a:bodyPr>
            <a:normAutofit fontScale="95000" lnSpcReduction="10000"/>
          </a:bodyPr>
          <a:lstStyle/>
          <a:p>
            <a:pPr marL="0" indent="0">
              <a:buNone/>
            </a:pPr>
            <a:r>
              <a:rPr lang="en-US" altLang="en-US"/>
              <a:t>The World Intellectual Property Organization (WIPO) was established in 1967.</a:t>
            </a:r>
          </a:p>
          <a:p>
            <a:pPr marL="0" indent="0">
              <a:buNone/>
            </a:pPr>
            <a:r>
              <a:rPr lang="en-US" altLang="en-US"/>
              <a:t>Headquarters: Geneva, Switzerland</a:t>
            </a:r>
          </a:p>
          <a:p>
            <a:pPr marL="0" indent="0">
              <a:buNone/>
            </a:pPr>
            <a:r>
              <a:rPr lang="en-US" altLang="en-US"/>
              <a:t>Objectives</a:t>
            </a:r>
          </a:p>
          <a:p>
            <a:r>
              <a:rPr lang="en-US" altLang="en-US"/>
              <a:t>Promote protection of intellectual property worldwide.</a:t>
            </a:r>
          </a:p>
          <a:p>
            <a:r>
              <a:rPr lang="en-US" altLang="en-US"/>
              <a:t>Encourage international cooperation.</a:t>
            </a:r>
          </a:p>
          <a:p>
            <a:r>
              <a:rPr lang="en-US" altLang="en-US"/>
              <a:t>Administer international IP treaties.</a:t>
            </a:r>
          </a:p>
          <a:p>
            <a:r>
              <a:rPr lang="en-US" altLang="en-US"/>
              <a:t>Assist developing countries in strengthening IP systems.</a:t>
            </a:r>
          </a:p>
          <a:p>
            <a:pPr marL="0" indent="0">
              <a:buNone/>
            </a:pPr>
            <a:r>
              <a:rPr lang="en-US" altLang="en-US"/>
              <a:t>Importance</a:t>
            </a:r>
          </a:p>
          <a:p>
            <a:r>
              <a:rPr lang="en-US" altLang="en-US"/>
              <a:t>Became the leading international organization for IPR administration.</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7. WIPO Becomes a UN Specialized Agency (1974)</a:t>
            </a:r>
          </a:p>
        </p:txBody>
      </p:sp>
      <p:sp>
        <p:nvSpPr>
          <p:cNvPr id="3" name="Content Placeholder 2"/>
          <p:cNvSpPr>
            <a:spLocks noGrp="1"/>
          </p:cNvSpPr>
          <p:nvPr>
            <p:ph idx="1"/>
            <p:custDataLst>
              <p:tags r:id="rId3"/>
            </p:custDataLst>
          </p:nvPr>
        </p:nvSpPr>
        <p:spPr/>
        <p:txBody>
          <a:bodyPr/>
          <a:lstStyle/>
          <a:p>
            <a:pPr marL="0" indent="0">
              <a:buNone/>
            </a:pPr>
            <a:r>
              <a:rPr lang="en-US" altLang="en-US"/>
              <a:t>In 1974, WIPO became a specialized agency of the United Nations (UN).</a:t>
            </a:r>
          </a:p>
          <a:p>
            <a:pPr marL="0" indent="0">
              <a:buNone/>
            </a:pPr>
            <a:r>
              <a:rPr lang="en-US" altLang="en-US"/>
              <a:t>Functions</a:t>
            </a:r>
          </a:p>
          <a:p>
            <a:r>
              <a:rPr lang="en-US" altLang="en-US"/>
              <a:t>Promotes innovation worldwide.</a:t>
            </a:r>
          </a:p>
          <a:p>
            <a:r>
              <a:rPr lang="en-US" altLang="en-US"/>
              <a:t>Provides training on intellectual property.</a:t>
            </a:r>
          </a:p>
          <a:p>
            <a:r>
              <a:rPr lang="en-US" altLang="en-US"/>
              <a:t>Supports technology transfer.</a:t>
            </a:r>
          </a:p>
          <a:p>
            <a:r>
              <a:rPr lang="en-US" altLang="en-US"/>
              <a:t>Helps resolve international IP disputes.</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t>8. </a:t>
            </a:r>
            <a:r>
              <a:rPr lang="en-US" altLang="en-US"/>
              <a:t>TRIPS Agreement (1995)</a:t>
            </a:r>
          </a:p>
        </p:txBody>
      </p:sp>
      <p:sp>
        <p:nvSpPr>
          <p:cNvPr id="3" name="Content Placeholder 2"/>
          <p:cNvSpPr>
            <a:spLocks noGrp="1"/>
          </p:cNvSpPr>
          <p:nvPr>
            <p:ph idx="1"/>
            <p:custDataLst>
              <p:tags r:id="rId3"/>
            </p:custDataLst>
          </p:nvPr>
        </p:nvSpPr>
        <p:spPr/>
        <p:txBody>
          <a:bodyPr>
            <a:noAutofit/>
          </a:bodyPr>
          <a:lstStyle/>
          <a:p>
            <a:pPr marL="0" indent="0">
              <a:buNone/>
            </a:pPr>
            <a:r>
              <a:rPr lang="en-US" altLang="en-US" sz="1600"/>
              <a:t>The Agreement on Trade-Related Aspects of Intellectual Property Rights (TRIPS) came into force in 1995 under the World Trade Organization (WTO).</a:t>
            </a:r>
          </a:p>
          <a:p>
            <a:pPr marL="0" indent="0">
              <a:buNone/>
            </a:pPr>
            <a:r>
              <a:rPr lang="en-US" altLang="en-US" sz="1600"/>
              <a:t>Objectives</a:t>
            </a:r>
          </a:p>
          <a:p>
            <a:r>
              <a:rPr lang="en-US" altLang="en-US" sz="1600"/>
              <a:t>Standardize minimum IPR protection across member countries.</a:t>
            </a:r>
          </a:p>
          <a:p>
            <a:r>
              <a:rPr lang="en-US" altLang="en-US" sz="1600"/>
              <a:t>Prevent unfair trade practices.</a:t>
            </a:r>
          </a:p>
          <a:p>
            <a:r>
              <a:rPr lang="en-US" altLang="en-US" sz="1600"/>
              <a:t>Encourage technology transfer.</a:t>
            </a:r>
          </a:p>
          <a:p>
            <a:r>
              <a:rPr lang="en-US" altLang="en-US" sz="1600"/>
              <a:t>Strengthen enforcement of intellectual property laws.</a:t>
            </a:r>
          </a:p>
          <a:p>
            <a:pPr marL="0" indent="0">
              <a:buNone/>
            </a:pPr>
            <a:r>
              <a:rPr lang="en-US" altLang="en-US" sz="1600"/>
              <a:t>Covers: Patents, Copyright, Trademarks, Geographical Indications, Industrial Designs, Trade Secrets, Integrated Circuit Layout Designs</a:t>
            </a:r>
          </a:p>
          <a:p>
            <a:pPr marL="0" indent="0">
              <a:buNone/>
            </a:pPr>
            <a:r>
              <a:rPr lang="en-US" altLang="en-US" sz="1600"/>
              <a:t>Importance</a:t>
            </a:r>
          </a:p>
          <a:p>
            <a:r>
              <a:rPr lang="en-US" altLang="en-US" sz="1600"/>
              <a:t>Established global minimum standards for IPR.</a:t>
            </a:r>
          </a:p>
          <a:p>
            <a:r>
              <a:rPr lang="en-US" altLang="en-US" sz="1600"/>
              <a:t>Required member countries, including India, to amend their intellectual property laws.</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Evolution of IPR in India</a:t>
            </a:r>
          </a:p>
        </p:txBody>
      </p:sp>
      <p:sp>
        <p:nvSpPr>
          <p:cNvPr id="3" name="Content Placeholder 2"/>
          <p:cNvSpPr>
            <a:spLocks noGrp="1"/>
          </p:cNvSpPr>
          <p:nvPr>
            <p:ph idx="1"/>
            <p:custDataLst>
              <p:tags r:id="rId3"/>
            </p:custDataLst>
          </p:nvPr>
        </p:nvSpPr>
        <p:spPr/>
        <p:txBody>
          <a:bodyPr/>
          <a:lstStyle/>
          <a:p>
            <a:pPr marL="0" indent="0">
              <a:lnSpc>
                <a:spcPct val="120000"/>
              </a:lnSpc>
              <a:buNone/>
            </a:pPr>
            <a:r>
              <a:rPr lang="en-US" altLang="en-US" sz="2000"/>
              <a:t>1856 – First Patent Law</a:t>
            </a:r>
          </a:p>
          <a:p>
            <a:pPr>
              <a:lnSpc>
                <a:spcPct val="120000"/>
              </a:lnSpc>
            </a:pPr>
            <a:r>
              <a:rPr lang="en-US" altLang="en-US" sz="2000"/>
              <a:t>India enacted its first patent legislation based on British patent law.</a:t>
            </a:r>
          </a:p>
          <a:p>
            <a:pPr>
              <a:lnSpc>
                <a:spcPct val="120000"/>
              </a:lnSpc>
            </a:pPr>
            <a:r>
              <a:rPr lang="en-US" altLang="en-US" sz="2000"/>
              <a:t>Provided limited protection for inventions.</a:t>
            </a:r>
          </a:p>
          <a:p>
            <a:pPr marL="0" indent="0">
              <a:lnSpc>
                <a:spcPct val="120000"/>
              </a:lnSpc>
              <a:buNone/>
            </a:pPr>
            <a:r>
              <a:rPr lang="en-US" altLang="en-US" sz="2000"/>
              <a:t>1911 – Indian Patents and Designs Act</a:t>
            </a:r>
          </a:p>
          <a:p>
            <a:pPr>
              <a:lnSpc>
                <a:spcPct val="120000"/>
              </a:lnSpc>
            </a:pPr>
            <a:r>
              <a:rPr lang="en-US" altLang="en-US" sz="2000"/>
              <a:t>Consolidated patent and industrial design laws.</a:t>
            </a:r>
          </a:p>
          <a:p>
            <a:pPr>
              <a:lnSpc>
                <a:spcPct val="120000"/>
              </a:lnSpc>
            </a:pPr>
            <a:r>
              <a:rPr lang="en-US" altLang="en-US" sz="2000"/>
              <a:t>Introduced a formal patent administration system.</a:t>
            </a:r>
          </a:p>
          <a:p>
            <a:pPr marL="0" indent="0">
              <a:lnSpc>
                <a:spcPct val="120000"/>
              </a:lnSpc>
              <a:buNone/>
            </a:pPr>
            <a:r>
              <a:rPr lang="en-US" altLang="en-US" sz="2000"/>
              <a:t>1970 – Indian Patent Act</a:t>
            </a:r>
          </a:p>
          <a:p>
            <a:pPr>
              <a:lnSpc>
                <a:spcPct val="120000"/>
              </a:lnSpc>
            </a:pPr>
            <a:r>
              <a:rPr lang="en-US" altLang="en-US" sz="2000"/>
              <a:t>Replaced the 1911 Act.</a:t>
            </a:r>
          </a:p>
          <a:p>
            <a:pPr>
              <a:lnSpc>
                <a:spcPct val="120000"/>
              </a:lnSpc>
            </a:pPr>
            <a:r>
              <a:rPr lang="en-US" altLang="en-US" sz="2000"/>
              <a:t>Focused on promoting domestic industries.</a:t>
            </a:r>
          </a:p>
          <a:p>
            <a:pPr>
              <a:lnSpc>
                <a:spcPct val="120000"/>
              </a:lnSpc>
            </a:pPr>
            <a:r>
              <a:rPr lang="en-US" altLang="en-US" sz="2000"/>
              <a:t>Allowed process patents for pharmaceuticals and food products instead of product patents.</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Evolution of IPR in India</a:t>
            </a:r>
          </a:p>
        </p:txBody>
      </p:sp>
      <p:sp>
        <p:nvSpPr>
          <p:cNvPr id="3" name="Content Placeholder 2"/>
          <p:cNvSpPr>
            <a:spLocks noGrp="1"/>
          </p:cNvSpPr>
          <p:nvPr>
            <p:ph idx="1"/>
            <p:custDataLst>
              <p:tags r:id="rId3"/>
            </p:custDataLst>
          </p:nvPr>
        </p:nvSpPr>
        <p:spPr/>
        <p:txBody>
          <a:bodyPr>
            <a:normAutofit/>
          </a:bodyPr>
          <a:lstStyle/>
          <a:p>
            <a:pPr marL="0" indent="0">
              <a:lnSpc>
                <a:spcPct val="120000"/>
              </a:lnSpc>
              <a:buNone/>
            </a:pPr>
            <a:r>
              <a:rPr lang="en-US" altLang="en-US" sz="2000"/>
              <a:t>1999 – Trade Marks Act</a:t>
            </a:r>
          </a:p>
          <a:p>
            <a:pPr>
              <a:lnSpc>
                <a:spcPct val="120000"/>
              </a:lnSpc>
            </a:pPr>
            <a:r>
              <a:rPr lang="en-US" altLang="en-US" sz="2000"/>
              <a:t>Modernized India's trademark system.</a:t>
            </a:r>
          </a:p>
          <a:p>
            <a:pPr>
              <a:lnSpc>
                <a:spcPct val="120000"/>
              </a:lnSpc>
            </a:pPr>
            <a:r>
              <a:rPr lang="en-US" altLang="en-US" sz="2000"/>
              <a:t>Recognized service marks.</a:t>
            </a:r>
          </a:p>
          <a:p>
            <a:pPr>
              <a:lnSpc>
                <a:spcPct val="120000"/>
              </a:lnSpc>
            </a:pPr>
            <a:r>
              <a:rPr lang="en-US" altLang="en-US" sz="2000"/>
              <a:t>Improved trademark registration procedures.</a:t>
            </a:r>
          </a:p>
          <a:p>
            <a:pPr marL="0" indent="0">
              <a:lnSpc>
                <a:spcPct val="120000"/>
              </a:lnSpc>
              <a:buNone/>
            </a:pPr>
            <a:r>
              <a:rPr lang="en-US" altLang="en-US" sz="2000"/>
              <a:t>2000 – Geographical Indications of Goods Act</a:t>
            </a:r>
          </a:p>
          <a:p>
            <a:pPr>
              <a:lnSpc>
                <a:spcPct val="120000"/>
              </a:lnSpc>
            </a:pPr>
            <a:r>
              <a:rPr lang="en-US" altLang="en-US" sz="2000"/>
              <a:t>Protected products linked to a specific geographical region.</a:t>
            </a:r>
          </a:p>
          <a:p>
            <a:pPr>
              <a:lnSpc>
                <a:spcPct val="120000"/>
              </a:lnSpc>
            </a:pPr>
            <a:r>
              <a:rPr lang="en-US" altLang="en-US" sz="2000"/>
              <a:t>Examples: Darjeeling Tea, Banarasi Saree, Mysore Silk, Kanchipuram Silk</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Evolution of IPR in India</a:t>
            </a:r>
          </a:p>
        </p:txBody>
      </p:sp>
      <p:sp>
        <p:nvSpPr>
          <p:cNvPr id="3" name="Content Placeholder 2"/>
          <p:cNvSpPr>
            <a:spLocks noGrp="1"/>
          </p:cNvSpPr>
          <p:nvPr>
            <p:ph idx="1"/>
            <p:custDataLst>
              <p:tags r:id="rId3"/>
            </p:custDataLst>
          </p:nvPr>
        </p:nvSpPr>
        <p:spPr/>
        <p:txBody>
          <a:bodyPr>
            <a:normAutofit/>
          </a:bodyPr>
          <a:lstStyle/>
          <a:p>
            <a:pPr marL="0" indent="0">
              <a:lnSpc>
                <a:spcPct val="110000"/>
              </a:lnSpc>
              <a:buNone/>
            </a:pPr>
            <a:r>
              <a:rPr lang="en-US" altLang="en-US" sz="2000"/>
              <a:t>2001 – Semiconductor Integrated Circuits Layout-Design Act</a:t>
            </a:r>
          </a:p>
          <a:p>
            <a:pPr marL="0" indent="0">
              <a:lnSpc>
                <a:spcPct val="110000"/>
              </a:lnSpc>
              <a:buNone/>
            </a:pPr>
            <a:r>
              <a:rPr lang="en-US" altLang="en-US" sz="2000"/>
              <a:t>Provided protection for:</a:t>
            </a:r>
          </a:p>
          <a:p>
            <a:pPr>
              <a:lnSpc>
                <a:spcPct val="110000"/>
              </a:lnSpc>
            </a:pPr>
            <a:r>
              <a:rPr lang="en-US" altLang="en-US" sz="2000"/>
              <a:t>Semiconductor chip layouts</a:t>
            </a:r>
          </a:p>
          <a:p>
            <a:pPr>
              <a:lnSpc>
                <a:spcPct val="110000"/>
              </a:lnSpc>
            </a:pPr>
            <a:r>
              <a:rPr lang="en-US" altLang="en-US" sz="2000"/>
              <a:t>Integrated circuit designs</a:t>
            </a:r>
          </a:p>
          <a:p>
            <a:pPr marL="0" indent="0">
              <a:lnSpc>
                <a:spcPct val="110000"/>
              </a:lnSpc>
              <a:buNone/>
            </a:pPr>
            <a:r>
              <a:rPr lang="en-US" altLang="en-US" sz="2000"/>
              <a:t>2005 – Patent (Amendment) Act</a:t>
            </a:r>
          </a:p>
          <a:p>
            <a:pPr marL="0" indent="0">
              <a:lnSpc>
                <a:spcPct val="110000"/>
              </a:lnSpc>
              <a:buNone/>
            </a:pPr>
            <a:r>
              <a:rPr lang="en-US" altLang="en-US" sz="2000"/>
              <a:t>A major amendment to comply with the TRIPS Agreement.</a:t>
            </a:r>
          </a:p>
          <a:p>
            <a:pPr marL="0" indent="0">
              <a:lnSpc>
                <a:spcPct val="110000"/>
              </a:lnSpc>
              <a:buNone/>
            </a:pPr>
            <a:r>
              <a:rPr lang="en-US" altLang="en-US" sz="2000"/>
              <a:t>Key Changes</a:t>
            </a:r>
          </a:p>
          <a:p>
            <a:pPr>
              <a:lnSpc>
                <a:spcPct val="110000"/>
              </a:lnSpc>
            </a:pPr>
            <a:r>
              <a:rPr lang="en-US" altLang="en-US" sz="2000"/>
              <a:t>Introduced product patents in pharmaceuticals, chemicals, and biotechnology.</a:t>
            </a:r>
          </a:p>
          <a:p>
            <a:pPr>
              <a:lnSpc>
                <a:spcPct val="110000"/>
              </a:lnSpc>
            </a:pPr>
            <a:r>
              <a:rPr lang="en-US" altLang="en-US" sz="2000"/>
              <a:t>Strengthened patent examination procedures.</a:t>
            </a:r>
          </a:p>
          <a:p>
            <a:pPr>
              <a:lnSpc>
                <a:spcPct val="110000"/>
              </a:lnSpc>
            </a:pPr>
            <a:r>
              <a:rPr lang="en-US" altLang="en-US" sz="2000"/>
              <a:t>Enhanced protection for inventors.</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Timeline Summary</a:t>
            </a:r>
          </a:p>
        </p:txBody>
      </p:sp>
      <p:graphicFrame>
        <p:nvGraphicFramePr>
          <p:cNvPr id="4" name="Table 3"/>
          <p:cNvGraphicFramePr/>
          <p:nvPr/>
        </p:nvGraphicFramePr>
        <p:xfrm>
          <a:off x="786765" y="1319530"/>
          <a:ext cx="10462260" cy="4297680"/>
        </p:xfrm>
        <a:graphic>
          <a:graphicData uri="http://schemas.openxmlformats.org/drawingml/2006/table">
            <a:tbl>
              <a:tblPr>
                <a:tableStyleId>{8A107856-5554-42FB-B03E-39F5DBC370BA}</a:tableStyleId>
              </a:tblPr>
              <a:tblGrid>
                <a:gridCol w="3487420">
                  <a:extLst>
                    <a:ext uri="{9D8B030D-6E8A-4147-A177-3AD203B41FA5}">
                      <a16:colId xmlns:a16="http://schemas.microsoft.com/office/drawing/2014/main" val="20000"/>
                    </a:ext>
                  </a:extLst>
                </a:gridCol>
                <a:gridCol w="3487420">
                  <a:extLst>
                    <a:ext uri="{9D8B030D-6E8A-4147-A177-3AD203B41FA5}">
                      <a16:colId xmlns:a16="http://schemas.microsoft.com/office/drawing/2014/main" val="20001"/>
                    </a:ext>
                  </a:extLst>
                </a:gridCol>
                <a:gridCol w="3487420">
                  <a:extLst>
                    <a:ext uri="{9D8B030D-6E8A-4147-A177-3AD203B41FA5}">
                      <a16:colId xmlns:a16="http://schemas.microsoft.com/office/drawing/2014/main" val="20002"/>
                    </a:ext>
                  </a:extLst>
                </a:gridCol>
              </a:tblGrid>
              <a:tr h="477520">
                <a:tc>
                  <a:txBody>
                    <a:bodyPr/>
                    <a:lstStyle/>
                    <a:p>
                      <a:pPr algn="ctr"/>
                      <a:r>
                        <a:rPr sz="1400" dirty="0"/>
                        <a:t>Year</a:t>
                      </a:r>
                    </a:p>
                  </a:txBody>
                  <a:tcPr marL="0" marR="0" marT="0" marB="0" anchor="ctr"/>
                </a:tc>
                <a:tc>
                  <a:txBody>
                    <a:bodyPr/>
                    <a:lstStyle/>
                    <a:p>
                      <a:pPr algn="ctr"/>
                      <a:r>
                        <a:rPr sz="1400"/>
                        <a:t>Event</a:t>
                      </a:r>
                    </a:p>
                  </a:txBody>
                  <a:tcPr marL="0" marR="0" marT="0" marB="0" anchor="ctr"/>
                </a:tc>
                <a:tc>
                  <a:txBody>
                    <a:bodyPr/>
                    <a:lstStyle/>
                    <a:p>
                      <a:pPr algn="ctr"/>
                      <a:r>
                        <a:rPr sz="1400"/>
                        <a:t>Significance</a:t>
                      </a:r>
                    </a:p>
                  </a:txBody>
                  <a:tcPr marL="0" marR="0" marT="0" marB="0" anchor="ctr"/>
                </a:tc>
                <a:extLst>
                  <a:ext uri="{0D108BD9-81ED-4DB2-BD59-A6C34878D82A}">
                    <a16:rowId xmlns:a16="http://schemas.microsoft.com/office/drawing/2014/main" val="10000"/>
                  </a:ext>
                </a:extLst>
              </a:tr>
              <a:tr h="477520">
                <a:tc>
                  <a:txBody>
                    <a:bodyPr/>
                    <a:lstStyle/>
                    <a:p>
                      <a:r>
                        <a:rPr sz="1400"/>
                        <a:t>1624</a:t>
                      </a:r>
                    </a:p>
                  </a:txBody>
                  <a:tcPr marL="0" marR="0" marT="0" marB="0" anchor="ctr"/>
                </a:tc>
                <a:tc>
                  <a:txBody>
                    <a:bodyPr/>
                    <a:lstStyle/>
                    <a:p>
                      <a:r>
                        <a:rPr sz="1400" dirty="0"/>
                        <a:t>Statute of Monopolies</a:t>
                      </a:r>
                    </a:p>
                  </a:txBody>
                  <a:tcPr marL="0" marR="0" marT="0" marB="0" anchor="ctr"/>
                </a:tc>
                <a:tc>
                  <a:txBody>
                    <a:bodyPr/>
                    <a:lstStyle/>
                    <a:p>
                      <a:r>
                        <a:rPr sz="1400"/>
                        <a:t>Foundation of modern patent law</a:t>
                      </a:r>
                    </a:p>
                  </a:txBody>
                  <a:tcPr marL="0" marR="0" marT="0" marB="0" anchor="ctr"/>
                </a:tc>
                <a:extLst>
                  <a:ext uri="{0D108BD9-81ED-4DB2-BD59-A6C34878D82A}">
                    <a16:rowId xmlns:a16="http://schemas.microsoft.com/office/drawing/2014/main" val="10001"/>
                  </a:ext>
                </a:extLst>
              </a:tr>
              <a:tr h="477520">
                <a:tc>
                  <a:txBody>
                    <a:bodyPr/>
                    <a:lstStyle/>
                    <a:p>
                      <a:r>
                        <a:rPr sz="1400"/>
                        <a:t>1710</a:t>
                      </a:r>
                    </a:p>
                  </a:txBody>
                  <a:tcPr marL="0" marR="0" marT="0" marB="0" anchor="ctr"/>
                </a:tc>
                <a:tc>
                  <a:txBody>
                    <a:bodyPr/>
                    <a:lstStyle/>
                    <a:p>
                      <a:r>
                        <a:rPr sz="1400" dirty="0"/>
                        <a:t>Statute of Anne</a:t>
                      </a:r>
                    </a:p>
                  </a:txBody>
                  <a:tcPr marL="0" marR="0" marT="0" marB="0" anchor="ctr"/>
                </a:tc>
                <a:tc>
                  <a:txBody>
                    <a:bodyPr/>
                    <a:lstStyle/>
                    <a:p>
                      <a:r>
                        <a:rPr sz="1400"/>
                        <a:t>First modern copyright law</a:t>
                      </a:r>
                    </a:p>
                  </a:txBody>
                  <a:tcPr marL="0" marR="0" marT="0" marB="0" anchor="ctr"/>
                </a:tc>
                <a:extLst>
                  <a:ext uri="{0D108BD9-81ED-4DB2-BD59-A6C34878D82A}">
                    <a16:rowId xmlns:a16="http://schemas.microsoft.com/office/drawing/2014/main" val="10002"/>
                  </a:ext>
                </a:extLst>
              </a:tr>
              <a:tr h="477520">
                <a:tc>
                  <a:txBody>
                    <a:bodyPr/>
                    <a:lstStyle/>
                    <a:p>
                      <a:r>
                        <a:rPr sz="1400"/>
                        <a:t>1883</a:t>
                      </a:r>
                    </a:p>
                  </a:txBody>
                  <a:tcPr marL="0" marR="0" marT="0" marB="0" anchor="ctr"/>
                </a:tc>
                <a:tc>
                  <a:txBody>
                    <a:bodyPr/>
                    <a:lstStyle/>
                    <a:p>
                      <a:r>
                        <a:rPr sz="1400" dirty="0"/>
                        <a:t>Paris Convention</a:t>
                      </a:r>
                    </a:p>
                  </a:txBody>
                  <a:tcPr marL="0" marR="0" marT="0" marB="0" anchor="ctr"/>
                </a:tc>
                <a:tc>
                  <a:txBody>
                    <a:bodyPr/>
                    <a:lstStyle/>
                    <a:p>
                      <a:r>
                        <a:rPr sz="1400"/>
                        <a:t>International protection of industrial property</a:t>
                      </a:r>
                    </a:p>
                  </a:txBody>
                  <a:tcPr marL="0" marR="0" marT="0" marB="0" anchor="ctr"/>
                </a:tc>
                <a:extLst>
                  <a:ext uri="{0D108BD9-81ED-4DB2-BD59-A6C34878D82A}">
                    <a16:rowId xmlns:a16="http://schemas.microsoft.com/office/drawing/2014/main" val="10003"/>
                  </a:ext>
                </a:extLst>
              </a:tr>
              <a:tr h="477520">
                <a:tc>
                  <a:txBody>
                    <a:bodyPr/>
                    <a:lstStyle/>
                    <a:p>
                      <a:r>
                        <a:rPr sz="1400"/>
                        <a:t>1886</a:t>
                      </a:r>
                    </a:p>
                  </a:txBody>
                  <a:tcPr marL="0" marR="0" marT="0" marB="0" anchor="ctr"/>
                </a:tc>
                <a:tc>
                  <a:txBody>
                    <a:bodyPr/>
                    <a:lstStyle/>
                    <a:p>
                      <a:r>
                        <a:rPr sz="1400"/>
                        <a:t>Berne Convention</a:t>
                      </a:r>
                    </a:p>
                  </a:txBody>
                  <a:tcPr marL="0" marR="0" marT="0" marB="0" anchor="ctr"/>
                </a:tc>
                <a:tc>
                  <a:txBody>
                    <a:bodyPr/>
                    <a:lstStyle/>
                    <a:p>
                      <a:r>
                        <a:rPr sz="1400"/>
                        <a:t>International copyright protection</a:t>
                      </a:r>
                    </a:p>
                  </a:txBody>
                  <a:tcPr marL="0" marR="0" marT="0" marB="0" anchor="ctr"/>
                </a:tc>
                <a:extLst>
                  <a:ext uri="{0D108BD9-81ED-4DB2-BD59-A6C34878D82A}">
                    <a16:rowId xmlns:a16="http://schemas.microsoft.com/office/drawing/2014/main" val="10004"/>
                  </a:ext>
                </a:extLst>
              </a:tr>
              <a:tr h="477520">
                <a:tc>
                  <a:txBody>
                    <a:bodyPr/>
                    <a:lstStyle/>
                    <a:p>
                      <a:r>
                        <a:rPr sz="1400"/>
                        <a:t>1967</a:t>
                      </a:r>
                    </a:p>
                  </a:txBody>
                  <a:tcPr marL="0" marR="0" marT="0" marB="0" anchor="ctr"/>
                </a:tc>
                <a:tc>
                  <a:txBody>
                    <a:bodyPr/>
                    <a:lstStyle/>
                    <a:p>
                      <a:r>
                        <a:rPr sz="1400"/>
                        <a:t>WIPO Established</a:t>
                      </a:r>
                    </a:p>
                  </a:txBody>
                  <a:tcPr marL="0" marR="0" marT="0" marB="0" anchor="ctr"/>
                </a:tc>
                <a:tc>
                  <a:txBody>
                    <a:bodyPr/>
                    <a:lstStyle/>
                    <a:p>
                      <a:r>
                        <a:rPr sz="1400"/>
                        <a:t>Global IP administration</a:t>
                      </a:r>
                    </a:p>
                  </a:txBody>
                  <a:tcPr marL="0" marR="0" marT="0" marB="0" anchor="ctr"/>
                </a:tc>
                <a:extLst>
                  <a:ext uri="{0D108BD9-81ED-4DB2-BD59-A6C34878D82A}">
                    <a16:rowId xmlns:a16="http://schemas.microsoft.com/office/drawing/2014/main" val="10005"/>
                  </a:ext>
                </a:extLst>
              </a:tr>
              <a:tr h="477520">
                <a:tc>
                  <a:txBody>
                    <a:bodyPr/>
                    <a:lstStyle/>
                    <a:p>
                      <a:r>
                        <a:rPr sz="1400"/>
                        <a:t>1974</a:t>
                      </a:r>
                    </a:p>
                  </a:txBody>
                  <a:tcPr marL="0" marR="0" marT="0" marB="0" anchor="ctr"/>
                </a:tc>
                <a:tc>
                  <a:txBody>
                    <a:bodyPr/>
                    <a:lstStyle/>
                    <a:p>
                      <a:r>
                        <a:rPr sz="1400"/>
                        <a:t>WIPO joins UN</a:t>
                      </a:r>
                    </a:p>
                  </a:txBody>
                  <a:tcPr marL="0" marR="0" marT="0" marB="0" anchor="ctr"/>
                </a:tc>
                <a:tc>
                  <a:txBody>
                    <a:bodyPr/>
                    <a:lstStyle/>
                    <a:p>
                      <a:r>
                        <a:rPr sz="1400"/>
                        <a:t>Specialized UN agency for IP</a:t>
                      </a:r>
                    </a:p>
                  </a:txBody>
                  <a:tcPr marL="0" marR="0" marT="0" marB="0" anchor="ctr"/>
                </a:tc>
                <a:extLst>
                  <a:ext uri="{0D108BD9-81ED-4DB2-BD59-A6C34878D82A}">
                    <a16:rowId xmlns:a16="http://schemas.microsoft.com/office/drawing/2014/main" val="10006"/>
                  </a:ext>
                </a:extLst>
              </a:tr>
              <a:tr h="477520">
                <a:tc>
                  <a:txBody>
                    <a:bodyPr/>
                    <a:lstStyle/>
                    <a:p>
                      <a:r>
                        <a:rPr sz="1400"/>
                        <a:t>1995</a:t>
                      </a:r>
                    </a:p>
                  </a:txBody>
                  <a:tcPr marL="0" marR="0" marT="0" marB="0" anchor="ctr"/>
                </a:tc>
                <a:tc>
                  <a:txBody>
                    <a:bodyPr/>
                    <a:lstStyle/>
                    <a:p>
                      <a:r>
                        <a:rPr sz="1400"/>
                        <a:t>TRIPS Agreement</a:t>
                      </a:r>
                    </a:p>
                  </a:txBody>
                  <a:tcPr marL="0" marR="0" marT="0" marB="0" anchor="ctr"/>
                </a:tc>
                <a:tc>
                  <a:txBody>
                    <a:bodyPr/>
                    <a:lstStyle/>
                    <a:p>
                      <a:r>
                        <a:rPr sz="1400"/>
                        <a:t>Global minimum IPR standards</a:t>
                      </a:r>
                    </a:p>
                  </a:txBody>
                  <a:tcPr marL="0" marR="0" marT="0" marB="0" anchor="ctr"/>
                </a:tc>
                <a:extLst>
                  <a:ext uri="{0D108BD9-81ED-4DB2-BD59-A6C34878D82A}">
                    <a16:rowId xmlns:a16="http://schemas.microsoft.com/office/drawing/2014/main" val="10007"/>
                  </a:ext>
                </a:extLst>
              </a:tr>
              <a:tr h="477520">
                <a:tc>
                  <a:txBody>
                    <a:bodyPr/>
                    <a:lstStyle/>
                    <a:p>
                      <a:r>
                        <a:rPr sz="1400"/>
                        <a:t>2005</a:t>
                      </a:r>
                    </a:p>
                  </a:txBody>
                  <a:tcPr marL="0" marR="0" marT="0" marB="0" anchor="ctr"/>
                </a:tc>
                <a:tc>
                  <a:txBody>
                    <a:bodyPr/>
                    <a:lstStyle/>
                    <a:p>
                      <a:r>
                        <a:rPr sz="1400"/>
                        <a:t>Indian Patent Amendment</a:t>
                      </a:r>
                    </a:p>
                  </a:txBody>
                  <a:tcPr marL="0" marR="0" marT="0" marB="0" anchor="ctr"/>
                </a:tc>
                <a:tc>
                  <a:txBody>
                    <a:bodyPr/>
                    <a:lstStyle/>
                    <a:p>
                      <a:r>
                        <a:rPr sz="1400"/>
                        <a:t>Product patents introduced in India</a:t>
                      </a:r>
                    </a:p>
                  </a:txBody>
                  <a:tcPr marL="0" marR="0" marT="0" marB="0" anchor="ctr"/>
                </a:tc>
                <a:extLst>
                  <a:ext uri="{0D108BD9-81ED-4DB2-BD59-A6C34878D82A}">
                    <a16:rowId xmlns:a16="http://schemas.microsoft.com/office/drawing/2014/main" val="10008"/>
                  </a:ext>
                </a:extLst>
              </a:tr>
            </a:tbl>
          </a:graphicData>
        </a:graphic>
      </p:graphicFrame>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ltLang="en-US"/>
              <a:t>Significance of the Historical Development of IPR</a:t>
            </a:r>
          </a:p>
        </p:txBody>
      </p:sp>
      <p:sp>
        <p:nvSpPr>
          <p:cNvPr id="3" name="Content Placeholder 2"/>
          <p:cNvSpPr>
            <a:spLocks noGrp="1"/>
          </p:cNvSpPr>
          <p:nvPr>
            <p:ph idx="1"/>
            <p:custDataLst>
              <p:tags r:id="rId3"/>
            </p:custDataLst>
          </p:nvPr>
        </p:nvSpPr>
        <p:spPr/>
        <p:txBody>
          <a:bodyPr/>
          <a:lstStyle/>
          <a:p>
            <a:r>
              <a:rPr lang="en-US" altLang="en-US"/>
              <a:t>Encouraged innovation and scientific research.</a:t>
            </a:r>
          </a:p>
          <a:p>
            <a:r>
              <a:rPr lang="en-US" altLang="en-US"/>
              <a:t>Protected inventors and creators from unauthorized use.</a:t>
            </a:r>
          </a:p>
          <a:p>
            <a:r>
              <a:rPr lang="en-US" altLang="en-US"/>
              <a:t>Promoted international trade and technology transfer.</a:t>
            </a:r>
          </a:p>
          <a:p>
            <a:r>
              <a:rPr lang="en-US" altLang="en-US"/>
              <a:t>Standardized intellectual property laws across countries.</a:t>
            </a:r>
          </a:p>
          <a:p>
            <a:r>
              <a:rPr lang="en-US" altLang="en-US"/>
              <a:t>Strengthened global cooperation through organizations such as WIPO and WTO.</a:t>
            </a:r>
          </a:p>
          <a:p>
            <a:r>
              <a:rPr lang="en-US" altLang="en-US"/>
              <a:t>Enhanced investment in research and development.</a:t>
            </a:r>
          </a:p>
          <a:p>
            <a:r>
              <a:rPr lang="en-US" altLang="en-US"/>
              <a:t>Contributed to economic growth and industrial competitiveness.</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a:xfrm>
            <a:off x="696000" y="1766570"/>
            <a:ext cx="10800000" cy="2646680"/>
          </a:xfrm>
        </p:spPr>
        <p:txBody>
          <a:bodyPr>
            <a:normAutofit/>
          </a:bodyPr>
          <a:lstStyle/>
          <a:p>
            <a:r>
              <a:rPr lang="en-US" altLang="en-US" dirty="0" smtClean="0"/>
              <a:t>Types of </a:t>
            </a:r>
            <a:r>
              <a:rPr lang="en-US" altLang="en-US" dirty="0"/>
              <a:t>Intellectual Property Rights (IPR)</a:t>
            </a:r>
          </a:p>
        </p:txBody>
      </p:sp>
    </p:spTree>
    <p:custDataLst>
      <p:tags r:id="rId1"/>
    </p:custDataLst>
    <p:extLst>
      <p:ext uri="{BB962C8B-B14F-4D97-AF65-F5344CB8AC3E}">
        <p14:creationId xmlns:p14="http://schemas.microsoft.com/office/powerpoint/2010/main" val="2903321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IN" dirty="0"/>
              <a:t>Kinds of IPR</a:t>
            </a:r>
            <a:endParaRPr lang="en-US" dirty="0"/>
          </a:p>
        </p:txBody>
      </p:sp>
      <p:sp>
        <p:nvSpPr>
          <p:cNvPr id="3" name="Content Placeholder 2"/>
          <p:cNvSpPr>
            <a:spLocks noGrp="1"/>
          </p:cNvSpPr>
          <p:nvPr>
            <p:ph idx="1"/>
            <p:custDataLst>
              <p:tags r:id="rId3"/>
            </p:custDataLst>
          </p:nvPr>
        </p:nvSpPr>
        <p:spPr>
          <a:xfrm>
            <a:off x="695960" y="1301749"/>
            <a:ext cx="4762305" cy="4873625"/>
          </a:xfrm>
        </p:spPr>
        <p:txBody>
          <a:bodyPr>
            <a:normAutofit/>
          </a:bodyPr>
          <a:lstStyle/>
          <a:p>
            <a:pPr marL="0" indent="0">
              <a:buNone/>
            </a:pPr>
            <a:r>
              <a:rPr lang="en-US" dirty="0"/>
              <a:t>The major forms of Intellectual Property Rights include:</a:t>
            </a:r>
          </a:p>
          <a:p>
            <a:r>
              <a:rPr lang="en-US" dirty="0"/>
              <a:t>Industrial Property</a:t>
            </a:r>
          </a:p>
          <a:p>
            <a:r>
              <a:rPr lang="en-US" dirty="0"/>
              <a:t>Patent </a:t>
            </a:r>
          </a:p>
          <a:p>
            <a:r>
              <a:rPr lang="en-US" dirty="0"/>
              <a:t>Trademark </a:t>
            </a:r>
          </a:p>
          <a:p>
            <a:r>
              <a:rPr lang="en-US" dirty="0"/>
              <a:t>Industrial Design </a:t>
            </a:r>
          </a:p>
          <a:p>
            <a:r>
              <a:rPr lang="en-US" dirty="0"/>
              <a:t>Geographical Indication </a:t>
            </a:r>
          </a:p>
        </p:txBody>
      </p:sp>
      <p:sp>
        <p:nvSpPr>
          <p:cNvPr id="4" name="Content Placeholder 2"/>
          <p:cNvSpPr txBox="1">
            <a:spLocks/>
          </p:cNvSpPr>
          <p:nvPr>
            <p:custDataLst>
              <p:tags r:id="rId4"/>
            </p:custDataLst>
          </p:nvPr>
        </p:nvSpPr>
        <p:spPr>
          <a:xfrm>
            <a:off x="5800188" y="1301748"/>
            <a:ext cx="4762305" cy="4873625"/>
          </a:xfrm>
          <a:prstGeom prst="rect">
            <a:avLst/>
          </a:prstGeom>
        </p:spPr>
        <p:txBody>
          <a:bodyPr vert="horz" wrap="square" lIns="0" tIns="0" rIns="0" bIns="0" rtlCol="0">
            <a:normAutofit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dirty="0" smtClean="0"/>
              <a:t>Copyright and Related Rights</a:t>
            </a:r>
          </a:p>
          <a:p>
            <a:r>
              <a:rPr lang="en-US" dirty="0" smtClean="0"/>
              <a:t>Copyright </a:t>
            </a:r>
          </a:p>
          <a:p>
            <a:r>
              <a:rPr lang="en-US" dirty="0" smtClean="0"/>
              <a:t>Related rights of performers, producers, and broadcasters </a:t>
            </a:r>
          </a:p>
          <a:p>
            <a:pPr marL="0" indent="0">
              <a:buFont typeface="Arial" panose="020B0604020202020204" pitchFamily="34" charset="0"/>
              <a:buNone/>
            </a:pPr>
            <a:r>
              <a:rPr lang="en-US" dirty="0" smtClean="0"/>
              <a:t>Other Forms</a:t>
            </a:r>
          </a:p>
          <a:p>
            <a:r>
              <a:rPr lang="en-US" dirty="0" smtClean="0"/>
              <a:t>Trade Secrets </a:t>
            </a:r>
          </a:p>
          <a:p>
            <a:r>
              <a:rPr lang="en-US" dirty="0" smtClean="0"/>
              <a:t>Plant Variety Protection </a:t>
            </a:r>
          </a:p>
          <a:p>
            <a:r>
              <a:rPr lang="en-US" dirty="0" smtClean="0"/>
              <a:t>Semiconductor Integrated Circuit Layout-Design</a:t>
            </a:r>
            <a:endParaRPr lang="en-US" dirty="0"/>
          </a:p>
        </p:txBody>
      </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IN" dirty="0"/>
              <a:t>Four Major IPRs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76810569"/>
              </p:ext>
            </p:extLst>
          </p:nvPr>
        </p:nvGraphicFramePr>
        <p:xfrm>
          <a:off x="695960" y="1670611"/>
          <a:ext cx="10801350" cy="1828800"/>
        </p:xfrm>
        <a:graphic>
          <a:graphicData uri="http://schemas.openxmlformats.org/drawingml/2006/table">
            <a:tbl>
              <a:tblPr>
                <a:tableStyleId>{5940675A-B579-460E-94D1-54222C63F5DA}</a:tableStyleId>
              </a:tblPr>
              <a:tblGrid>
                <a:gridCol w="5400675">
                  <a:extLst>
                    <a:ext uri="{9D8B030D-6E8A-4147-A177-3AD203B41FA5}">
                      <a16:colId xmlns:a16="http://schemas.microsoft.com/office/drawing/2014/main" val="20000"/>
                    </a:ext>
                  </a:extLst>
                </a:gridCol>
                <a:gridCol w="5400675">
                  <a:extLst>
                    <a:ext uri="{9D8B030D-6E8A-4147-A177-3AD203B41FA5}">
                      <a16:colId xmlns:a16="http://schemas.microsoft.com/office/drawing/2014/main" val="20001"/>
                    </a:ext>
                  </a:extLst>
                </a:gridCol>
              </a:tblGrid>
              <a:tr h="0">
                <a:tc>
                  <a:txBody>
                    <a:bodyPr/>
                    <a:lstStyle/>
                    <a:p>
                      <a:pPr algn="ctr"/>
                      <a:r>
                        <a:rPr lang="en-IN" dirty="0"/>
                        <a:t>IPR</a:t>
                      </a:r>
                    </a:p>
                  </a:txBody>
                  <a:tcPr anchor="ctr"/>
                </a:tc>
                <a:tc>
                  <a:txBody>
                    <a:bodyPr/>
                    <a:lstStyle/>
                    <a:p>
                      <a:pPr algn="ctr"/>
                      <a:r>
                        <a:rPr lang="en-IN" dirty="0"/>
                        <a:t>Protects</a:t>
                      </a:r>
                    </a:p>
                  </a:txBody>
                  <a:tcPr anchor="ctr"/>
                </a:tc>
                <a:extLst>
                  <a:ext uri="{0D108BD9-81ED-4DB2-BD59-A6C34878D82A}">
                    <a16:rowId xmlns:a16="http://schemas.microsoft.com/office/drawing/2014/main" val="10000"/>
                  </a:ext>
                </a:extLst>
              </a:tr>
              <a:tr h="0">
                <a:tc>
                  <a:txBody>
                    <a:bodyPr/>
                    <a:lstStyle/>
                    <a:p>
                      <a:r>
                        <a:rPr lang="en-IN" dirty="0"/>
                        <a:t>Patent</a:t>
                      </a:r>
                    </a:p>
                  </a:txBody>
                  <a:tcPr anchor="ctr"/>
                </a:tc>
                <a:tc>
                  <a:txBody>
                    <a:bodyPr/>
                    <a:lstStyle/>
                    <a:p>
                      <a:r>
                        <a:rPr lang="en-IN" dirty="0"/>
                        <a:t>Inventions</a:t>
                      </a:r>
                    </a:p>
                  </a:txBody>
                  <a:tcPr anchor="ctr"/>
                </a:tc>
                <a:extLst>
                  <a:ext uri="{0D108BD9-81ED-4DB2-BD59-A6C34878D82A}">
                    <a16:rowId xmlns:a16="http://schemas.microsoft.com/office/drawing/2014/main" val="10001"/>
                  </a:ext>
                </a:extLst>
              </a:tr>
              <a:tr h="0">
                <a:tc>
                  <a:txBody>
                    <a:bodyPr/>
                    <a:lstStyle/>
                    <a:p>
                      <a:r>
                        <a:rPr lang="en-IN"/>
                        <a:t>Trademark</a:t>
                      </a:r>
                    </a:p>
                  </a:txBody>
                  <a:tcPr anchor="ctr"/>
                </a:tc>
                <a:tc>
                  <a:txBody>
                    <a:bodyPr/>
                    <a:lstStyle/>
                    <a:p>
                      <a:r>
                        <a:rPr lang="en-IN"/>
                        <a:t>Brand identity</a:t>
                      </a:r>
                    </a:p>
                  </a:txBody>
                  <a:tcPr anchor="ctr"/>
                </a:tc>
                <a:extLst>
                  <a:ext uri="{0D108BD9-81ED-4DB2-BD59-A6C34878D82A}">
                    <a16:rowId xmlns:a16="http://schemas.microsoft.com/office/drawing/2014/main" val="10002"/>
                  </a:ext>
                </a:extLst>
              </a:tr>
              <a:tr h="0">
                <a:tc>
                  <a:txBody>
                    <a:bodyPr/>
                    <a:lstStyle/>
                    <a:p>
                      <a:r>
                        <a:rPr lang="en-IN"/>
                        <a:t>Copyright</a:t>
                      </a:r>
                    </a:p>
                  </a:txBody>
                  <a:tcPr anchor="ctr"/>
                </a:tc>
                <a:tc>
                  <a:txBody>
                    <a:bodyPr/>
                    <a:lstStyle/>
                    <a:p>
                      <a:r>
                        <a:rPr lang="en-IN"/>
                        <a:t>Creative works</a:t>
                      </a:r>
                    </a:p>
                  </a:txBody>
                  <a:tcPr anchor="ctr"/>
                </a:tc>
                <a:extLst>
                  <a:ext uri="{0D108BD9-81ED-4DB2-BD59-A6C34878D82A}">
                    <a16:rowId xmlns:a16="http://schemas.microsoft.com/office/drawing/2014/main" val="10003"/>
                  </a:ext>
                </a:extLst>
              </a:tr>
              <a:tr h="0">
                <a:tc>
                  <a:txBody>
                    <a:bodyPr/>
                    <a:lstStyle/>
                    <a:p>
                      <a:r>
                        <a:rPr lang="en-IN"/>
                        <a:t>Industrial Design</a:t>
                      </a:r>
                    </a:p>
                  </a:txBody>
                  <a:tcPr anchor="ctr"/>
                </a:tc>
                <a:tc>
                  <a:txBody>
                    <a:bodyPr/>
                    <a:lstStyle/>
                    <a:p>
                      <a:r>
                        <a:rPr lang="en-IN" dirty="0"/>
                        <a:t>Product appearance</a:t>
                      </a:r>
                    </a:p>
                  </a:txBody>
                  <a:tcPr anchor="ctr"/>
                </a:tc>
                <a:extLst>
                  <a:ext uri="{0D108BD9-81ED-4DB2-BD59-A6C34878D82A}">
                    <a16:rowId xmlns:a16="http://schemas.microsoft.com/office/drawing/2014/main" val="10004"/>
                  </a:ext>
                </a:extLst>
              </a:tr>
            </a:tbl>
          </a:graphicData>
        </a:graphic>
      </p:graphicFrame>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a:t>
            </a:r>
          </a:p>
        </p:txBody>
      </p:sp>
      <p:sp>
        <p:nvSpPr>
          <p:cNvPr id="3" name="Content Placeholder 2"/>
          <p:cNvSpPr>
            <a:spLocks noGrp="1"/>
          </p:cNvSpPr>
          <p:nvPr>
            <p:ph idx="1"/>
          </p:nvPr>
        </p:nvSpPr>
        <p:spPr/>
        <p:txBody>
          <a:bodyPr>
            <a:normAutofit fontScale="92500"/>
          </a:bodyPr>
          <a:lstStyle/>
          <a:p>
            <a:pPr marL="0" indent="0">
              <a:buNone/>
            </a:pPr>
            <a:r>
              <a:rPr lang="en-US" dirty="0"/>
              <a:t>A </a:t>
            </a:r>
            <a:r>
              <a:rPr lang="en-US" b="1" dirty="0"/>
              <a:t>patent</a:t>
            </a:r>
            <a:r>
              <a:rPr lang="en-US" dirty="0"/>
              <a:t> is an exclusive legal right granted for an invention.</a:t>
            </a:r>
          </a:p>
          <a:p>
            <a:pPr marL="0" indent="0">
              <a:buNone/>
            </a:pPr>
            <a:r>
              <a:rPr lang="en-US" dirty="0"/>
              <a:t>It allows the patent owner to prevent others from commercially exploiting the patented invention without authorization, subject to applicable law.</a:t>
            </a:r>
          </a:p>
          <a:p>
            <a:pPr marL="0" indent="0">
              <a:buNone/>
            </a:pPr>
            <a:r>
              <a:rPr lang="en-US" b="1" dirty="0"/>
              <a:t>A patent may protect:</a:t>
            </a:r>
          </a:p>
          <a:p>
            <a:r>
              <a:rPr lang="en-US" dirty="0"/>
              <a:t>New products </a:t>
            </a:r>
          </a:p>
          <a:p>
            <a:r>
              <a:rPr lang="en-US" dirty="0"/>
              <a:t>New processes </a:t>
            </a:r>
          </a:p>
          <a:p>
            <a:r>
              <a:rPr lang="en-US" dirty="0"/>
              <a:t>Technical improvements </a:t>
            </a:r>
          </a:p>
          <a:p>
            <a:r>
              <a:rPr lang="en-US" dirty="0"/>
              <a:t>New technological solutions </a:t>
            </a:r>
          </a:p>
          <a:p>
            <a:pPr marL="0" indent="0">
              <a:buNone/>
            </a:pPr>
            <a:r>
              <a:rPr lang="en-US" b="1" dirty="0" smtClean="0"/>
              <a:t>Example: </a:t>
            </a:r>
            <a:r>
              <a:rPr lang="en-US" dirty="0" smtClean="0"/>
              <a:t>A </a:t>
            </a:r>
            <a:r>
              <a:rPr lang="en-US" dirty="0"/>
              <a:t>new energy-efficient battery technology developed through research.</a:t>
            </a:r>
          </a:p>
        </p:txBody>
      </p:sp>
    </p:spTree>
    <p:extLst>
      <p:ext uri="{BB962C8B-B14F-4D97-AF65-F5344CB8AC3E}">
        <p14:creationId xmlns:p14="http://schemas.microsoft.com/office/powerpoint/2010/main" val="12552928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Requirements for a Patent</a:t>
            </a:r>
          </a:p>
        </p:txBody>
      </p:sp>
      <p:sp>
        <p:nvSpPr>
          <p:cNvPr id="3" name="Content Placeholder 2"/>
          <p:cNvSpPr>
            <a:spLocks noGrp="1"/>
          </p:cNvSpPr>
          <p:nvPr>
            <p:ph idx="1"/>
          </p:nvPr>
        </p:nvSpPr>
        <p:spPr/>
        <p:txBody>
          <a:bodyPr>
            <a:normAutofit/>
          </a:bodyPr>
          <a:lstStyle/>
          <a:p>
            <a:pPr marL="0" indent="0">
              <a:buNone/>
            </a:pPr>
            <a:r>
              <a:rPr lang="en-US" dirty="0"/>
              <a:t>An invention generally needs to satisfy three important requirements:</a:t>
            </a:r>
          </a:p>
          <a:p>
            <a:pPr marL="457200" indent="-457200">
              <a:buFont typeface="+mj-lt"/>
              <a:buAutoNum type="arabicPeriod"/>
            </a:pPr>
            <a:r>
              <a:rPr lang="en-US" b="1" dirty="0" smtClean="0"/>
              <a:t>Novelty: </a:t>
            </a:r>
            <a:r>
              <a:rPr lang="en-US" dirty="0" smtClean="0"/>
              <a:t>The </a:t>
            </a:r>
            <a:r>
              <a:rPr lang="en-US" dirty="0"/>
              <a:t>invention must be </a:t>
            </a:r>
            <a:r>
              <a:rPr lang="en-US" b="1" dirty="0"/>
              <a:t>new</a:t>
            </a:r>
            <a:r>
              <a:rPr lang="en-US" dirty="0"/>
              <a:t> and not already publicly known.</a:t>
            </a:r>
          </a:p>
          <a:p>
            <a:pPr marL="457200" indent="-457200">
              <a:buFont typeface="+mj-lt"/>
              <a:buAutoNum type="arabicPeriod"/>
            </a:pPr>
            <a:r>
              <a:rPr lang="en-US" b="1" dirty="0" smtClean="0"/>
              <a:t>Inventive Step: </a:t>
            </a:r>
            <a:r>
              <a:rPr lang="en-US" dirty="0" smtClean="0"/>
              <a:t>The </a:t>
            </a:r>
            <a:r>
              <a:rPr lang="en-US" dirty="0"/>
              <a:t>invention should involve a </a:t>
            </a:r>
            <a:r>
              <a:rPr lang="en-US" b="1" dirty="0"/>
              <a:t>non-obvious technical advancement</a:t>
            </a:r>
            <a:r>
              <a:rPr lang="en-US" dirty="0"/>
              <a:t>.</a:t>
            </a:r>
          </a:p>
          <a:p>
            <a:pPr marL="457200" indent="-457200">
              <a:buFont typeface="+mj-lt"/>
              <a:buAutoNum type="arabicPeriod"/>
            </a:pPr>
            <a:r>
              <a:rPr lang="en-US" b="1" dirty="0" smtClean="0"/>
              <a:t>Industrial Applicability: </a:t>
            </a:r>
            <a:r>
              <a:rPr lang="en-US" dirty="0" smtClean="0"/>
              <a:t>The </a:t>
            </a:r>
            <a:r>
              <a:rPr lang="en-US" dirty="0"/>
              <a:t>invention must be </a:t>
            </a:r>
            <a:r>
              <a:rPr lang="en-US" b="1" dirty="0"/>
              <a:t>capable of being made or used in industry</a:t>
            </a:r>
            <a:r>
              <a:rPr lang="en-US" dirty="0" smtClean="0"/>
              <a:t>.</a:t>
            </a:r>
            <a:endParaRPr lang="en-US" dirty="0"/>
          </a:p>
        </p:txBody>
      </p:sp>
    </p:spTree>
    <p:extLst>
      <p:ext uri="{BB962C8B-B14F-4D97-AF65-F5344CB8AC3E}">
        <p14:creationId xmlns:p14="http://schemas.microsoft.com/office/powerpoint/2010/main" val="25228610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Rights of a Patent Owner</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A patent gives the owner exclusive rights, subject to applicable law.</a:t>
            </a:r>
          </a:p>
          <a:p>
            <a:pPr marL="0" indent="0">
              <a:buNone/>
            </a:pPr>
            <a:r>
              <a:rPr lang="en-US" dirty="0"/>
              <a:t>The owner can generally:</a:t>
            </a:r>
          </a:p>
          <a:p>
            <a:r>
              <a:rPr lang="en-US" dirty="0"/>
              <a:t>Manufacture the patented product. </a:t>
            </a:r>
          </a:p>
          <a:p>
            <a:r>
              <a:rPr lang="en-US" dirty="0"/>
              <a:t>Use the patented process. </a:t>
            </a:r>
          </a:p>
          <a:p>
            <a:r>
              <a:rPr lang="en-US" dirty="0"/>
              <a:t>Sell or distribute the invention. </a:t>
            </a:r>
          </a:p>
          <a:p>
            <a:r>
              <a:rPr lang="en-US" dirty="0"/>
              <a:t>License the invention. </a:t>
            </a:r>
          </a:p>
          <a:p>
            <a:r>
              <a:rPr lang="en-US" dirty="0"/>
              <a:t>Assign the patent. </a:t>
            </a:r>
          </a:p>
          <a:p>
            <a:r>
              <a:rPr lang="en-US" dirty="0"/>
              <a:t>Take legal action against infringement. </a:t>
            </a:r>
          </a:p>
          <a:p>
            <a:pPr marL="0" indent="0">
              <a:buNone/>
            </a:pPr>
            <a:r>
              <a:rPr lang="en-US" b="1" dirty="0" smtClean="0"/>
              <a:t>Important: </a:t>
            </a:r>
            <a:r>
              <a:rPr lang="en-US" dirty="0" smtClean="0"/>
              <a:t>A </a:t>
            </a:r>
            <a:r>
              <a:rPr lang="en-US" dirty="0"/>
              <a:t>patent is a </a:t>
            </a:r>
            <a:r>
              <a:rPr lang="en-US" b="1" dirty="0"/>
              <a:t>limited-term right</a:t>
            </a:r>
            <a:r>
              <a:rPr lang="en-US" dirty="0"/>
              <a:t> and does not mean permanent ownership of an invention.</a:t>
            </a:r>
          </a:p>
          <a:p>
            <a:endParaRPr lang="en-IN" dirty="0"/>
          </a:p>
        </p:txBody>
      </p:sp>
    </p:spTree>
    <p:extLst>
      <p:ext uri="{BB962C8B-B14F-4D97-AF65-F5344CB8AC3E}">
        <p14:creationId xmlns:p14="http://schemas.microsoft.com/office/powerpoint/2010/main" val="16997363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 Example</a:t>
            </a:r>
          </a:p>
        </p:txBody>
      </p:sp>
      <p:sp>
        <p:nvSpPr>
          <p:cNvPr id="3" name="Content Placeholder 2"/>
          <p:cNvSpPr>
            <a:spLocks noGrp="1"/>
          </p:cNvSpPr>
          <p:nvPr>
            <p:ph idx="1"/>
          </p:nvPr>
        </p:nvSpPr>
        <p:spPr>
          <a:xfrm>
            <a:off x="695960" y="1301749"/>
            <a:ext cx="5451622" cy="4873625"/>
          </a:xfrm>
        </p:spPr>
        <p:txBody>
          <a:bodyPr>
            <a:normAutofit lnSpcReduction="10000"/>
          </a:bodyPr>
          <a:lstStyle/>
          <a:p>
            <a:pPr marL="0" indent="0">
              <a:buNone/>
            </a:pPr>
            <a:r>
              <a:rPr lang="en-US" b="1" dirty="0"/>
              <a:t>Example: Electric Vehicle Battery</a:t>
            </a:r>
          </a:p>
          <a:p>
            <a:r>
              <a:rPr lang="en-US" dirty="0"/>
              <a:t>Suppose a researcher develops a battery that:</a:t>
            </a:r>
          </a:p>
          <a:p>
            <a:r>
              <a:rPr lang="en-US" dirty="0"/>
              <a:t>Charges faster. </a:t>
            </a:r>
          </a:p>
          <a:p>
            <a:r>
              <a:rPr lang="en-US" dirty="0"/>
              <a:t>Stores more energy. </a:t>
            </a:r>
          </a:p>
          <a:p>
            <a:r>
              <a:rPr lang="en-US" dirty="0"/>
              <a:t>Has a longer lifespan. </a:t>
            </a:r>
          </a:p>
          <a:p>
            <a:r>
              <a:rPr lang="en-US" dirty="0"/>
              <a:t>If the invention meets patentability requirements, the inventor may seek patent protection</a:t>
            </a:r>
            <a:r>
              <a:rPr lang="en-US" dirty="0" smtClean="0"/>
              <a:t>.</a:t>
            </a:r>
            <a:endParaRPr lang="en-US" dirty="0"/>
          </a:p>
        </p:txBody>
      </p:sp>
      <p:sp>
        <p:nvSpPr>
          <p:cNvPr id="4" name="Content Placeholder 2"/>
          <p:cNvSpPr txBox="1">
            <a:spLocks/>
          </p:cNvSpPr>
          <p:nvPr/>
        </p:nvSpPr>
        <p:spPr>
          <a:xfrm>
            <a:off x="6095960" y="1301748"/>
            <a:ext cx="5451622"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None/>
            </a:pPr>
            <a:r>
              <a:rPr lang="en-US" b="1" dirty="0" smtClean="0"/>
              <a:t>Patent protects:</a:t>
            </a:r>
          </a:p>
          <a:p>
            <a:r>
              <a:rPr lang="en-US" dirty="0" smtClean="0"/>
              <a:t>The technical invention and its claimed features.</a:t>
            </a:r>
          </a:p>
          <a:p>
            <a:pPr marL="0" indent="0">
              <a:buNone/>
            </a:pPr>
            <a:r>
              <a:rPr lang="en-US" b="1" dirty="0" smtClean="0"/>
              <a:t>It does not automatically protect:</a:t>
            </a:r>
          </a:p>
          <a:p>
            <a:r>
              <a:rPr lang="en-US" dirty="0" smtClean="0"/>
              <a:t>The company name </a:t>
            </a:r>
          </a:p>
          <a:p>
            <a:r>
              <a:rPr lang="en-US" dirty="0" smtClean="0"/>
              <a:t>The logo </a:t>
            </a:r>
          </a:p>
          <a:p>
            <a:r>
              <a:rPr lang="en-US" dirty="0" smtClean="0"/>
              <a:t>The artistic appearance of the battery </a:t>
            </a:r>
          </a:p>
          <a:p>
            <a:r>
              <a:rPr lang="en-US" dirty="0" smtClean="0"/>
              <a:t>Those may require other forms of IPR.</a:t>
            </a:r>
            <a:endParaRPr lang="en-US" dirty="0"/>
          </a:p>
        </p:txBody>
      </p:sp>
    </p:spTree>
    <p:extLst>
      <p:ext uri="{BB962C8B-B14F-4D97-AF65-F5344CB8AC3E}">
        <p14:creationId xmlns:p14="http://schemas.microsoft.com/office/powerpoint/2010/main" val="4886374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Trademark</a:t>
            </a:r>
          </a:p>
        </p:txBody>
      </p:sp>
      <p:sp>
        <p:nvSpPr>
          <p:cNvPr id="3" name="Content Placeholder 2"/>
          <p:cNvSpPr>
            <a:spLocks noGrp="1"/>
          </p:cNvSpPr>
          <p:nvPr>
            <p:ph idx="1"/>
          </p:nvPr>
        </p:nvSpPr>
        <p:spPr/>
        <p:txBody>
          <a:bodyPr>
            <a:normAutofit/>
          </a:bodyPr>
          <a:lstStyle/>
          <a:p>
            <a:pPr marL="0" indent="0">
              <a:buNone/>
            </a:pPr>
            <a:r>
              <a:rPr lang="en-US" dirty="0"/>
              <a:t>A </a:t>
            </a:r>
            <a:r>
              <a:rPr lang="en-US" b="1" dirty="0"/>
              <a:t>trademark</a:t>
            </a:r>
            <a:r>
              <a:rPr lang="en-US" dirty="0"/>
              <a:t> is a sign capable of distinguishing the goods or services of one business from those of others.</a:t>
            </a:r>
          </a:p>
          <a:p>
            <a:pPr marL="0" indent="0">
              <a:buNone/>
            </a:pPr>
            <a:r>
              <a:rPr lang="en-US" b="1" dirty="0" smtClean="0"/>
              <a:t>Examples:</a:t>
            </a:r>
            <a:endParaRPr lang="en-US" b="1" dirty="0"/>
          </a:p>
          <a:p>
            <a:pPr marL="0" indent="0">
              <a:buNone/>
            </a:pPr>
            <a:r>
              <a:rPr lang="en-US" dirty="0"/>
              <a:t>Brand names </a:t>
            </a:r>
            <a:r>
              <a:rPr lang="en-US" dirty="0" smtClean="0"/>
              <a:t>	Logos 	Symbols 	Words 	</a:t>
            </a:r>
            <a:endParaRPr lang="en-US" dirty="0"/>
          </a:p>
          <a:p>
            <a:pPr marL="0" indent="0">
              <a:buNone/>
            </a:pPr>
            <a:r>
              <a:rPr lang="en-US" dirty="0" smtClean="0"/>
              <a:t>Labels 		Certain </a:t>
            </a:r>
            <a:r>
              <a:rPr lang="en-US" dirty="0"/>
              <a:t>shapes </a:t>
            </a:r>
            <a:r>
              <a:rPr lang="en-US" dirty="0" smtClean="0"/>
              <a:t>		Sound </a:t>
            </a:r>
            <a:r>
              <a:rPr lang="en-US" dirty="0"/>
              <a:t>marks </a:t>
            </a:r>
          </a:p>
          <a:p>
            <a:pPr marL="0" indent="0">
              <a:buNone/>
            </a:pPr>
            <a:r>
              <a:rPr lang="en-US" b="1" dirty="0" smtClean="0"/>
              <a:t>Purpose: </a:t>
            </a:r>
            <a:r>
              <a:rPr lang="en-US" dirty="0" smtClean="0"/>
              <a:t>A </a:t>
            </a:r>
            <a:r>
              <a:rPr lang="en-US" dirty="0"/>
              <a:t>trademark helps consumers identify the </a:t>
            </a:r>
            <a:r>
              <a:rPr lang="en-US" b="1" dirty="0"/>
              <a:t>source or commercial origin</a:t>
            </a:r>
            <a:r>
              <a:rPr lang="en-US" dirty="0"/>
              <a:t> of goods or services.</a:t>
            </a:r>
          </a:p>
        </p:txBody>
      </p:sp>
    </p:spTree>
    <p:extLst>
      <p:ext uri="{BB962C8B-B14F-4D97-AF65-F5344CB8AC3E}">
        <p14:creationId xmlns:p14="http://schemas.microsoft.com/office/powerpoint/2010/main" val="24714551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Functions of a Trademark</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b="1" dirty="0" smtClean="0"/>
              <a:t>Identification: </a:t>
            </a:r>
            <a:r>
              <a:rPr lang="en-US" dirty="0" smtClean="0"/>
              <a:t>Helps </a:t>
            </a:r>
            <a:r>
              <a:rPr lang="en-US" dirty="0"/>
              <a:t>consumers identify a particular brand.</a:t>
            </a:r>
          </a:p>
          <a:p>
            <a:pPr marL="457200" indent="-457200">
              <a:buFont typeface="+mj-lt"/>
              <a:buAutoNum type="arabicPeriod"/>
            </a:pPr>
            <a:r>
              <a:rPr lang="en-US" b="1" dirty="0" smtClean="0"/>
              <a:t>Differentiation: </a:t>
            </a:r>
            <a:r>
              <a:rPr lang="en-US" dirty="0" smtClean="0"/>
              <a:t>Distinguishes </a:t>
            </a:r>
            <a:r>
              <a:rPr lang="en-US" dirty="0"/>
              <a:t>one business from competitors.</a:t>
            </a:r>
          </a:p>
          <a:p>
            <a:pPr marL="457200" indent="-457200">
              <a:buFont typeface="+mj-lt"/>
              <a:buAutoNum type="arabicPeriod"/>
            </a:pPr>
            <a:r>
              <a:rPr lang="en-US" b="1" dirty="0"/>
              <a:t>Quality </a:t>
            </a:r>
            <a:r>
              <a:rPr lang="en-US" b="1" dirty="0" smtClean="0"/>
              <a:t>Association: </a:t>
            </a:r>
            <a:r>
              <a:rPr lang="en-US" dirty="0" smtClean="0"/>
              <a:t>Customers </a:t>
            </a:r>
            <a:r>
              <a:rPr lang="en-US" dirty="0"/>
              <a:t>associate the mark with a particular level of quality or reputation.</a:t>
            </a:r>
          </a:p>
          <a:p>
            <a:pPr marL="457200" indent="-457200">
              <a:buFont typeface="+mj-lt"/>
              <a:buAutoNum type="arabicPeriod"/>
            </a:pPr>
            <a:r>
              <a:rPr lang="en-US" b="1" dirty="0" smtClean="0"/>
              <a:t>Goodwill: </a:t>
            </a:r>
            <a:r>
              <a:rPr lang="en-US" dirty="0" smtClean="0"/>
              <a:t>Builds </a:t>
            </a:r>
            <a:r>
              <a:rPr lang="en-US" dirty="0"/>
              <a:t>and protects the reputation of a business.</a:t>
            </a:r>
          </a:p>
          <a:p>
            <a:pPr marL="457200" indent="-457200">
              <a:buFont typeface="+mj-lt"/>
              <a:buAutoNum type="arabicPeriod"/>
            </a:pPr>
            <a:r>
              <a:rPr lang="en-US" b="1" dirty="0"/>
              <a:t>Legal </a:t>
            </a:r>
            <a:r>
              <a:rPr lang="en-US" b="1" dirty="0" smtClean="0"/>
              <a:t>Protection: </a:t>
            </a:r>
            <a:r>
              <a:rPr lang="en-US" dirty="0" smtClean="0"/>
              <a:t>Helps </a:t>
            </a:r>
            <a:r>
              <a:rPr lang="en-US" dirty="0"/>
              <a:t>prevent unauthorized use of confusingly similar marks.</a:t>
            </a:r>
          </a:p>
        </p:txBody>
      </p:sp>
    </p:spTree>
    <p:extLst>
      <p:ext uri="{BB962C8B-B14F-4D97-AF65-F5344CB8AC3E}">
        <p14:creationId xmlns:p14="http://schemas.microsoft.com/office/powerpoint/2010/main" val="387009716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 of Trademarks</a:t>
            </a:r>
          </a:p>
        </p:txBody>
      </p:sp>
      <p:sp>
        <p:nvSpPr>
          <p:cNvPr id="3" name="Content Placeholder 2"/>
          <p:cNvSpPr>
            <a:spLocks noGrp="1"/>
          </p:cNvSpPr>
          <p:nvPr>
            <p:ph idx="1"/>
          </p:nvPr>
        </p:nvSpPr>
        <p:spPr/>
        <p:txBody>
          <a:bodyPr>
            <a:normAutofit fontScale="92500" lnSpcReduction="20000"/>
          </a:bodyPr>
          <a:lstStyle/>
          <a:p>
            <a:pPr marL="0" indent="0">
              <a:buNone/>
            </a:pPr>
            <a:r>
              <a:rPr lang="en-IN" dirty="0"/>
              <a:t>Examples of well-known brand identifiers </a:t>
            </a:r>
            <a:r>
              <a:rPr lang="en-IN" dirty="0" smtClean="0"/>
              <a:t>include: Apple, Google, Nike, Tata, </a:t>
            </a:r>
            <a:r>
              <a:rPr lang="en-IN" dirty="0" err="1" smtClean="0"/>
              <a:t>Amul</a:t>
            </a:r>
            <a:r>
              <a:rPr lang="en-IN" dirty="0" smtClean="0"/>
              <a:t> </a:t>
            </a:r>
            <a:endParaRPr lang="en-IN" dirty="0"/>
          </a:p>
          <a:p>
            <a:pPr marL="0" indent="0">
              <a:buNone/>
            </a:pPr>
            <a:r>
              <a:rPr lang="en-IN" dirty="0"/>
              <a:t>A trademark can protect elements such as:</a:t>
            </a:r>
          </a:p>
          <a:p>
            <a:r>
              <a:rPr lang="en-IN" dirty="0"/>
              <a:t>Brand Name + Logo + Symbol + Other Distinctive Marks</a:t>
            </a:r>
          </a:p>
          <a:p>
            <a:pPr marL="0" indent="0">
              <a:buNone/>
            </a:pPr>
            <a:r>
              <a:rPr lang="en-IN" dirty="0"/>
              <a:t>Example</a:t>
            </a:r>
          </a:p>
          <a:p>
            <a:pPr marL="0" indent="0">
              <a:buNone/>
            </a:pPr>
            <a:r>
              <a:rPr lang="en-IN" dirty="0"/>
              <a:t>For a smartphone company:</a:t>
            </a:r>
          </a:p>
          <a:p>
            <a:r>
              <a:rPr lang="en-IN" dirty="0"/>
              <a:t>Company Name → Trademark</a:t>
            </a:r>
          </a:p>
          <a:p>
            <a:r>
              <a:rPr lang="en-IN" dirty="0"/>
              <a:t>Company Logo → Trademark</a:t>
            </a:r>
          </a:p>
          <a:p>
            <a:r>
              <a:rPr lang="en-IN" dirty="0"/>
              <a:t>Product Technology → Potentially Patent</a:t>
            </a:r>
          </a:p>
          <a:p>
            <a:r>
              <a:rPr lang="en-IN" dirty="0"/>
              <a:t>Software Code → Copyright</a:t>
            </a:r>
          </a:p>
          <a:p>
            <a:r>
              <a:rPr lang="en-IN" dirty="0"/>
              <a:t>Phone Appearance → Industrial Design</a:t>
            </a:r>
          </a:p>
        </p:txBody>
      </p:sp>
    </p:spTree>
    <p:extLst>
      <p:ext uri="{BB962C8B-B14F-4D97-AF65-F5344CB8AC3E}">
        <p14:creationId xmlns:p14="http://schemas.microsoft.com/office/powerpoint/2010/main" val="25621570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Copyright</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Copyright</a:t>
            </a:r>
            <a:r>
              <a:rPr lang="en-US" dirty="0"/>
              <a:t> is a form of intellectual property protection for original literary, artistic, musical, dramatic, and other eligible creative works.</a:t>
            </a:r>
          </a:p>
          <a:p>
            <a:pPr marL="0" indent="0">
              <a:buNone/>
            </a:pPr>
            <a:r>
              <a:rPr lang="en-US" b="1" dirty="0"/>
              <a:t>Examples</a:t>
            </a:r>
          </a:p>
          <a:p>
            <a:r>
              <a:rPr lang="en-US" dirty="0"/>
              <a:t>Books </a:t>
            </a:r>
          </a:p>
          <a:p>
            <a:r>
              <a:rPr lang="en-US" dirty="0"/>
              <a:t>Research papers </a:t>
            </a:r>
          </a:p>
          <a:p>
            <a:r>
              <a:rPr lang="en-US" dirty="0"/>
              <a:t>Music </a:t>
            </a:r>
          </a:p>
          <a:p>
            <a:r>
              <a:rPr lang="en-US" dirty="0"/>
              <a:t>Films </a:t>
            </a:r>
          </a:p>
          <a:p>
            <a:r>
              <a:rPr lang="en-US" dirty="0"/>
              <a:t>Paintings </a:t>
            </a:r>
          </a:p>
          <a:p>
            <a:r>
              <a:rPr lang="en-US" dirty="0"/>
              <a:t>Photographs </a:t>
            </a:r>
          </a:p>
          <a:p>
            <a:r>
              <a:rPr lang="en-US" dirty="0"/>
              <a:t>Computer programs </a:t>
            </a:r>
          </a:p>
          <a:p>
            <a:r>
              <a:rPr lang="en-US" dirty="0"/>
              <a:t>Websites </a:t>
            </a:r>
          </a:p>
          <a:p>
            <a:r>
              <a:rPr lang="en-US" dirty="0"/>
              <a:t>Digital content</a:t>
            </a:r>
          </a:p>
        </p:txBody>
      </p:sp>
    </p:spTree>
    <p:extLst>
      <p:ext uri="{BB962C8B-B14F-4D97-AF65-F5344CB8AC3E}">
        <p14:creationId xmlns:p14="http://schemas.microsoft.com/office/powerpoint/2010/main" val="2910598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Copyright and Software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Copyright is particularly important in Computer Science and Engineering.</a:t>
            </a:r>
          </a:p>
          <a:p>
            <a:pPr marL="0" indent="0">
              <a:buNone/>
            </a:pPr>
            <a:r>
              <a:rPr lang="en-US" dirty="0" smtClean="0"/>
              <a:t>Software-related </a:t>
            </a:r>
            <a:r>
              <a:rPr lang="en-US" dirty="0"/>
              <a:t>works that may receive copyright protection include:</a:t>
            </a:r>
          </a:p>
          <a:p>
            <a:pPr marL="0" indent="0">
              <a:buNone/>
            </a:pPr>
            <a:r>
              <a:rPr lang="en-US" dirty="0"/>
              <a:t>Source code </a:t>
            </a:r>
            <a:r>
              <a:rPr lang="en-US" dirty="0" smtClean="0"/>
              <a:t>				Object </a:t>
            </a:r>
            <a:r>
              <a:rPr lang="en-US" dirty="0"/>
              <a:t>code </a:t>
            </a:r>
          </a:p>
          <a:p>
            <a:pPr marL="0" indent="0">
              <a:buNone/>
            </a:pPr>
            <a:r>
              <a:rPr lang="en-US" dirty="0"/>
              <a:t>Software documentation </a:t>
            </a:r>
            <a:r>
              <a:rPr lang="en-US" dirty="0" smtClean="0"/>
              <a:t>		User </a:t>
            </a:r>
            <a:r>
              <a:rPr lang="en-US" dirty="0"/>
              <a:t>manuals </a:t>
            </a:r>
          </a:p>
          <a:p>
            <a:pPr marL="0" indent="0">
              <a:buNone/>
            </a:pPr>
            <a:r>
              <a:rPr lang="en-US" dirty="0"/>
              <a:t>Website content </a:t>
            </a:r>
            <a:r>
              <a:rPr lang="en-US" dirty="0" smtClean="0"/>
              <a:t>			Graphics </a:t>
            </a:r>
            <a:r>
              <a:rPr lang="en-US" dirty="0"/>
              <a:t>and multimedia elements </a:t>
            </a:r>
          </a:p>
          <a:p>
            <a:pPr marL="0" indent="0">
              <a:buNone/>
            </a:pPr>
            <a:r>
              <a:rPr lang="en-US" dirty="0"/>
              <a:t>Example</a:t>
            </a:r>
          </a:p>
          <a:p>
            <a:r>
              <a:rPr lang="en-US" dirty="0"/>
              <a:t>If a programmer develops a new software application:</a:t>
            </a:r>
          </a:p>
          <a:p>
            <a:r>
              <a:rPr lang="en-US" dirty="0"/>
              <a:t>Source Code → Copyright Protection</a:t>
            </a:r>
          </a:p>
          <a:p>
            <a:pPr marL="0" indent="0">
              <a:buNone/>
            </a:pPr>
            <a:r>
              <a:rPr lang="en-US" dirty="0"/>
              <a:t>However, copyright generally protects the expression of an idea, not the underlying idea or principle itself.</a:t>
            </a:r>
          </a:p>
        </p:txBody>
      </p:sp>
    </p:spTree>
    <p:extLst>
      <p:ext uri="{BB962C8B-B14F-4D97-AF65-F5344CB8AC3E}">
        <p14:creationId xmlns:p14="http://schemas.microsoft.com/office/powerpoint/2010/main" val="13998776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Rights of Copyright Owner</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Copyright generally provides economic rights such as:</a:t>
            </a:r>
          </a:p>
          <a:p>
            <a:r>
              <a:rPr lang="en-US" dirty="0"/>
              <a:t>Reproduction </a:t>
            </a:r>
          </a:p>
          <a:p>
            <a:r>
              <a:rPr lang="en-US" dirty="0"/>
              <a:t>Distribution </a:t>
            </a:r>
          </a:p>
          <a:p>
            <a:r>
              <a:rPr lang="en-US" dirty="0"/>
              <a:t>Public performance </a:t>
            </a:r>
          </a:p>
          <a:p>
            <a:r>
              <a:rPr lang="en-US" dirty="0"/>
              <a:t>Communication to the public </a:t>
            </a:r>
          </a:p>
          <a:p>
            <a:r>
              <a:rPr lang="en-US" dirty="0"/>
              <a:t>Adaptation </a:t>
            </a:r>
          </a:p>
          <a:p>
            <a:r>
              <a:rPr lang="en-US" dirty="0"/>
              <a:t>Translation </a:t>
            </a:r>
          </a:p>
          <a:p>
            <a:r>
              <a:rPr lang="en-US" dirty="0"/>
              <a:t>It may also provide moral rights to authors under applicable law.</a:t>
            </a:r>
          </a:p>
          <a:p>
            <a:pPr marL="0" indent="0">
              <a:buNone/>
            </a:pPr>
            <a:r>
              <a:rPr lang="en-US" b="1" dirty="0"/>
              <a:t>Example</a:t>
            </a:r>
          </a:p>
          <a:p>
            <a:r>
              <a:rPr lang="en-US" dirty="0"/>
              <a:t>An author writing a book can control authorized reproduction, publication, adaptation, and translation of the work, subject to applicable exceptions and limitations.</a:t>
            </a:r>
          </a:p>
        </p:txBody>
      </p:sp>
    </p:spTree>
    <p:extLst>
      <p:ext uri="{BB962C8B-B14F-4D97-AF65-F5344CB8AC3E}">
        <p14:creationId xmlns:p14="http://schemas.microsoft.com/office/powerpoint/2010/main" val="83288194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Copyright Duration</a:t>
            </a:r>
          </a:p>
        </p:txBody>
      </p:sp>
      <p:sp>
        <p:nvSpPr>
          <p:cNvPr id="3" name="Content Placeholder 2"/>
          <p:cNvSpPr>
            <a:spLocks noGrp="1"/>
          </p:cNvSpPr>
          <p:nvPr>
            <p:ph idx="1"/>
          </p:nvPr>
        </p:nvSpPr>
        <p:spPr/>
        <p:txBody>
          <a:bodyPr/>
          <a:lstStyle/>
          <a:p>
            <a:pPr marL="0" indent="0">
              <a:buNone/>
            </a:pPr>
            <a:r>
              <a:rPr lang="en-US" dirty="0"/>
              <a:t>In India, for many literary, dramatic, musical, and artistic works:</a:t>
            </a:r>
          </a:p>
          <a:p>
            <a:r>
              <a:rPr lang="en-US" dirty="0" smtClean="0"/>
              <a:t>Duration: Author's </a:t>
            </a:r>
            <a:r>
              <a:rPr lang="en-US" dirty="0"/>
              <a:t>Lifetime + 60 Years</a:t>
            </a:r>
          </a:p>
          <a:p>
            <a:r>
              <a:rPr lang="en-US" dirty="0"/>
              <a:t>For certain other categories, such as films, sound recordings, and government works, different statutory terms may apply.</a:t>
            </a:r>
          </a:p>
          <a:p>
            <a:r>
              <a:rPr lang="en-US" dirty="0" smtClean="0"/>
              <a:t>Copyright </a:t>
            </a:r>
            <a:r>
              <a:rPr lang="en-US" dirty="0"/>
              <a:t>protection generally arises automatically when an eligible original work is created. Registration is not a prerequisite for copyright to exist.</a:t>
            </a:r>
          </a:p>
        </p:txBody>
      </p:sp>
    </p:spTree>
    <p:extLst>
      <p:ext uri="{BB962C8B-B14F-4D97-AF65-F5344CB8AC3E}">
        <p14:creationId xmlns:p14="http://schemas.microsoft.com/office/powerpoint/2010/main" val="29354421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Industrial Design</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Industrial design protection safeguards the visual and aesthetic features of a product.</a:t>
            </a:r>
          </a:p>
          <a:p>
            <a:pPr marL="0" indent="0">
              <a:buNone/>
            </a:pPr>
            <a:r>
              <a:rPr lang="en-US" dirty="0" smtClean="0"/>
              <a:t>It </a:t>
            </a:r>
            <a:r>
              <a:rPr lang="en-US" dirty="0"/>
              <a:t>focuses on how a product looks, rather than how it technically functions.</a:t>
            </a:r>
          </a:p>
          <a:p>
            <a:pPr marL="0" indent="0">
              <a:buNone/>
            </a:pPr>
            <a:r>
              <a:rPr lang="en-US" dirty="0" smtClean="0"/>
              <a:t>May </a:t>
            </a:r>
            <a:r>
              <a:rPr lang="en-US" dirty="0"/>
              <a:t>include:</a:t>
            </a:r>
          </a:p>
          <a:p>
            <a:r>
              <a:rPr lang="en-US" dirty="0"/>
              <a:t>Shape </a:t>
            </a:r>
          </a:p>
          <a:p>
            <a:r>
              <a:rPr lang="en-US" dirty="0"/>
              <a:t>Configuration </a:t>
            </a:r>
          </a:p>
          <a:p>
            <a:r>
              <a:rPr lang="en-US" dirty="0"/>
              <a:t>Pattern </a:t>
            </a:r>
          </a:p>
          <a:p>
            <a:r>
              <a:rPr lang="en-US" dirty="0"/>
              <a:t>Ornamentation </a:t>
            </a:r>
          </a:p>
          <a:p>
            <a:r>
              <a:rPr lang="en-US" dirty="0"/>
              <a:t>Composition of lines </a:t>
            </a:r>
          </a:p>
          <a:p>
            <a:r>
              <a:rPr lang="en-US" dirty="0"/>
              <a:t>Composition of </a:t>
            </a:r>
            <a:r>
              <a:rPr lang="en-US" dirty="0" smtClean="0"/>
              <a:t>colors</a:t>
            </a:r>
            <a:endParaRPr lang="en-US" dirty="0"/>
          </a:p>
        </p:txBody>
      </p:sp>
    </p:spTree>
    <p:extLst>
      <p:ext uri="{BB962C8B-B14F-4D97-AF65-F5344CB8AC3E}">
        <p14:creationId xmlns:p14="http://schemas.microsoft.com/office/powerpoint/2010/main" val="35257701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Examples of Industrial Design</a:t>
            </a:r>
          </a:p>
        </p:txBody>
      </p:sp>
      <p:sp>
        <p:nvSpPr>
          <p:cNvPr id="3" name="Content Placeholder 2"/>
          <p:cNvSpPr>
            <a:spLocks noGrp="1"/>
          </p:cNvSpPr>
          <p:nvPr>
            <p:ph idx="1"/>
          </p:nvPr>
        </p:nvSpPr>
        <p:spPr/>
        <p:txBody>
          <a:bodyPr>
            <a:normAutofit fontScale="92500" lnSpcReduction="10000"/>
          </a:bodyPr>
          <a:lstStyle/>
          <a:p>
            <a:pPr marL="0" indent="0">
              <a:buNone/>
            </a:pPr>
            <a:r>
              <a:rPr lang="en-IN" dirty="0"/>
              <a:t>Industrial design can be applied to:</a:t>
            </a:r>
          </a:p>
          <a:p>
            <a:pPr marL="0" indent="0">
              <a:buNone/>
            </a:pPr>
            <a:r>
              <a:rPr lang="en-IN" dirty="0"/>
              <a:t>Mobile </a:t>
            </a:r>
            <a:r>
              <a:rPr lang="en-IN" dirty="0" smtClean="0"/>
              <a:t>phones, Cars,	Watches, Furniture, Bottles, Packaging Household appliances,</a:t>
            </a:r>
          </a:p>
          <a:p>
            <a:pPr marL="0" indent="0">
              <a:buNone/>
            </a:pPr>
            <a:r>
              <a:rPr lang="en-IN" dirty="0" smtClean="0"/>
              <a:t>Electronic devices </a:t>
            </a:r>
          </a:p>
          <a:p>
            <a:pPr marL="0" indent="0">
              <a:buNone/>
            </a:pPr>
            <a:r>
              <a:rPr lang="en-IN" dirty="0" smtClean="0"/>
              <a:t>Example</a:t>
            </a:r>
            <a:endParaRPr lang="en-IN" dirty="0"/>
          </a:p>
          <a:p>
            <a:r>
              <a:rPr lang="en-IN" dirty="0"/>
              <a:t>Consider a mobile phone.</a:t>
            </a:r>
          </a:p>
          <a:p>
            <a:r>
              <a:rPr lang="en-IN" dirty="0"/>
              <a:t>Internal technology → Patent</a:t>
            </a:r>
          </a:p>
          <a:p>
            <a:r>
              <a:rPr lang="en-IN" dirty="0"/>
              <a:t>Software → Copyright</a:t>
            </a:r>
          </a:p>
          <a:p>
            <a:r>
              <a:rPr lang="en-IN" dirty="0"/>
              <a:t>Brand name/logo → Trademark</a:t>
            </a:r>
          </a:p>
          <a:p>
            <a:r>
              <a:rPr lang="en-IN" dirty="0"/>
              <a:t>External shape and visual appearance → Industrial Design</a:t>
            </a:r>
          </a:p>
        </p:txBody>
      </p:sp>
    </p:spTree>
    <p:extLst>
      <p:ext uri="{BB962C8B-B14F-4D97-AF65-F5344CB8AC3E}">
        <p14:creationId xmlns:p14="http://schemas.microsoft.com/office/powerpoint/2010/main" val="17583829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Industrial Design Does NOT Protect</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a:t>Industrial design protection generally does not protect:</a:t>
            </a:r>
          </a:p>
          <a:p>
            <a:r>
              <a:rPr lang="en-US" dirty="0"/>
              <a:t>Technical functions </a:t>
            </a:r>
          </a:p>
          <a:p>
            <a:r>
              <a:rPr lang="en-US" dirty="0"/>
              <a:t>Working mechanisms </a:t>
            </a:r>
          </a:p>
          <a:p>
            <a:r>
              <a:rPr lang="en-US" dirty="0"/>
              <a:t>Scientific principles </a:t>
            </a:r>
          </a:p>
          <a:p>
            <a:r>
              <a:rPr lang="en-US" dirty="0"/>
              <a:t>Manufacturing processes </a:t>
            </a:r>
          </a:p>
          <a:p>
            <a:r>
              <a:rPr lang="en-US" dirty="0"/>
              <a:t>Purely functional features </a:t>
            </a:r>
          </a:p>
          <a:p>
            <a:pPr marL="0" indent="0">
              <a:buNone/>
            </a:pPr>
            <a:r>
              <a:rPr lang="en-US" dirty="0"/>
              <a:t>Example</a:t>
            </a:r>
          </a:p>
          <a:p>
            <a:r>
              <a:rPr lang="en-US" dirty="0"/>
              <a:t>If a new phone has a unique camera mechanism:</a:t>
            </a:r>
          </a:p>
          <a:p>
            <a:r>
              <a:rPr lang="en-US" dirty="0"/>
              <a:t>Technical mechanism → Potentially Patent</a:t>
            </a:r>
          </a:p>
          <a:p>
            <a:r>
              <a:rPr lang="en-US" dirty="0"/>
              <a:t>If the phone has a unique external appearance:</a:t>
            </a:r>
          </a:p>
          <a:p>
            <a:r>
              <a:rPr lang="en-US" dirty="0"/>
              <a:t>External appearance → Industrial Design</a:t>
            </a:r>
          </a:p>
        </p:txBody>
      </p:sp>
    </p:spTree>
    <p:extLst>
      <p:ext uri="{BB962C8B-B14F-4D97-AF65-F5344CB8AC3E}">
        <p14:creationId xmlns:p14="http://schemas.microsoft.com/office/powerpoint/2010/main" val="36159740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Duration of Industrial Design</a:t>
            </a:r>
          </a:p>
        </p:txBody>
      </p:sp>
      <p:sp>
        <p:nvSpPr>
          <p:cNvPr id="3" name="Content Placeholder 2"/>
          <p:cNvSpPr>
            <a:spLocks noGrp="1"/>
          </p:cNvSpPr>
          <p:nvPr>
            <p:ph idx="1"/>
          </p:nvPr>
        </p:nvSpPr>
        <p:spPr/>
        <p:txBody>
          <a:bodyPr>
            <a:normAutofit/>
          </a:bodyPr>
          <a:lstStyle/>
          <a:p>
            <a:pPr marL="0" indent="0">
              <a:buNone/>
            </a:pPr>
            <a:r>
              <a:rPr lang="en-US" dirty="0"/>
              <a:t>In India:</a:t>
            </a:r>
          </a:p>
          <a:p>
            <a:r>
              <a:rPr lang="en-US" dirty="0"/>
              <a:t>Initial </a:t>
            </a:r>
            <a:r>
              <a:rPr lang="en-US" dirty="0" smtClean="0"/>
              <a:t>Term: 10 </a:t>
            </a:r>
            <a:r>
              <a:rPr lang="en-US" dirty="0"/>
              <a:t>years</a:t>
            </a:r>
          </a:p>
          <a:p>
            <a:r>
              <a:rPr lang="en-US" dirty="0" smtClean="0"/>
              <a:t>Extension Can </a:t>
            </a:r>
            <a:r>
              <a:rPr lang="en-US" dirty="0"/>
              <a:t>generally be extended </a:t>
            </a:r>
            <a:r>
              <a:rPr lang="en-US" dirty="0" smtClean="0"/>
              <a:t>by: 5 </a:t>
            </a:r>
            <a:r>
              <a:rPr lang="en-US" dirty="0"/>
              <a:t>years</a:t>
            </a:r>
          </a:p>
          <a:p>
            <a:r>
              <a:rPr lang="en-US" dirty="0"/>
              <a:t>Maximum </a:t>
            </a:r>
            <a:r>
              <a:rPr lang="en-US" dirty="0" smtClean="0"/>
              <a:t>Duration: 15 </a:t>
            </a:r>
            <a:r>
              <a:rPr lang="en-US" dirty="0"/>
              <a:t>years</a:t>
            </a:r>
          </a:p>
          <a:p>
            <a:r>
              <a:rPr lang="en-US" dirty="0"/>
              <a:t>The protection is subject to the requirements of the Designs Act and applicable rules.</a:t>
            </a:r>
          </a:p>
        </p:txBody>
      </p:sp>
    </p:spTree>
    <p:extLst>
      <p:ext uri="{BB962C8B-B14F-4D97-AF65-F5344CB8AC3E}">
        <p14:creationId xmlns:p14="http://schemas.microsoft.com/office/powerpoint/2010/main" val="20806709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Four Major IPRs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64031266"/>
              </p:ext>
            </p:extLst>
          </p:nvPr>
        </p:nvGraphicFramePr>
        <p:xfrm>
          <a:off x="695959" y="1301750"/>
          <a:ext cx="10800715" cy="4817696"/>
        </p:xfrm>
        <a:graphic>
          <a:graphicData uri="http://schemas.openxmlformats.org/drawingml/2006/table">
            <a:tbl>
              <a:tblPr firstRow="1" bandRow="1">
                <a:tableStyleId>{5C22544A-7EE6-4342-B048-85BDC9FD1C3A}</a:tableStyleId>
              </a:tblPr>
              <a:tblGrid>
                <a:gridCol w="1850293">
                  <a:extLst>
                    <a:ext uri="{9D8B030D-6E8A-4147-A177-3AD203B41FA5}">
                      <a16:colId xmlns:a16="http://schemas.microsoft.com/office/drawing/2014/main" val="20000"/>
                    </a:ext>
                  </a:extLst>
                </a:gridCol>
                <a:gridCol w="2335237">
                  <a:extLst>
                    <a:ext uri="{9D8B030D-6E8A-4147-A177-3AD203B41FA5}">
                      <a16:colId xmlns:a16="http://schemas.microsoft.com/office/drawing/2014/main" val="20001"/>
                    </a:ext>
                  </a:extLst>
                </a:gridCol>
                <a:gridCol w="2294899">
                  <a:extLst>
                    <a:ext uri="{9D8B030D-6E8A-4147-A177-3AD203B41FA5}">
                      <a16:colId xmlns:a16="http://schemas.microsoft.com/office/drawing/2014/main" val="20002"/>
                    </a:ext>
                  </a:extLst>
                </a:gridCol>
                <a:gridCol w="2160143">
                  <a:extLst>
                    <a:ext uri="{9D8B030D-6E8A-4147-A177-3AD203B41FA5}">
                      <a16:colId xmlns:a16="http://schemas.microsoft.com/office/drawing/2014/main" val="20003"/>
                    </a:ext>
                  </a:extLst>
                </a:gridCol>
                <a:gridCol w="2160143">
                  <a:extLst>
                    <a:ext uri="{9D8B030D-6E8A-4147-A177-3AD203B41FA5}">
                      <a16:colId xmlns:a16="http://schemas.microsoft.com/office/drawing/2014/main" val="20004"/>
                    </a:ext>
                  </a:extLst>
                </a:gridCol>
              </a:tblGrid>
              <a:tr h="541064">
                <a:tc>
                  <a:txBody>
                    <a:bodyPr/>
                    <a:lstStyle/>
                    <a:p>
                      <a:pPr algn="ctr"/>
                      <a:r>
                        <a:rPr lang="en-IN" dirty="0"/>
                        <a:t>Feature</a:t>
                      </a:r>
                    </a:p>
                  </a:txBody>
                  <a:tcPr anchor="ctr"/>
                </a:tc>
                <a:tc>
                  <a:txBody>
                    <a:bodyPr/>
                    <a:lstStyle/>
                    <a:p>
                      <a:pPr algn="ctr"/>
                      <a:r>
                        <a:rPr lang="en-IN" dirty="0"/>
                        <a:t>Patent</a:t>
                      </a:r>
                    </a:p>
                  </a:txBody>
                  <a:tcPr anchor="ctr"/>
                </a:tc>
                <a:tc>
                  <a:txBody>
                    <a:bodyPr/>
                    <a:lstStyle/>
                    <a:p>
                      <a:pPr algn="ctr"/>
                      <a:r>
                        <a:rPr lang="en-IN" dirty="0"/>
                        <a:t>Trademark</a:t>
                      </a:r>
                    </a:p>
                  </a:txBody>
                  <a:tcPr anchor="ctr"/>
                </a:tc>
                <a:tc>
                  <a:txBody>
                    <a:bodyPr/>
                    <a:lstStyle/>
                    <a:p>
                      <a:pPr algn="ctr"/>
                      <a:r>
                        <a:rPr lang="en-IN" dirty="0"/>
                        <a:t>Copyright</a:t>
                      </a:r>
                    </a:p>
                  </a:txBody>
                  <a:tcPr anchor="ctr"/>
                </a:tc>
                <a:tc>
                  <a:txBody>
                    <a:bodyPr/>
                    <a:lstStyle/>
                    <a:p>
                      <a:pPr algn="ctr"/>
                      <a:r>
                        <a:rPr lang="en-IN" dirty="0"/>
                        <a:t>Industrial Design</a:t>
                      </a:r>
                    </a:p>
                  </a:txBody>
                  <a:tcPr anchor="ctr"/>
                </a:tc>
                <a:extLst>
                  <a:ext uri="{0D108BD9-81ED-4DB2-BD59-A6C34878D82A}">
                    <a16:rowId xmlns:a16="http://schemas.microsoft.com/office/drawing/2014/main" val="10000"/>
                  </a:ext>
                </a:extLst>
              </a:tr>
              <a:tr h="933892">
                <a:tc>
                  <a:txBody>
                    <a:bodyPr/>
                    <a:lstStyle/>
                    <a:p>
                      <a:r>
                        <a:rPr lang="en-IN"/>
                        <a:t>Protects</a:t>
                      </a:r>
                    </a:p>
                  </a:txBody>
                  <a:tcPr anchor="ctr"/>
                </a:tc>
                <a:tc>
                  <a:txBody>
                    <a:bodyPr/>
                    <a:lstStyle/>
                    <a:p>
                      <a:r>
                        <a:rPr lang="en-IN"/>
                        <a:t>Inventions</a:t>
                      </a:r>
                    </a:p>
                  </a:txBody>
                  <a:tcPr anchor="ctr"/>
                </a:tc>
                <a:tc>
                  <a:txBody>
                    <a:bodyPr/>
                    <a:lstStyle/>
                    <a:p>
                      <a:r>
                        <a:rPr lang="en-IN"/>
                        <a:t>Brand identity</a:t>
                      </a:r>
                    </a:p>
                  </a:txBody>
                  <a:tcPr anchor="ctr"/>
                </a:tc>
                <a:tc>
                  <a:txBody>
                    <a:bodyPr/>
                    <a:lstStyle/>
                    <a:p>
                      <a:r>
                        <a:rPr lang="en-IN"/>
                        <a:t>Creative works</a:t>
                      </a:r>
                    </a:p>
                  </a:txBody>
                  <a:tcPr anchor="ctr"/>
                </a:tc>
                <a:tc>
                  <a:txBody>
                    <a:bodyPr/>
                    <a:lstStyle/>
                    <a:p>
                      <a:r>
                        <a:rPr lang="en-IN"/>
                        <a:t>Product appearance</a:t>
                      </a:r>
                    </a:p>
                  </a:txBody>
                  <a:tcPr anchor="ctr"/>
                </a:tc>
                <a:extLst>
                  <a:ext uri="{0D108BD9-81ED-4DB2-BD59-A6C34878D82A}">
                    <a16:rowId xmlns:a16="http://schemas.microsoft.com/office/drawing/2014/main" val="10001"/>
                  </a:ext>
                </a:extLst>
              </a:tr>
              <a:tr h="933892">
                <a:tc>
                  <a:txBody>
                    <a:bodyPr/>
                    <a:lstStyle/>
                    <a:p>
                      <a:r>
                        <a:rPr lang="en-IN"/>
                        <a:t>Main focus</a:t>
                      </a:r>
                    </a:p>
                  </a:txBody>
                  <a:tcPr anchor="ctr"/>
                </a:tc>
                <a:tc>
                  <a:txBody>
                    <a:bodyPr/>
                    <a:lstStyle/>
                    <a:p>
                      <a:r>
                        <a:rPr lang="en-IN"/>
                        <a:t>Technical/functional</a:t>
                      </a:r>
                    </a:p>
                  </a:txBody>
                  <a:tcPr anchor="ctr"/>
                </a:tc>
                <a:tc>
                  <a:txBody>
                    <a:bodyPr/>
                    <a:lstStyle/>
                    <a:p>
                      <a:r>
                        <a:rPr lang="en-IN"/>
                        <a:t>Commercial identity</a:t>
                      </a:r>
                    </a:p>
                  </a:txBody>
                  <a:tcPr anchor="ctr"/>
                </a:tc>
                <a:tc>
                  <a:txBody>
                    <a:bodyPr/>
                    <a:lstStyle/>
                    <a:p>
                      <a:r>
                        <a:rPr lang="en-IN"/>
                        <a:t>Creative expression</a:t>
                      </a:r>
                    </a:p>
                  </a:txBody>
                  <a:tcPr anchor="ctr"/>
                </a:tc>
                <a:tc>
                  <a:txBody>
                    <a:bodyPr/>
                    <a:lstStyle/>
                    <a:p>
                      <a:r>
                        <a:rPr lang="en-IN"/>
                        <a:t>Visual appearance</a:t>
                      </a:r>
                    </a:p>
                  </a:txBody>
                  <a:tcPr anchor="ctr"/>
                </a:tc>
                <a:extLst>
                  <a:ext uri="{0D108BD9-81ED-4DB2-BD59-A6C34878D82A}">
                    <a16:rowId xmlns:a16="http://schemas.microsoft.com/office/drawing/2014/main" val="10002"/>
                  </a:ext>
                </a:extLst>
              </a:tr>
              <a:tr h="541064">
                <a:tc>
                  <a:txBody>
                    <a:bodyPr/>
                    <a:lstStyle/>
                    <a:p>
                      <a:r>
                        <a:rPr lang="en-IN"/>
                        <a:t>Example</a:t>
                      </a:r>
                    </a:p>
                  </a:txBody>
                  <a:tcPr anchor="ctr"/>
                </a:tc>
                <a:tc>
                  <a:txBody>
                    <a:bodyPr/>
                    <a:lstStyle/>
                    <a:p>
                      <a:r>
                        <a:rPr lang="en-IN"/>
                        <a:t>New battery</a:t>
                      </a:r>
                    </a:p>
                  </a:txBody>
                  <a:tcPr anchor="ctr"/>
                </a:tc>
                <a:tc>
                  <a:txBody>
                    <a:bodyPr/>
                    <a:lstStyle/>
                    <a:p>
                      <a:r>
                        <a:rPr lang="en-IN"/>
                        <a:t>Brand logo</a:t>
                      </a:r>
                    </a:p>
                  </a:txBody>
                  <a:tcPr anchor="ctr"/>
                </a:tc>
                <a:tc>
                  <a:txBody>
                    <a:bodyPr/>
                    <a:lstStyle/>
                    <a:p>
                      <a:r>
                        <a:rPr lang="en-IN"/>
                        <a:t>Software</a:t>
                      </a:r>
                    </a:p>
                  </a:txBody>
                  <a:tcPr anchor="ctr"/>
                </a:tc>
                <a:tc>
                  <a:txBody>
                    <a:bodyPr/>
                    <a:lstStyle/>
                    <a:p>
                      <a:r>
                        <a:rPr lang="en-IN"/>
                        <a:t>Phone design</a:t>
                      </a:r>
                    </a:p>
                  </a:txBody>
                  <a:tcPr anchor="ctr"/>
                </a:tc>
                <a:extLst>
                  <a:ext uri="{0D108BD9-81ED-4DB2-BD59-A6C34878D82A}">
                    <a16:rowId xmlns:a16="http://schemas.microsoft.com/office/drawing/2014/main" val="10003"/>
                  </a:ext>
                </a:extLst>
              </a:tr>
              <a:tr h="933892">
                <a:tc>
                  <a:txBody>
                    <a:bodyPr/>
                    <a:lstStyle/>
                    <a:p>
                      <a:r>
                        <a:rPr lang="en-IN" dirty="0"/>
                        <a:t>Registration</a:t>
                      </a:r>
                    </a:p>
                  </a:txBody>
                  <a:tcPr anchor="ctr"/>
                </a:tc>
                <a:tc>
                  <a:txBody>
                    <a:bodyPr/>
                    <a:lstStyle/>
                    <a:p>
                      <a:r>
                        <a:rPr lang="en-IN"/>
                        <a:t>Required for patent rights</a:t>
                      </a:r>
                    </a:p>
                  </a:txBody>
                  <a:tcPr anchor="ctr"/>
                </a:tc>
                <a:tc>
                  <a:txBody>
                    <a:bodyPr/>
                    <a:lstStyle/>
                    <a:p>
                      <a:r>
                        <a:rPr lang="en-IN"/>
                        <a:t>Registration available</a:t>
                      </a:r>
                    </a:p>
                  </a:txBody>
                  <a:tcPr anchor="ctr"/>
                </a:tc>
                <a:tc>
                  <a:txBody>
                    <a:bodyPr/>
                    <a:lstStyle/>
                    <a:p>
                      <a:r>
                        <a:rPr lang="en-IN"/>
                        <a:t>Not required for existence</a:t>
                      </a:r>
                    </a:p>
                  </a:txBody>
                  <a:tcPr anchor="ctr"/>
                </a:tc>
                <a:tc>
                  <a:txBody>
                    <a:bodyPr/>
                    <a:lstStyle/>
                    <a:p>
                      <a:r>
                        <a:rPr lang="en-IN"/>
                        <a:t>Required</a:t>
                      </a:r>
                    </a:p>
                  </a:txBody>
                  <a:tcPr anchor="ctr"/>
                </a:tc>
                <a:extLst>
                  <a:ext uri="{0D108BD9-81ED-4DB2-BD59-A6C34878D82A}">
                    <a16:rowId xmlns:a16="http://schemas.microsoft.com/office/drawing/2014/main" val="10004"/>
                  </a:ext>
                </a:extLst>
              </a:tr>
              <a:tr h="933892">
                <a:tc>
                  <a:txBody>
                    <a:bodyPr/>
                    <a:lstStyle/>
                    <a:p>
                      <a:r>
                        <a:rPr lang="en-IN"/>
                        <a:t>Typical term in India</a:t>
                      </a:r>
                    </a:p>
                  </a:txBody>
                  <a:tcPr anchor="ctr"/>
                </a:tc>
                <a:tc>
                  <a:txBody>
                    <a:bodyPr/>
                    <a:lstStyle/>
                    <a:p>
                      <a:r>
                        <a:rPr lang="en-IN"/>
                        <a:t>20 years</a:t>
                      </a:r>
                    </a:p>
                  </a:txBody>
                  <a:tcPr anchor="ctr"/>
                </a:tc>
                <a:tc>
                  <a:txBody>
                    <a:bodyPr/>
                    <a:lstStyle/>
                    <a:p>
                      <a:r>
                        <a:rPr lang="en-IN"/>
                        <a:t>10 years, renewable</a:t>
                      </a:r>
                    </a:p>
                  </a:txBody>
                  <a:tcPr anchor="ctr"/>
                </a:tc>
                <a:tc>
                  <a:txBody>
                    <a:bodyPr/>
                    <a:lstStyle/>
                    <a:p>
                      <a:r>
                        <a:rPr lang="en-US"/>
                        <a:t>Life + 60 years for many works</a:t>
                      </a:r>
                    </a:p>
                  </a:txBody>
                  <a:tcPr anchor="ctr"/>
                </a:tc>
                <a:tc>
                  <a:txBody>
                    <a:bodyPr/>
                    <a:lstStyle/>
                    <a:p>
                      <a:r>
                        <a:rPr lang="en-IN" dirty="0"/>
                        <a:t>10 + 5 years</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958354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a:xfrm>
            <a:off x="696000" y="1766570"/>
            <a:ext cx="10800000" cy="2646680"/>
          </a:xfrm>
        </p:spPr>
        <p:txBody>
          <a:bodyPr>
            <a:normAutofit/>
          </a:bodyPr>
          <a:lstStyle/>
          <a:p>
            <a:r>
              <a:rPr lang="en-IN" dirty="0"/>
              <a:t>Importance</a:t>
            </a:r>
            <a:r>
              <a:rPr lang="en-US" altLang="en-US" dirty="0" smtClean="0"/>
              <a:t> of </a:t>
            </a:r>
            <a:r>
              <a:rPr lang="en-US" altLang="en-US" dirty="0"/>
              <a:t>Intellectual Property Rights (IPR)</a:t>
            </a:r>
          </a:p>
        </p:txBody>
      </p:sp>
    </p:spTree>
    <p:custDataLst>
      <p:tags r:id="rId1"/>
    </p:custDataLst>
    <p:extLst>
      <p:ext uri="{BB962C8B-B14F-4D97-AF65-F5344CB8AC3E}">
        <p14:creationId xmlns:p14="http://schemas.microsoft.com/office/powerpoint/2010/main" val="36691897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IPR Important?</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t>Intellectual </a:t>
            </a:r>
            <a:r>
              <a:rPr lang="en-US" dirty="0"/>
              <a:t>Property Rights provide legal protection to innovations, creative works, brands, and designs.</a:t>
            </a:r>
          </a:p>
          <a:p>
            <a:r>
              <a:rPr lang="en-US" dirty="0"/>
              <a:t>They create a balance between:</a:t>
            </a:r>
          </a:p>
          <a:p>
            <a:r>
              <a:rPr lang="en-US" dirty="0"/>
              <a:t>Creator's Rights ↔ Public Interest ↔ Innovation ↔ Economic Development</a:t>
            </a:r>
          </a:p>
          <a:p>
            <a:pPr marL="0" indent="0">
              <a:buNone/>
            </a:pPr>
            <a:r>
              <a:rPr lang="en-US" dirty="0"/>
              <a:t>Major importance:</a:t>
            </a:r>
          </a:p>
          <a:p>
            <a:r>
              <a:rPr lang="en-US" dirty="0"/>
              <a:t>Protects intellectual creations </a:t>
            </a:r>
          </a:p>
          <a:p>
            <a:r>
              <a:rPr lang="en-US" dirty="0"/>
              <a:t>Encourages innovation and creativity </a:t>
            </a:r>
          </a:p>
          <a:p>
            <a:r>
              <a:rPr lang="en-US" dirty="0"/>
              <a:t>Provides economic benefits </a:t>
            </a:r>
          </a:p>
          <a:p>
            <a:r>
              <a:rPr lang="en-US" dirty="0"/>
              <a:t>Promotes research and development </a:t>
            </a:r>
          </a:p>
          <a:p>
            <a:r>
              <a:rPr lang="en-US" dirty="0"/>
              <a:t>Creates competitive advantage </a:t>
            </a:r>
          </a:p>
          <a:p>
            <a:r>
              <a:rPr lang="en-US" dirty="0"/>
              <a:t>Supports technology transfer </a:t>
            </a:r>
          </a:p>
          <a:p>
            <a:r>
              <a:rPr lang="en-US" dirty="0"/>
              <a:t>Helps prevent unauthorized use</a:t>
            </a:r>
          </a:p>
        </p:txBody>
      </p:sp>
    </p:spTree>
    <p:extLst>
      <p:ext uri="{BB962C8B-B14F-4D97-AF65-F5344CB8AC3E}">
        <p14:creationId xmlns:p14="http://schemas.microsoft.com/office/powerpoint/2010/main" val="23523390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Protection of Innovation</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IPR Protects New Ideas and Innovations</a:t>
            </a:r>
          </a:p>
          <a:p>
            <a:pPr marL="0" indent="0">
              <a:buNone/>
            </a:pPr>
            <a:r>
              <a:rPr lang="en-US" dirty="0"/>
              <a:t>Inventors and researchers invest:</a:t>
            </a:r>
          </a:p>
          <a:p>
            <a:r>
              <a:rPr lang="en-US" dirty="0"/>
              <a:t>Time </a:t>
            </a:r>
          </a:p>
          <a:p>
            <a:r>
              <a:rPr lang="en-US" dirty="0"/>
              <a:t>Money </a:t>
            </a:r>
          </a:p>
          <a:p>
            <a:r>
              <a:rPr lang="en-US" dirty="0"/>
              <a:t>Knowledge </a:t>
            </a:r>
          </a:p>
          <a:p>
            <a:r>
              <a:rPr lang="en-US" dirty="0"/>
              <a:t>Resources </a:t>
            </a:r>
          </a:p>
          <a:p>
            <a:r>
              <a:rPr lang="en-US" dirty="0"/>
              <a:t>Research efforts </a:t>
            </a:r>
          </a:p>
          <a:p>
            <a:r>
              <a:rPr lang="en-US" dirty="0"/>
              <a:t>IPR provides legal protection against unauthorized commercial use.</a:t>
            </a:r>
          </a:p>
          <a:p>
            <a:pPr marL="0" indent="0">
              <a:buNone/>
            </a:pPr>
            <a:r>
              <a:rPr lang="en-US" dirty="0"/>
              <a:t>Example</a:t>
            </a:r>
          </a:p>
          <a:p>
            <a:r>
              <a:rPr lang="en-US" dirty="0"/>
              <a:t>A company develops a new AI-based medical diagnostic system.</a:t>
            </a:r>
          </a:p>
          <a:p>
            <a:r>
              <a:rPr lang="en-US" dirty="0"/>
              <a:t>Patent protection can potentially protect eligible technical inventions associated with the system</a:t>
            </a:r>
            <a:r>
              <a:rPr lang="en-US" dirty="0" smtClean="0"/>
              <a:t>.</a:t>
            </a:r>
            <a:endParaRPr lang="en-US" dirty="0"/>
          </a:p>
        </p:txBody>
      </p:sp>
    </p:spTree>
    <p:extLst>
      <p:ext uri="{BB962C8B-B14F-4D97-AF65-F5344CB8AC3E}">
        <p14:creationId xmlns:p14="http://schemas.microsoft.com/office/powerpoint/2010/main" val="118421525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Encourages Research and Development</a:t>
            </a:r>
          </a:p>
        </p:txBody>
      </p:sp>
      <p:sp>
        <p:nvSpPr>
          <p:cNvPr id="6" name="Rectangle 3"/>
          <p:cNvSpPr>
            <a:spLocks noGrp="1" noChangeArrowheads="1"/>
          </p:cNvSpPr>
          <p:nvPr>
            <p:ph idx="1"/>
          </p:nvPr>
        </p:nvSpPr>
        <p:spPr bwMode="auto">
          <a:xfrm>
            <a:off x="695960" y="1301749"/>
            <a:ext cx="1098022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smtClean="0">
                <a:ln>
                  <a:noFill/>
                </a:ln>
                <a:solidFill>
                  <a:schemeClr val="tx1"/>
                </a:solidFill>
                <a:effectLst/>
                <a:latin typeface="Arial" panose="020B0604020202020204" pitchFamily="34" charset="0"/>
              </a:rPr>
              <a:t>IPR creates an incentive for organizations and researchers to invest in Research and Development (R&amp;D).</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sz="2000" i="0" u="none" strike="noStrike" cap="none" normalizeH="0" baseline="0" dirty="0" smtClean="0">
                <a:ln>
                  <a:noFill/>
                </a:ln>
                <a:solidFill>
                  <a:schemeClr val="tx1"/>
                </a:solidFill>
                <a:effectLst/>
                <a:latin typeface="Arial" panose="020B0604020202020204" pitchFamily="34" charset="0"/>
              </a:rPr>
              <a:t>Without IPR</a:t>
            </a:r>
          </a:p>
          <a:p>
            <a:pPr eaLnBrk="0" fontAlgn="base" hangingPunct="0">
              <a:lnSpc>
                <a:spcPct val="100000"/>
              </a:lnSpc>
              <a:spcBef>
                <a:spcPct val="0"/>
              </a:spcBef>
              <a:spcAft>
                <a:spcPct val="0"/>
              </a:spcAft>
            </a:pPr>
            <a:r>
              <a:rPr kumimoji="0" lang="en-US" sz="2000" i="0" u="none" strike="noStrike" cap="none" normalizeH="0" baseline="0" dirty="0" smtClean="0">
                <a:ln>
                  <a:noFill/>
                </a:ln>
                <a:solidFill>
                  <a:schemeClr val="tx1"/>
                </a:solidFill>
                <a:effectLst/>
                <a:latin typeface="Arial" panose="020B0604020202020204" pitchFamily="34" charset="0"/>
              </a:rPr>
              <a:t>Competitors may copy innovations. </a:t>
            </a:r>
          </a:p>
          <a:p>
            <a:pPr eaLnBrk="0" fontAlgn="base" hangingPunct="0">
              <a:lnSpc>
                <a:spcPct val="100000"/>
              </a:lnSpc>
              <a:spcBef>
                <a:spcPct val="0"/>
              </a:spcBef>
              <a:spcAft>
                <a:spcPct val="0"/>
              </a:spcAft>
            </a:pPr>
            <a:r>
              <a:rPr kumimoji="0" lang="en-US" sz="2000" i="0" u="none" strike="noStrike" cap="none" normalizeH="0" baseline="0" dirty="0" smtClean="0">
                <a:ln>
                  <a:noFill/>
                </a:ln>
                <a:solidFill>
                  <a:schemeClr val="tx1"/>
                </a:solidFill>
                <a:effectLst/>
                <a:latin typeface="Arial" panose="020B0604020202020204" pitchFamily="34" charset="0"/>
              </a:rPr>
              <a:t>R&amp;D investments become risky. </a:t>
            </a:r>
          </a:p>
          <a:p>
            <a:pPr eaLnBrk="0" fontAlgn="base" hangingPunct="0">
              <a:lnSpc>
                <a:spcPct val="100000"/>
              </a:lnSpc>
              <a:spcBef>
                <a:spcPct val="0"/>
              </a:spcBef>
              <a:spcAft>
                <a:spcPct val="0"/>
              </a:spcAft>
            </a:pPr>
            <a:r>
              <a:rPr kumimoji="0" lang="en-US" sz="2000" i="0" u="none" strike="noStrike" cap="none" normalizeH="0" baseline="0" dirty="0" smtClean="0">
                <a:ln>
                  <a:noFill/>
                </a:ln>
                <a:solidFill>
                  <a:schemeClr val="tx1"/>
                </a:solidFill>
                <a:effectLst/>
                <a:latin typeface="Arial" panose="020B0604020202020204" pitchFamily="34" charset="0"/>
              </a:rPr>
              <a:t>Innovators may receive little commercial benefit.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smtClean="0">
                <a:ln>
                  <a:noFill/>
                </a:ln>
                <a:solidFill>
                  <a:schemeClr val="tx1"/>
                </a:solidFill>
                <a:effectLst/>
                <a:latin typeface="Arial" panose="020B0604020202020204" pitchFamily="34" charset="0"/>
              </a:rPr>
              <a:t>With IPR</a:t>
            </a:r>
          </a:p>
          <a:p>
            <a:pPr eaLnBrk="0" fontAlgn="base" hangingPunct="0">
              <a:lnSpc>
                <a:spcPct val="100000"/>
              </a:lnSpc>
              <a:spcBef>
                <a:spcPct val="0"/>
              </a:spcBef>
              <a:spcAft>
                <a:spcPct val="0"/>
              </a:spcAft>
            </a:pPr>
            <a:r>
              <a:rPr kumimoji="0" lang="en-US" sz="2000" i="0" u="none" strike="noStrike" cap="none" normalizeH="0" baseline="0" dirty="0" smtClean="0">
                <a:ln>
                  <a:noFill/>
                </a:ln>
                <a:solidFill>
                  <a:schemeClr val="tx1"/>
                </a:solidFill>
                <a:effectLst/>
                <a:latin typeface="Arial" panose="020B0604020202020204" pitchFamily="34" charset="0"/>
              </a:rPr>
              <a:t>Innovations receive legal protection. </a:t>
            </a:r>
          </a:p>
          <a:p>
            <a:pPr eaLnBrk="0" fontAlgn="base" hangingPunct="0">
              <a:lnSpc>
                <a:spcPct val="100000"/>
              </a:lnSpc>
              <a:spcBef>
                <a:spcPct val="0"/>
              </a:spcBef>
              <a:spcAft>
                <a:spcPct val="0"/>
              </a:spcAft>
            </a:pPr>
            <a:r>
              <a:rPr kumimoji="0" lang="en-US" sz="2000" i="0" u="none" strike="noStrike" cap="none" normalizeH="0" baseline="0" dirty="0" smtClean="0">
                <a:ln>
                  <a:noFill/>
                </a:ln>
                <a:solidFill>
                  <a:schemeClr val="tx1"/>
                </a:solidFill>
                <a:effectLst/>
                <a:latin typeface="Arial" panose="020B0604020202020204" pitchFamily="34" charset="0"/>
              </a:rPr>
              <a:t>Organizations can recover R&amp;D investments. </a:t>
            </a:r>
          </a:p>
          <a:p>
            <a:pPr eaLnBrk="0" fontAlgn="base" hangingPunct="0">
              <a:lnSpc>
                <a:spcPct val="100000"/>
              </a:lnSpc>
              <a:spcBef>
                <a:spcPct val="0"/>
              </a:spcBef>
              <a:spcAft>
                <a:spcPct val="0"/>
              </a:spcAft>
            </a:pPr>
            <a:r>
              <a:rPr kumimoji="0" lang="en-US" sz="2000" i="0" u="none" strike="noStrike" cap="none" normalizeH="0" baseline="0" dirty="0" smtClean="0">
                <a:ln>
                  <a:noFill/>
                </a:ln>
                <a:solidFill>
                  <a:schemeClr val="tx1"/>
                </a:solidFill>
                <a:effectLst/>
                <a:latin typeface="Arial" panose="020B0604020202020204" pitchFamily="34" charset="0"/>
              </a:rPr>
              <a:t>Researchers can commercialize their inventions.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i="0" u="none" strike="noStrike" cap="none" normalizeH="0" baseline="0" dirty="0" smtClean="0">
                <a:ln>
                  <a:noFill/>
                </a:ln>
                <a:solidFill>
                  <a:schemeClr val="tx1"/>
                </a:solidFill>
                <a:effectLst/>
                <a:latin typeface="Arial" panose="020B0604020202020204" pitchFamily="34" charset="0"/>
              </a:rPr>
              <a:t>Key Point:</a:t>
            </a:r>
            <a:r>
              <a:rPr kumimoji="0" lang="en-US" sz="2000" i="0" u="none" strike="noStrike" cap="none" normalizeH="0" dirty="0" smtClean="0">
                <a:ln>
                  <a:noFill/>
                </a:ln>
                <a:solidFill>
                  <a:schemeClr val="tx1"/>
                </a:solidFill>
                <a:effectLst/>
                <a:latin typeface="Arial" panose="020B0604020202020204" pitchFamily="34" charset="0"/>
              </a:rPr>
              <a:t> </a:t>
            </a:r>
            <a:r>
              <a:rPr kumimoji="0" lang="en-US" sz="2000" i="0" u="none" strike="noStrike" cap="none" normalizeH="0" baseline="0" dirty="0" smtClean="0">
                <a:ln>
                  <a:noFill/>
                </a:ln>
                <a:solidFill>
                  <a:schemeClr val="tx1"/>
                </a:solidFill>
                <a:effectLst/>
                <a:latin typeface="Arial" panose="020B0604020202020204" pitchFamily="34" charset="0"/>
              </a:rPr>
              <a:t>IPR reduces the risk associated with investing in innovation.</a:t>
            </a:r>
          </a:p>
        </p:txBody>
      </p:sp>
    </p:spTree>
    <p:extLst>
      <p:ext uri="{BB962C8B-B14F-4D97-AF65-F5344CB8AC3E}">
        <p14:creationId xmlns:p14="http://schemas.microsoft.com/office/powerpoint/2010/main" val="29808086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Provides Economic Benefits</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IPR can convert intellectual creations into valuable economic assets.</a:t>
            </a:r>
          </a:p>
          <a:p>
            <a:pPr marL="0" indent="0">
              <a:buNone/>
            </a:pPr>
            <a:r>
              <a:rPr lang="en-US" dirty="0"/>
              <a:t>Sources of Revenue</a:t>
            </a:r>
          </a:p>
          <a:p>
            <a:r>
              <a:rPr lang="en-US" dirty="0"/>
              <a:t>Direct sales </a:t>
            </a:r>
          </a:p>
          <a:p>
            <a:r>
              <a:rPr lang="en-US" dirty="0"/>
              <a:t>Licensing </a:t>
            </a:r>
          </a:p>
          <a:p>
            <a:r>
              <a:rPr lang="en-US" dirty="0"/>
              <a:t>Royalties </a:t>
            </a:r>
          </a:p>
          <a:p>
            <a:r>
              <a:rPr lang="en-US" dirty="0"/>
              <a:t>Technology transfer </a:t>
            </a:r>
          </a:p>
          <a:p>
            <a:r>
              <a:rPr lang="en-US" dirty="0"/>
              <a:t>Franchising </a:t>
            </a:r>
          </a:p>
          <a:p>
            <a:r>
              <a:rPr lang="en-US" dirty="0"/>
              <a:t>Assignment of rights </a:t>
            </a:r>
          </a:p>
          <a:p>
            <a:pPr marL="0" indent="0">
              <a:buNone/>
            </a:pPr>
            <a:r>
              <a:rPr lang="en-US" dirty="0"/>
              <a:t>Example</a:t>
            </a:r>
          </a:p>
          <a:p>
            <a:r>
              <a:rPr lang="en-US" dirty="0"/>
              <a:t>A company holding a patent may license its technology to another company and receive royalty payments.</a:t>
            </a:r>
          </a:p>
        </p:txBody>
      </p:sp>
    </p:spTree>
    <p:extLst>
      <p:ext uri="{BB962C8B-B14F-4D97-AF65-F5344CB8AC3E}">
        <p14:creationId xmlns:p14="http://schemas.microsoft.com/office/powerpoint/2010/main" val="61012544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Promotes Technology Transfer</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IPR facilitates the transfer of technologies between:</a:t>
            </a:r>
          </a:p>
          <a:p>
            <a:r>
              <a:rPr lang="en-US" dirty="0"/>
              <a:t>Universities </a:t>
            </a:r>
          </a:p>
          <a:p>
            <a:r>
              <a:rPr lang="en-US" dirty="0"/>
              <a:t>Research institutions </a:t>
            </a:r>
          </a:p>
          <a:p>
            <a:r>
              <a:rPr lang="en-US" dirty="0"/>
              <a:t>Startups </a:t>
            </a:r>
          </a:p>
          <a:p>
            <a:r>
              <a:rPr lang="en-US" dirty="0"/>
              <a:t>Industries </a:t>
            </a:r>
          </a:p>
          <a:p>
            <a:r>
              <a:rPr lang="en-US" dirty="0"/>
              <a:t>Government organizations </a:t>
            </a:r>
          </a:p>
          <a:p>
            <a:r>
              <a:rPr lang="en-US" dirty="0"/>
              <a:t>Multinational companies </a:t>
            </a:r>
          </a:p>
          <a:p>
            <a:pPr marL="0" indent="0">
              <a:buNone/>
            </a:pPr>
            <a:r>
              <a:rPr lang="en-US" dirty="0"/>
              <a:t>Example</a:t>
            </a:r>
          </a:p>
          <a:p>
            <a:r>
              <a:rPr lang="en-US" dirty="0"/>
              <a:t>A university develops a new renewable-energy technology.</a:t>
            </a:r>
          </a:p>
          <a:p>
            <a:r>
              <a:rPr lang="en-US" dirty="0"/>
              <a:t>It </a:t>
            </a:r>
            <a:r>
              <a:rPr lang="en-US" dirty="0" smtClean="0"/>
              <a:t>can: Patent </a:t>
            </a:r>
            <a:r>
              <a:rPr lang="en-US" dirty="0"/>
              <a:t>→ License → Industry → Commercial Product</a:t>
            </a:r>
          </a:p>
          <a:p>
            <a:r>
              <a:rPr lang="en-US" dirty="0"/>
              <a:t>This helps convert academic research into practical applications.</a:t>
            </a:r>
          </a:p>
        </p:txBody>
      </p:sp>
    </p:spTree>
    <p:extLst>
      <p:ext uri="{BB962C8B-B14F-4D97-AF65-F5344CB8AC3E}">
        <p14:creationId xmlns:p14="http://schemas.microsoft.com/office/powerpoint/2010/main" val="5660623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Supports </a:t>
            </a:r>
            <a:r>
              <a:rPr lang="en-IN" dirty="0" err="1"/>
              <a:t>Startups</a:t>
            </a:r>
            <a:r>
              <a:rPr lang="en-IN" dirty="0"/>
              <a:t> and Entrepreneurship</a:t>
            </a:r>
          </a:p>
        </p:txBody>
      </p:sp>
      <p:sp>
        <p:nvSpPr>
          <p:cNvPr id="3" name="Content Placeholder 2"/>
          <p:cNvSpPr>
            <a:spLocks noGrp="1"/>
          </p:cNvSpPr>
          <p:nvPr>
            <p:ph idx="1"/>
          </p:nvPr>
        </p:nvSpPr>
        <p:spPr>
          <a:xfrm>
            <a:off x="695960" y="1301749"/>
            <a:ext cx="10800000" cy="5197525"/>
          </a:xfrm>
        </p:spPr>
        <p:txBody>
          <a:bodyPr>
            <a:normAutofit fontScale="62500" lnSpcReduction="20000"/>
          </a:bodyPr>
          <a:lstStyle/>
          <a:p>
            <a:pPr marL="0" indent="0">
              <a:buNone/>
            </a:pPr>
            <a:r>
              <a:rPr lang="en-US" dirty="0"/>
              <a:t>IPR is particularly important for startups because intellectual assets can represent a significant portion of a startup's value.</a:t>
            </a:r>
          </a:p>
          <a:p>
            <a:pPr marL="0" indent="0">
              <a:buNone/>
            </a:pPr>
            <a:r>
              <a:rPr lang="en-US" dirty="0"/>
              <a:t>Startups can protect:</a:t>
            </a:r>
          </a:p>
          <a:p>
            <a:r>
              <a:rPr lang="en-US" dirty="0"/>
              <a:t>New technologies → Patent </a:t>
            </a:r>
          </a:p>
          <a:p>
            <a:r>
              <a:rPr lang="en-US" dirty="0"/>
              <a:t>Software → Copyright </a:t>
            </a:r>
          </a:p>
          <a:p>
            <a:r>
              <a:rPr lang="en-US" dirty="0"/>
              <a:t>Brand name → Trademark </a:t>
            </a:r>
          </a:p>
          <a:p>
            <a:r>
              <a:rPr lang="en-US" dirty="0"/>
              <a:t>Product appearance → Industrial Design </a:t>
            </a:r>
          </a:p>
          <a:p>
            <a:r>
              <a:rPr lang="en-US" dirty="0"/>
              <a:t>Confidential business information → Trade Secret </a:t>
            </a:r>
          </a:p>
          <a:p>
            <a:pPr marL="0" indent="0">
              <a:buNone/>
            </a:pPr>
            <a:r>
              <a:rPr lang="en-US" dirty="0"/>
              <a:t>Benefits</a:t>
            </a:r>
          </a:p>
          <a:p>
            <a:r>
              <a:rPr lang="en-US" dirty="0"/>
              <a:t>Attracts investors </a:t>
            </a:r>
          </a:p>
          <a:p>
            <a:r>
              <a:rPr lang="en-US" dirty="0"/>
              <a:t>Builds business value </a:t>
            </a:r>
          </a:p>
          <a:p>
            <a:r>
              <a:rPr lang="en-US" dirty="0"/>
              <a:t>Creates market differentiation </a:t>
            </a:r>
          </a:p>
          <a:p>
            <a:r>
              <a:rPr lang="en-US" dirty="0"/>
              <a:t>Supports licensing opportunities </a:t>
            </a:r>
          </a:p>
          <a:p>
            <a:r>
              <a:rPr lang="en-US" dirty="0"/>
              <a:t>Protects against copying</a:t>
            </a:r>
          </a:p>
        </p:txBody>
      </p:sp>
    </p:spTree>
    <p:extLst>
      <p:ext uri="{BB962C8B-B14F-4D97-AF65-F5344CB8AC3E}">
        <p14:creationId xmlns:p14="http://schemas.microsoft.com/office/powerpoint/2010/main" val="78646274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Protects Brand Reputation</a:t>
            </a:r>
          </a:p>
        </p:txBody>
      </p:sp>
      <p:sp>
        <p:nvSpPr>
          <p:cNvPr id="3" name="Content Placeholder 2"/>
          <p:cNvSpPr>
            <a:spLocks noGrp="1"/>
          </p:cNvSpPr>
          <p:nvPr>
            <p:ph idx="1"/>
          </p:nvPr>
        </p:nvSpPr>
        <p:spPr>
          <a:xfrm>
            <a:off x="695960" y="1080001"/>
            <a:ext cx="10800000" cy="5292664"/>
          </a:xfrm>
        </p:spPr>
        <p:txBody>
          <a:bodyPr>
            <a:normAutofit fontScale="70000" lnSpcReduction="20000"/>
          </a:bodyPr>
          <a:lstStyle/>
          <a:p>
            <a:pPr marL="0" indent="0">
              <a:buNone/>
            </a:pPr>
            <a:r>
              <a:rPr lang="en-US" b="1" dirty="0"/>
              <a:t>Trademark Protection</a:t>
            </a:r>
          </a:p>
          <a:p>
            <a:r>
              <a:rPr lang="en-US" dirty="0"/>
              <a:t>Trademarks help businesses protect their:</a:t>
            </a:r>
          </a:p>
          <a:p>
            <a:r>
              <a:rPr lang="en-US" dirty="0"/>
              <a:t>Brand names </a:t>
            </a:r>
          </a:p>
          <a:p>
            <a:r>
              <a:rPr lang="en-US" dirty="0"/>
              <a:t>Logos </a:t>
            </a:r>
          </a:p>
          <a:p>
            <a:r>
              <a:rPr lang="en-US" dirty="0"/>
              <a:t>Symbols </a:t>
            </a:r>
          </a:p>
          <a:p>
            <a:r>
              <a:rPr lang="en-US" dirty="0"/>
              <a:t>Product identities </a:t>
            </a:r>
          </a:p>
          <a:p>
            <a:pPr marL="0" indent="0">
              <a:buNone/>
            </a:pPr>
            <a:r>
              <a:rPr lang="en-US" b="1" dirty="0"/>
              <a:t>Benefits</a:t>
            </a:r>
          </a:p>
          <a:p>
            <a:r>
              <a:rPr lang="en-US" dirty="0"/>
              <a:t>Prevents consumer confusion. </a:t>
            </a:r>
          </a:p>
          <a:p>
            <a:r>
              <a:rPr lang="en-US" dirty="0"/>
              <a:t>Protects business goodwill. </a:t>
            </a:r>
          </a:p>
          <a:p>
            <a:r>
              <a:rPr lang="en-US" dirty="0"/>
              <a:t>Builds customer trust. </a:t>
            </a:r>
          </a:p>
          <a:p>
            <a:r>
              <a:rPr lang="en-US" dirty="0"/>
              <a:t>Supports long-term brand value. </a:t>
            </a:r>
          </a:p>
          <a:p>
            <a:pPr marL="0" indent="0">
              <a:buNone/>
            </a:pPr>
            <a:r>
              <a:rPr lang="en-US" b="1" dirty="0" smtClean="0"/>
              <a:t>Example: </a:t>
            </a:r>
            <a:r>
              <a:rPr lang="en-US" dirty="0" smtClean="0"/>
              <a:t>If </a:t>
            </a:r>
            <a:r>
              <a:rPr lang="en-US" dirty="0"/>
              <a:t>an unauthorized company uses a confusingly similar brand name, trademark law can provide remedies to the legitimate trademark owner.</a:t>
            </a:r>
          </a:p>
        </p:txBody>
      </p:sp>
    </p:spTree>
    <p:extLst>
      <p:ext uri="{BB962C8B-B14F-4D97-AF65-F5344CB8AC3E}">
        <p14:creationId xmlns:p14="http://schemas.microsoft.com/office/powerpoint/2010/main" val="397264382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Prevents Piracy and Counterfeiting</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IPR helps combat:</a:t>
            </a:r>
          </a:p>
          <a:p>
            <a:pPr marL="0" indent="0">
              <a:buNone/>
            </a:pPr>
            <a:r>
              <a:rPr lang="en-US" b="1" dirty="0"/>
              <a:t>Piracy</a:t>
            </a:r>
          </a:p>
          <a:p>
            <a:r>
              <a:rPr lang="en-US" dirty="0"/>
              <a:t>Unauthorized copying or distribution of protected creative works.</a:t>
            </a:r>
          </a:p>
          <a:p>
            <a:r>
              <a:rPr lang="en-US" dirty="0" smtClean="0"/>
              <a:t>Examples: Software piracy, Movie piracy, Music piracy, Unauthorized </a:t>
            </a:r>
            <a:r>
              <a:rPr lang="en-US" dirty="0"/>
              <a:t>copying of books </a:t>
            </a:r>
          </a:p>
          <a:p>
            <a:pPr marL="0" indent="0">
              <a:buNone/>
            </a:pPr>
            <a:r>
              <a:rPr lang="en-US" b="1" dirty="0"/>
              <a:t>Counterfeiting</a:t>
            </a:r>
          </a:p>
          <a:p>
            <a:r>
              <a:rPr lang="en-US" dirty="0"/>
              <a:t>Unauthorized imitation of branded products.</a:t>
            </a:r>
          </a:p>
          <a:p>
            <a:r>
              <a:rPr lang="en-US" dirty="0"/>
              <a:t>Examples:</a:t>
            </a:r>
          </a:p>
          <a:p>
            <a:r>
              <a:rPr lang="en-US" dirty="0"/>
              <a:t>Fake branded clothing </a:t>
            </a:r>
          </a:p>
          <a:p>
            <a:r>
              <a:rPr lang="en-US" dirty="0"/>
              <a:t>Fake electronics </a:t>
            </a:r>
          </a:p>
          <a:p>
            <a:r>
              <a:rPr lang="en-US" dirty="0"/>
              <a:t>Fake medicines </a:t>
            </a:r>
          </a:p>
          <a:p>
            <a:r>
              <a:rPr lang="en-US" dirty="0"/>
              <a:t>Fake consumer products </a:t>
            </a:r>
          </a:p>
          <a:p>
            <a:pPr marL="0" indent="0">
              <a:buNone/>
            </a:pPr>
            <a:r>
              <a:rPr lang="en-US" b="1" dirty="0"/>
              <a:t>IPR provides legal mechanisms to address such infringement.</a:t>
            </a:r>
          </a:p>
        </p:txBody>
      </p:sp>
    </p:spTree>
    <p:extLst>
      <p:ext uri="{BB962C8B-B14F-4D97-AF65-F5344CB8AC3E}">
        <p14:creationId xmlns:p14="http://schemas.microsoft.com/office/powerpoint/2010/main" val="338908634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IPR to Different Stakeholders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9908725"/>
              </p:ext>
            </p:extLst>
          </p:nvPr>
        </p:nvGraphicFramePr>
        <p:xfrm>
          <a:off x="695325" y="1301752"/>
          <a:ext cx="10801350" cy="4409730"/>
        </p:xfrm>
        <a:graphic>
          <a:graphicData uri="http://schemas.openxmlformats.org/drawingml/2006/table">
            <a:tbl>
              <a:tblPr firstRow="1" bandRow="1">
                <a:tableStyleId>{5C22544A-7EE6-4342-B048-85BDC9FD1C3A}</a:tableStyleId>
              </a:tblPr>
              <a:tblGrid>
                <a:gridCol w="5400675">
                  <a:extLst>
                    <a:ext uri="{9D8B030D-6E8A-4147-A177-3AD203B41FA5}">
                      <a16:colId xmlns:a16="http://schemas.microsoft.com/office/drawing/2014/main" val="20000"/>
                    </a:ext>
                  </a:extLst>
                </a:gridCol>
                <a:gridCol w="5400675">
                  <a:extLst>
                    <a:ext uri="{9D8B030D-6E8A-4147-A177-3AD203B41FA5}">
                      <a16:colId xmlns:a16="http://schemas.microsoft.com/office/drawing/2014/main" val="20001"/>
                    </a:ext>
                  </a:extLst>
                </a:gridCol>
              </a:tblGrid>
              <a:tr h="489970">
                <a:tc>
                  <a:txBody>
                    <a:bodyPr/>
                    <a:lstStyle/>
                    <a:p>
                      <a:pPr algn="ctr"/>
                      <a:r>
                        <a:rPr lang="en-IN" dirty="0"/>
                        <a:t>Stakeholder</a:t>
                      </a:r>
                    </a:p>
                  </a:txBody>
                  <a:tcPr anchor="ctr"/>
                </a:tc>
                <a:tc>
                  <a:txBody>
                    <a:bodyPr/>
                    <a:lstStyle/>
                    <a:p>
                      <a:pPr algn="ctr"/>
                      <a:r>
                        <a:rPr lang="en-IN" dirty="0"/>
                        <a:t>Benefits</a:t>
                      </a:r>
                    </a:p>
                  </a:txBody>
                  <a:tcPr anchor="ctr"/>
                </a:tc>
                <a:extLst>
                  <a:ext uri="{0D108BD9-81ED-4DB2-BD59-A6C34878D82A}">
                    <a16:rowId xmlns:a16="http://schemas.microsoft.com/office/drawing/2014/main" val="10000"/>
                  </a:ext>
                </a:extLst>
              </a:tr>
              <a:tr h="489970">
                <a:tc>
                  <a:txBody>
                    <a:bodyPr/>
                    <a:lstStyle/>
                    <a:p>
                      <a:r>
                        <a:rPr lang="en-IN" b="1"/>
                        <a:t>Inventors</a:t>
                      </a:r>
                      <a:endParaRPr lang="en-IN"/>
                    </a:p>
                  </a:txBody>
                  <a:tcPr anchor="ctr"/>
                </a:tc>
                <a:tc>
                  <a:txBody>
                    <a:bodyPr/>
                    <a:lstStyle/>
                    <a:p>
                      <a:r>
                        <a:rPr lang="en-IN"/>
                        <a:t>Recognition and commercialization</a:t>
                      </a:r>
                    </a:p>
                  </a:txBody>
                  <a:tcPr anchor="ctr"/>
                </a:tc>
                <a:extLst>
                  <a:ext uri="{0D108BD9-81ED-4DB2-BD59-A6C34878D82A}">
                    <a16:rowId xmlns:a16="http://schemas.microsoft.com/office/drawing/2014/main" val="10001"/>
                  </a:ext>
                </a:extLst>
              </a:tr>
              <a:tr h="489970">
                <a:tc>
                  <a:txBody>
                    <a:bodyPr/>
                    <a:lstStyle/>
                    <a:p>
                      <a:r>
                        <a:rPr lang="en-IN" b="1"/>
                        <a:t>Researchers</a:t>
                      </a:r>
                      <a:endParaRPr lang="en-IN"/>
                    </a:p>
                  </a:txBody>
                  <a:tcPr anchor="ctr"/>
                </a:tc>
                <a:tc>
                  <a:txBody>
                    <a:bodyPr/>
                    <a:lstStyle/>
                    <a:p>
                      <a:r>
                        <a:rPr lang="en-IN"/>
                        <a:t>Protection of research outcomes</a:t>
                      </a:r>
                    </a:p>
                  </a:txBody>
                  <a:tcPr anchor="ctr"/>
                </a:tc>
                <a:extLst>
                  <a:ext uri="{0D108BD9-81ED-4DB2-BD59-A6C34878D82A}">
                    <a16:rowId xmlns:a16="http://schemas.microsoft.com/office/drawing/2014/main" val="10002"/>
                  </a:ext>
                </a:extLst>
              </a:tr>
              <a:tr h="489970">
                <a:tc>
                  <a:txBody>
                    <a:bodyPr/>
                    <a:lstStyle/>
                    <a:p>
                      <a:r>
                        <a:rPr lang="en-IN" b="1"/>
                        <a:t>Businesses</a:t>
                      </a:r>
                      <a:endParaRPr lang="en-IN"/>
                    </a:p>
                  </a:txBody>
                  <a:tcPr anchor="ctr"/>
                </a:tc>
                <a:tc>
                  <a:txBody>
                    <a:bodyPr/>
                    <a:lstStyle/>
                    <a:p>
                      <a:r>
                        <a:rPr lang="en-IN"/>
                        <a:t>Competitive advantage</a:t>
                      </a:r>
                    </a:p>
                  </a:txBody>
                  <a:tcPr anchor="ctr"/>
                </a:tc>
                <a:extLst>
                  <a:ext uri="{0D108BD9-81ED-4DB2-BD59-A6C34878D82A}">
                    <a16:rowId xmlns:a16="http://schemas.microsoft.com/office/drawing/2014/main" val="10003"/>
                  </a:ext>
                </a:extLst>
              </a:tr>
              <a:tr h="489970">
                <a:tc>
                  <a:txBody>
                    <a:bodyPr/>
                    <a:lstStyle/>
                    <a:p>
                      <a:r>
                        <a:rPr lang="en-IN" b="1"/>
                        <a:t>Startups</a:t>
                      </a:r>
                      <a:endParaRPr lang="en-IN"/>
                    </a:p>
                  </a:txBody>
                  <a:tcPr anchor="ctr"/>
                </a:tc>
                <a:tc>
                  <a:txBody>
                    <a:bodyPr/>
                    <a:lstStyle/>
                    <a:p>
                      <a:r>
                        <a:rPr lang="en-IN"/>
                        <a:t>Investment and market differentiation</a:t>
                      </a:r>
                    </a:p>
                  </a:txBody>
                  <a:tcPr anchor="ctr"/>
                </a:tc>
                <a:extLst>
                  <a:ext uri="{0D108BD9-81ED-4DB2-BD59-A6C34878D82A}">
                    <a16:rowId xmlns:a16="http://schemas.microsoft.com/office/drawing/2014/main" val="10004"/>
                  </a:ext>
                </a:extLst>
              </a:tr>
              <a:tr h="489970">
                <a:tc>
                  <a:txBody>
                    <a:bodyPr/>
                    <a:lstStyle/>
                    <a:p>
                      <a:r>
                        <a:rPr lang="en-IN" b="1"/>
                        <a:t>Artists/Authors</a:t>
                      </a:r>
                      <a:endParaRPr lang="en-IN"/>
                    </a:p>
                  </a:txBody>
                  <a:tcPr anchor="ctr"/>
                </a:tc>
                <a:tc>
                  <a:txBody>
                    <a:bodyPr/>
                    <a:lstStyle/>
                    <a:p>
                      <a:r>
                        <a:rPr lang="en-IN"/>
                        <a:t>Protection and royalties</a:t>
                      </a:r>
                    </a:p>
                  </a:txBody>
                  <a:tcPr anchor="ctr"/>
                </a:tc>
                <a:extLst>
                  <a:ext uri="{0D108BD9-81ED-4DB2-BD59-A6C34878D82A}">
                    <a16:rowId xmlns:a16="http://schemas.microsoft.com/office/drawing/2014/main" val="10005"/>
                  </a:ext>
                </a:extLst>
              </a:tr>
              <a:tr h="489970">
                <a:tc>
                  <a:txBody>
                    <a:bodyPr/>
                    <a:lstStyle/>
                    <a:p>
                      <a:r>
                        <a:rPr lang="en-IN" b="1" dirty="0"/>
                        <a:t>Consumers</a:t>
                      </a:r>
                      <a:endParaRPr lang="en-IN" dirty="0"/>
                    </a:p>
                  </a:txBody>
                  <a:tcPr anchor="ctr"/>
                </a:tc>
                <a:tc>
                  <a:txBody>
                    <a:bodyPr/>
                    <a:lstStyle/>
                    <a:p>
                      <a:r>
                        <a:rPr lang="en-US"/>
                        <a:t>Brand authenticity and product differentiation</a:t>
                      </a:r>
                    </a:p>
                  </a:txBody>
                  <a:tcPr anchor="ctr"/>
                </a:tc>
                <a:extLst>
                  <a:ext uri="{0D108BD9-81ED-4DB2-BD59-A6C34878D82A}">
                    <a16:rowId xmlns:a16="http://schemas.microsoft.com/office/drawing/2014/main" val="10006"/>
                  </a:ext>
                </a:extLst>
              </a:tr>
              <a:tr h="489970">
                <a:tc>
                  <a:txBody>
                    <a:bodyPr/>
                    <a:lstStyle/>
                    <a:p>
                      <a:r>
                        <a:rPr lang="en-IN" b="1" dirty="0"/>
                        <a:t>Government</a:t>
                      </a:r>
                      <a:endParaRPr lang="en-IN" dirty="0"/>
                    </a:p>
                  </a:txBody>
                  <a:tcPr anchor="ctr"/>
                </a:tc>
                <a:tc>
                  <a:txBody>
                    <a:bodyPr/>
                    <a:lstStyle/>
                    <a:p>
                      <a:r>
                        <a:rPr lang="en-IN"/>
                        <a:t>Economic and technological development</a:t>
                      </a:r>
                    </a:p>
                  </a:txBody>
                  <a:tcPr anchor="ctr"/>
                </a:tc>
                <a:extLst>
                  <a:ext uri="{0D108BD9-81ED-4DB2-BD59-A6C34878D82A}">
                    <a16:rowId xmlns:a16="http://schemas.microsoft.com/office/drawing/2014/main" val="10007"/>
                  </a:ext>
                </a:extLst>
              </a:tr>
              <a:tr h="489970">
                <a:tc>
                  <a:txBody>
                    <a:bodyPr/>
                    <a:lstStyle/>
                    <a:p>
                      <a:r>
                        <a:rPr lang="en-IN" b="1"/>
                        <a:t>Society</a:t>
                      </a:r>
                      <a:endParaRPr lang="en-IN"/>
                    </a:p>
                  </a:txBody>
                  <a:tcPr anchor="ctr"/>
                </a:tc>
                <a:tc>
                  <a:txBody>
                    <a:bodyPr/>
                    <a:lstStyle/>
                    <a:p>
                      <a:r>
                        <a:rPr lang="en-IN" dirty="0"/>
                        <a:t>Innovation and knowledge advancement</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299125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a:xfrm>
            <a:off x="696000" y="1766570"/>
            <a:ext cx="10800000" cy="2646680"/>
          </a:xfrm>
        </p:spPr>
        <p:txBody>
          <a:bodyPr>
            <a:normAutofit/>
          </a:bodyPr>
          <a:lstStyle/>
          <a:p>
            <a:r>
              <a:rPr lang="en-IN" dirty="0"/>
              <a:t>IPR AUTHORITIES</a:t>
            </a:r>
            <a:endParaRPr lang="en-US" altLang="en-US" dirty="0"/>
          </a:p>
        </p:txBody>
      </p:sp>
    </p:spTree>
    <p:custDataLst>
      <p:tags r:id="rId1"/>
    </p:custDataLst>
    <p:extLst>
      <p:ext uri="{BB962C8B-B14F-4D97-AF65-F5344CB8AC3E}">
        <p14:creationId xmlns:p14="http://schemas.microsoft.com/office/powerpoint/2010/main" val="378258840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are IPR Authorities?</a:t>
            </a:r>
          </a:p>
        </p:txBody>
      </p:sp>
      <p:sp>
        <p:nvSpPr>
          <p:cNvPr id="3" name="Content Placeholder 2"/>
          <p:cNvSpPr>
            <a:spLocks noGrp="1"/>
          </p:cNvSpPr>
          <p:nvPr>
            <p:ph idx="1"/>
          </p:nvPr>
        </p:nvSpPr>
        <p:spPr>
          <a:xfrm>
            <a:off x="695960" y="1301749"/>
            <a:ext cx="5296877" cy="4873625"/>
          </a:xfrm>
        </p:spPr>
        <p:txBody>
          <a:bodyPr>
            <a:normAutofit fontScale="92500"/>
          </a:bodyPr>
          <a:lstStyle/>
          <a:p>
            <a:pPr marL="0" indent="0">
              <a:buNone/>
            </a:pPr>
            <a:r>
              <a:rPr lang="en-US" dirty="0"/>
              <a:t>IPR authorities are organizations and government bodies responsible for the administration, registration, examination, protection, and enforcement-related aspects of intellectual property rights.</a:t>
            </a:r>
          </a:p>
          <a:p>
            <a:pPr marL="0" indent="0">
              <a:buNone/>
            </a:pPr>
            <a:r>
              <a:rPr lang="en-US" dirty="0"/>
              <a:t>They operate at:</a:t>
            </a:r>
          </a:p>
          <a:p>
            <a:pPr marL="0" indent="0">
              <a:buNone/>
            </a:pPr>
            <a:r>
              <a:rPr lang="en-US" dirty="0"/>
              <a:t>International Level</a:t>
            </a:r>
          </a:p>
          <a:p>
            <a:r>
              <a:rPr lang="en-US" dirty="0"/>
              <a:t>WIPO </a:t>
            </a:r>
          </a:p>
          <a:p>
            <a:r>
              <a:rPr lang="en-US" dirty="0"/>
              <a:t>WTO/TRIPS framework </a:t>
            </a:r>
          </a:p>
        </p:txBody>
      </p:sp>
      <p:sp>
        <p:nvSpPr>
          <p:cNvPr id="4" name="Content Placeholder 2"/>
          <p:cNvSpPr txBox="1">
            <a:spLocks/>
          </p:cNvSpPr>
          <p:nvPr/>
        </p:nvSpPr>
        <p:spPr>
          <a:xfrm>
            <a:off x="6095960" y="1301749"/>
            <a:ext cx="5296877" cy="4873625"/>
          </a:xfrm>
          <a:prstGeom prst="rect">
            <a:avLst/>
          </a:prstGeom>
        </p:spPr>
        <p:txBody>
          <a:bodyPr vert="horz" wrap="square" lIns="0" tIns="0" rIns="0" bIns="0" rtlCol="0">
            <a:normAutofit fontScale="92500" lnSpcReduction="20000"/>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dirty="0" smtClean="0"/>
              <a:t>National Level – India</a:t>
            </a:r>
          </a:p>
          <a:p>
            <a:r>
              <a:rPr lang="en-US" dirty="0" smtClean="0"/>
              <a:t>CGPDTM </a:t>
            </a:r>
          </a:p>
          <a:p>
            <a:r>
              <a:rPr lang="en-US" dirty="0" smtClean="0"/>
              <a:t>Indian Patent Office </a:t>
            </a:r>
          </a:p>
          <a:p>
            <a:r>
              <a:rPr lang="en-US" dirty="0" smtClean="0"/>
              <a:t>Trade Marks Registry </a:t>
            </a:r>
          </a:p>
          <a:p>
            <a:r>
              <a:rPr lang="en-US" dirty="0" smtClean="0"/>
              <a:t>Designs Wing </a:t>
            </a:r>
          </a:p>
          <a:p>
            <a:r>
              <a:rPr lang="en-US" dirty="0" smtClean="0"/>
              <a:t>GI Registry </a:t>
            </a:r>
          </a:p>
          <a:p>
            <a:r>
              <a:rPr lang="en-US" dirty="0" smtClean="0"/>
              <a:t>Copyright Office </a:t>
            </a:r>
          </a:p>
          <a:p>
            <a:r>
              <a:rPr lang="en-US" dirty="0" smtClean="0"/>
              <a:t>IPAB was formerly relevant, but its functions were transferred following its abolition in 2021.</a:t>
            </a:r>
            <a:endParaRPr lang="en-US" dirty="0"/>
          </a:p>
        </p:txBody>
      </p:sp>
    </p:spTree>
    <p:extLst>
      <p:ext uri="{BB962C8B-B14F-4D97-AF65-F5344CB8AC3E}">
        <p14:creationId xmlns:p14="http://schemas.microsoft.com/office/powerpoint/2010/main" val="70349301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World Intellectual Property Organization (WIPO)</a:t>
            </a:r>
          </a:p>
        </p:txBody>
      </p:sp>
      <p:sp>
        <p:nvSpPr>
          <p:cNvPr id="3" name="Content Placeholder 2"/>
          <p:cNvSpPr>
            <a:spLocks noGrp="1"/>
          </p:cNvSpPr>
          <p:nvPr>
            <p:ph idx="1"/>
          </p:nvPr>
        </p:nvSpPr>
        <p:spPr/>
        <p:txBody>
          <a:bodyPr>
            <a:normAutofit/>
          </a:bodyPr>
          <a:lstStyle/>
          <a:p>
            <a:r>
              <a:rPr lang="en-US" dirty="0" smtClean="0"/>
              <a:t>Established: 1967</a:t>
            </a:r>
            <a:endParaRPr lang="en-US" dirty="0"/>
          </a:p>
          <a:p>
            <a:r>
              <a:rPr lang="en-US" dirty="0" smtClean="0"/>
              <a:t>Headquarters: Geneva</a:t>
            </a:r>
            <a:r>
              <a:rPr lang="en-US" dirty="0"/>
              <a:t>, Switzerland</a:t>
            </a:r>
          </a:p>
          <a:p>
            <a:r>
              <a:rPr lang="en-US" dirty="0" smtClean="0"/>
              <a:t>Status: Specialized </a:t>
            </a:r>
            <a:r>
              <a:rPr lang="en-US" dirty="0"/>
              <a:t>agency of the United Nations</a:t>
            </a:r>
          </a:p>
          <a:p>
            <a:r>
              <a:rPr lang="en-US" dirty="0"/>
              <a:t>Main </a:t>
            </a:r>
            <a:r>
              <a:rPr lang="en-US" dirty="0" smtClean="0"/>
              <a:t>Objective: To </a:t>
            </a:r>
            <a:r>
              <a:rPr lang="en-US" dirty="0"/>
              <a:t>promote the protection of intellectual property and facilitate international cooperation in the field of IP.</a:t>
            </a:r>
          </a:p>
        </p:txBody>
      </p:sp>
    </p:spTree>
    <p:extLst>
      <p:ext uri="{BB962C8B-B14F-4D97-AF65-F5344CB8AC3E}">
        <p14:creationId xmlns:p14="http://schemas.microsoft.com/office/powerpoint/2010/main" val="78854792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Functions of WIPO</a:t>
            </a:r>
          </a:p>
        </p:txBody>
      </p:sp>
      <p:sp>
        <p:nvSpPr>
          <p:cNvPr id="3" name="Content Placeholder 2"/>
          <p:cNvSpPr>
            <a:spLocks noGrp="1"/>
          </p:cNvSpPr>
          <p:nvPr>
            <p:ph idx="1"/>
          </p:nvPr>
        </p:nvSpPr>
        <p:spPr/>
        <p:txBody>
          <a:bodyPr>
            <a:normAutofit fontScale="77500" lnSpcReduction="20000"/>
          </a:bodyPr>
          <a:lstStyle/>
          <a:p>
            <a:r>
              <a:rPr lang="en-IN" dirty="0" smtClean="0"/>
              <a:t>Develops </a:t>
            </a:r>
            <a:r>
              <a:rPr lang="en-IN" dirty="0"/>
              <a:t>international IP frameworks. </a:t>
            </a:r>
          </a:p>
          <a:p>
            <a:r>
              <a:rPr lang="en-IN" dirty="0"/>
              <a:t>Administers international IP treaties and systems. </a:t>
            </a:r>
          </a:p>
          <a:p>
            <a:r>
              <a:rPr lang="en-IN" dirty="0"/>
              <a:t>Provides IP-related information and training. </a:t>
            </a:r>
          </a:p>
          <a:p>
            <a:r>
              <a:rPr lang="en-IN" dirty="0"/>
              <a:t>Supports developing countries in strengthening IP systems. </a:t>
            </a:r>
          </a:p>
          <a:p>
            <a:r>
              <a:rPr lang="en-IN" dirty="0"/>
              <a:t>Facilitates international cooperation. </a:t>
            </a:r>
          </a:p>
          <a:p>
            <a:r>
              <a:rPr lang="en-IN" dirty="0"/>
              <a:t>Provides mechanisms for certain IP disputes and domain-name disputes. </a:t>
            </a:r>
          </a:p>
          <a:p>
            <a:r>
              <a:rPr lang="en-IN" dirty="0"/>
              <a:t>Promotes innovation and creativity globally. </a:t>
            </a:r>
          </a:p>
          <a:p>
            <a:pPr marL="0" indent="0">
              <a:buNone/>
            </a:pPr>
            <a:r>
              <a:rPr lang="en-IN" b="1" dirty="0"/>
              <a:t>Important WIPO-administered systems include:</a:t>
            </a:r>
          </a:p>
          <a:p>
            <a:r>
              <a:rPr lang="en-IN" dirty="0"/>
              <a:t>PCT – Patent Cooperation Treaty </a:t>
            </a:r>
          </a:p>
          <a:p>
            <a:r>
              <a:rPr lang="en-IN" dirty="0"/>
              <a:t>Madrid System – International trademark registration </a:t>
            </a:r>
          </a:p>
          <a:p>
            <a:r>
              <a:rPr lang="en-IN" dirty="0"/>
              <a:t>Hague System – International registration of industrial designs</a:t>
            </a:r>
          </a:p>
        </p:txBody>
      </p:sp>
    </p:spTree>
    <p:extLst>
      <p:ext uri="{BB962C8B-B14F-4D97-AF65-F5344CB8AC3E}">
        <p14:creationId xmlns:p14="http://schemas.microsoft.com/office/powerpoint/2010/main" val="399817628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World Trade Organization (WTO) and TRIPS</a:t>
            </a:r>
            <a:endParaRPr lang="en-IN" dirty="0"/>
          </a:p>
        </p:txBody>
      </p:sp>
      <p:sp>
        <p:nvSpPr>
          <p:cNvPr id="3" name="Content Placeholder 2"/>
          <p:cNvSpPr>
            <a:spLocks noGrp="1"/>
          </p:cNvSpPr>
          <p:nvPr>
            <p:ph idx="1"/>
          </p:nvPr>
        </p:nvSpPr>
        <p:spPr/>
        <p:txBody>
          <a:bodyPr>
            <a:normAutofit/>
          </a:bodyPr>
          <a:lstStyle/>
          <a:p>
            <a:pPr marL="0" indent="0">
              <a:buNone/>
            </a:pPr>
            <a:r>
              <a:rPr lang="en-US" dirty="0"/>
              <a:t>WTO</a:t>
            </a:r>
          </a:p>
          <a:p>
            <a:r>
              <a:rPr lang="en-US" dirty="0"/>
              <a:t>The World Trade Organization administers the international trade framework that includes the TRIPS Agreement.</a:t>
            </a:r>
          </a:p>
          <a:p>
            <a:pPr marL="0" indent="0">
              <a:buNone/>
            </a:pPr>
            <a:r>
              <a:rPr lang="en-US" dirty="0"/>
              <a:t>TRIPS</a:t>
            </a:r>
          </a:p>
          <a:p>
            <a:r>
              <a:rPr lang="en-US" dirty="0"/>
              <a:t>Trade-Related Aspects of Intellectual Property Rights</a:t>
            </a:r>
          </a:p>
          <a:p>
            <a:r>
              <a:rPr lang="en-US" dirty="0"/>
              <a:t>Came into effect </a:t>
            </a:r>
            <a:r>
              <a:rPr lang="en-US" dirty="0" smtClean="0"/>
              <a:t>in: 1995</a:t>
            </a:r>
            <a:endParaRPr lang="en-US" dirty="0"/>
          </a:p>
          <a:p>
            <a:r>
              <a:rPr lang="en-US" dirty="0"/>
              <a:t>TRIPS establishes minimum standards of IP protection and enforcement for WTO members.</a:t>
            </a:r>
          </a:p>
          <a:p>
            <a:endParaRPr lang="en-IN" dirty="0"/>
          </a:p>
        </p:txBody>
      </p:sp>
    </p:spTree>
    <p:extLst>
      <p:ext uri="{BB962C8B-B14F-4D97-AF65-F5344CB8AC3E}">
        <p14:creationId xmlns:p14="http://schemas.microsoft.com/office/powerpoint/2010/main" val="402665499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Does TRIPS Cover?</a:t>
            </a:r>
          </a:p>
        </p:txBody>
      </p:sp>
      <p:sp>
        <p:nvSpPr>
          <p:cNvPr id="3" name="Content Placeholder 2"/>
          <p:cNvSpPr>
            <a:spLocks noGrp="1"/>
          </p:cNvSpPr>
          <p:nvPr>
            <p:ph idx="1"/>
          </p:nvPr>
        </p:nvSpPr>
        <p:spPr>
          <a:xfrm>
            <a:off x="695960" y="1301749"/>
            <a:ext cx="5156200" cy="4873625"/>
          </a:xfrm>
        </p:spPr>
        <p:txBody>
          <a:bodyPr>
            <a:normAutofit lnSpcReduction="10000"/>
          </a:bodyPr>
          <a:lstStyle/>
          <a:p>
            <a:pPr marL="0" indent="0">
              <a:buNone/>
            </a:pPr>
            <a:r>
              <a:rPr lang="en-US" dirty="0"/>
              <a:t>TRIPS covers:</a:t>
            </a:r>
          </a:p>
          <a:p>
            <a:r>
              <a:rPr lang="en-US" dirty="0"/>
              <a:t>Copyright and related rights </a:t>
            </a:r>
          </a:p>
          <a:p>
            <a:r>
              <a:rPr lang="en-US" dirty="0"/>
              <a:t>Trademarks </a:t>
            </a:r>
          </a:p>
          <a:p>
            <a:r>
              <a:rPr lang="en-US" dirty="0"/>
              <a:t>Geographical indications </a:t>
            </a:r>
          </a:p>
          <a:p>
            <a:r>
              <a:rPr lang="en-US" dirty="0"/>
              <a:t>Industrial designs </a:t>
            </a:r>
          </a:p>
          <a:p>
            <a:r>
              <a:rPr lang="en-US" dirty="0"/>
              <a:t>Patents </a:t>
            </a:r>
          </a:p>
          <a:p>
            <a:r>
              <a:rPr lang="en-US" dirty="0"/>
              <a:t>Layout-designs of integrated circuits </a:t>
            </a:r>
          </a:p>
          <a:p>
            <a:r>
              <a:rPr lang="en-US" dirty="0"/>
              <a:t>Undisclosed information/trade secrets </a:t>
            </a:r>
          </a:p>
        </p:txBody>
      </p:sp>
      <p:sp>
        <p:nvSpPr>
          <p:cNvPr id="4" name="Content Placeholder 2"/>
          <p:cNvSpPr txBox="1">
            <a:spLocks/>
          </p:cNvSpPr>
          <p:nvPr/>
        </p:nvSpPr>
        <p:spPr>
          <a:xfrm>
            <a:off x="5852160" y="1301748"/>
            <a:ext cx="5156200"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dirty="0" smtClean="0"/>
              <a:t>Importance</a:t>
            </a:r>
          </a:p>
          <a:p>
            <a:r>
              <a:rPr lang="en-US" dirty="0" smtClean="0"/>
              <a:t>Establishes minimum international standards. </a:t>
            </a:r>
          </a:p>
          <a:p>
            <a:r>
              <a:rPr lang="en-US" dirty="0" smtClean="0"/>
              <a:t>Connects IPR with international trade. </a:t>
            </a:r>
          </a:p>
          <a:p>
            <a:r>
              <a:rPr lang="en-US" dirty="0" smtClean="0"/>
              <a:t>Provides a framework for enforcement. </a:t>
            </a:r>
          </a:p>
          <a:p>
            <a:r>
              <a:rPr lang="en-US" dirty="0" smtClean="0"/>
              <a:t>Promotes harmonization of national IP laws. </a:t>
            </a:r>
            <a:endParaRPr lang="en-US" dirty="0"/>
          </a:p>
        </p:txBody>
      </p:sp>
    </p:spTree>
    <p:extLst>
      <p:ext uri="{BB962C8B-B14F-4D97-AF65-F5344CB8AC3E}">
        <p14:creationId xmlns:p14="http://schemas.microsoft.com/office/powerpoint/2010/main" val="265558493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IPR Authorities in India</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The major authorities responsible for IPR administration in India include:</a:t>
            </a:r>
          </a:p>
          <a:p>
            <a:pPr marL="0" indent="0" algn="ctr">
              <a:buNone/>
            </a:pPr>
            <a:r>
              <a:rPr lang="en-US" dirty="0"/>
              <a:t>Department for Promotion of Industry and Internal Trade (DPIIT)</a:t>
            </a:r>
          </a:p>
          <a:p>
            <a:pPr marL="0" indent="0" algn="ctr">
              <a:buNone/>
            </a:pPr>
            <a:r>
              <a:rPr lang="en-US" dirty="0" smtClean="0"/>
              <a:t>↓</a:t>
            </a:r>
            <a:endParaRPr lang="en-US" dirty="0"/>
          </a:p>
          <a:p>
            <a:pPr marL="0" indent="0" algn="ctr">
              <a:buNone/>
            </a:pPr>
            <a:r>
              <a:rPr lang="en-US" dirty="0"/>
              <a:t>Office of the Controller General of Patents, Designs &amp; Trade Marks (CGPDTM)</a:t>
            </a:r>
          </a:p>
          <a:p>
            <a:pPr marL="0" indent="0" algn="ctr">
              <a:buNone/>
            </a:pPr>
            <a:r>
              <a:rPr lang="en-US" dirty="0"/>
              <a:t>↓</a:t>
            </a:r>
          </a:p>
          <a:p>
            <a:pPr marL="0" indent="0" algn="ctr">
              <a:buNone/>
            </a:pPr>
            <a:r>
              <a:rPr lang="en-US" dirty="0"/>
              <a:t>IP Offices</a:t>
            </a:r>
          </a:p>
          <a:p>
            <a:r>
              <a:rPr lang="en-US" dirty="0"/>
              <a:t>Patent Office </a:t>
            </a:r>
          </a:p>
          <a:p>
            <a:r>
              <a:rPr lang="en-US" dirty="0"/>
              <a:t>Trade Marks Registry </a:t>
            </a:r>
          </a:p>
          <a:p>
            <a:r>
              <a:rPr lang="en-US" dirty="0"/>
              <a:t>Designs Wing </a:t>
            </a:r>
          </a:p>
          <a:p>
            <a:r>
              <a:rPr lang="en-US" dirty="0"/>
              <a:t>Geographical Indications Registry </a:t>
            </a:r>
          </a:p>
          <a:p>
            <a:pPr marL="0" indent="0">
              <a:buNone/>
            </a:pPr>
            <a:r>
              <a:rPr lang="en-US" dirty="0"/>
              <a:t>Other Major </a:t>
            </a:r>
            <a:r>
              <a:rPr lang="en-US" dirty="0" smtClean="0"/>
              <a:t>Authority: Copyright </a:t>
            </a:r>
            <a:r>
              <a:rPr lang="en-US" dirty="0"/>
              <a:t>Office</a:t>
            </a:r>
          </a:p>
          <a:p>
            <a:endParaRPr lang="en-IN" dirty="0"/>
          </a:p>
        </p:txBody>
      </p:sp>
    </p:spTree>
    <p:extLst>
      <p:ext uri="{BB962C8B-B14F-4D97-AF65-F5344CB8AC3E}">
        <p14:creationId xmlns:p14="http://schemas.microsoft.com/office/powerpoint/2010/main" val="386629425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CGPDTM</a:t>
            </a:r>
          </a:p>
        </p:txBody>
      </p:sp>
      <p:sp>
        <p:nvSpPr>
          <p:cNvPr id="3" name="Content Placeholder 2"/>
          <p:cNvSpPr>
            <a:spLocks noGrp="1"/>
          </p:cNvSpPr>
          <p:nvPr>
            <p:ph idx="1"/>
          </p:nvPr>
        </p:nvSpPr>
        <p:spPr>
          <a:xfrm>
            <a:off x="695960" y="1301749"/>
            <a:ext cx="5339080" cy="4873625"/>
          </a:xfrm>
        </p:spPr>
        <p:txBody>
          <a:bodyPr>
            <a:normAutofit lnSpcReduction="10000"/>
          </a:bodyPr>
          <a:lstStyle/>
          <a:p>
            <a:pPr marL="0" indent="0">
              <a:buNone/>
            </a:pPr>
            <a:r>
              <a:rPr lang="en-US" dirty="0"/>
              <a:t>Controller General of Patents, Designs and Trade Marks</a:t>
            </a:r>
          </a:p>
          <a:p>
            <a:r>
              <a:rPr lang="en-US" dirty="0"/>
              <a:t>The CGPDTM, under DPIIT, administers India's IP systems relating primarily to:</a:t>
            </a:r>
          </a:p>
          <a:p>
            <a:r>
              <a:rPr lang="en-US" dirty="0"/>
              <a:t>Patents </a:t>
            </a:r>
          </a:p>
          <a:p>
            <a:r>
              <a:rPr lang="en-US" dirty="0"/>
              <a:t>Designs </a:t>
            </a:r>
          </a:p>
          <a:p>
            <a:r>
              <a:rPr lang="en-US" dirty="0"/>
              <a:t>Trade Marks </a:t>
            </a:r>
          </a:p>
          <a:p>
            <a:r>
              <a:rPr lang="en-US" dirty="0"/>
              <a:t>Geographical Indications </a:t>
            </a:r>
          </a:p>
          <a:p>
            <a:endParaRPr lang="en-IN" dirty="0"/>
          </a:p>
        </p:txBody>
      </p:sp>
      <p:sp>
        <p:nvSpPr>
          <p:cNvPr id="4" name="Content Placeholder 2"/>
          <p:cNvSpPr txBox="1">
            <a:spLocks/>
          </p:cNvSpPr>
          <p:nvPr/>
        </p:nvSpPr>
        <p:spPr>
          <a:xfrm>
            <a:off x="6156880" y="1301749"/>
            <a:ext cx="5339080"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dirty="0" smtClean="0"/>
              <a:t>Major Functions</a:t>
            </a:r>
          </a:p>
          <a:p>
            <a:r>
              <a:rPr lang="en-US" dirty="0" smtClean="0"/>
              <a:t>Examination of applications </a:t>
            </a:r>
          </a:p>
          <a:p>
            <a:r>
              <a:rPr lang="en-US" dirty="0" smtClean="0"/>
              <a:t>Registration/grant of IP rights </a:t>
            </a:r>
          </a:p>
          <a:p>
            <a:r>
              <a:rPr lang="en-US" dirty="0" smtClean="0"/>
              <a:t>Maintaining IP records </a:t>
            </a:r>
          </a:p>
          <a:p>
            <a:r>
              <a:rPr lang="en-US" dirty="0" smtClean="0"/>
              <a:t>Publication of IP information </a:t>
            </a:r>
          </a:p>
          <a:p>
            <a:r>
              <a:rPr lang="en-US" dirty="0" smtClean="0"/>
              <a:t>Supporting administration and awareness</a:t>
            </a:r>
          </a:p>
          <a:p>
            <a:endParaRPr lang="en-IN" dirty="0"/>
          </a:p>
        </p:txBody>
      </p:sp>
    </p:spTree>
    <p:extLst>
      <p:ext uri="{BB962C8B-B14F-4D97-AF65-F5344CB8AC3E}">
        <p14:creationId xmlns:p14="http://schemas.microsoft.com/office/powerpoint/2010/main" val="293471070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Indian Patent Office</a:t>
            </a:r>
          </a:p>
        </p:txBody>
      </p:sp>
      <p:sp>
        <p:nvSpPr>
          <p:cNvPr id="3" name="Content Placeholder 2"/>
          <p:cNvSpPr>
            <a:spLocks noGrp="1"/>
          </p:cNvSpPr>
          <p:nvPr>
            <p:ph idx="1"/>
          </p:nvPr>
        </p:nvSpPr>
        <p:spPr>
          <a:xfrm>
            <a:off x="695960" y="1301749"/>
            <a:ext cx="5071794" cy="4873625"/>
          </a:xfrm>
        </p:spPr>
        <p:txBody>
          <a:bodyPr>
            <a:normAutofit fontScale="85000" lnSpcReduction="10000"/>
          </a:bodyPr>
          <a:lstStyle/>
          <a:p>
            <a:pPr marL="0" indent="0">
              <a:buNone/>
            </a:pPr>
            <a:r>
              <a:rPr lang="en-US" dirty="0"/>
              <a:t>The </a:t>
            </a:r>
            <a:r>
              <a:rPr lang="en-US" b="1" dirty="0"/>
              <a:t>Indian Patent Office</a:t>
            </a:r>
            <a:r>
              <a:rPr lang="en-US" dirty="0"/>
              <a:t> administers the patent system in India.</a:t>
            </a:r>
          </a:p>
          <a:p>
            <a:pPr marL="0" indent="0">
              <a:buNone/>
            </a:pPr>
            <a:r>
              <a:rPr lang="en-US" b="1" dirty="0"/>
              <a:t>Major functions</a:t>
            </a:r>
          </a:p>
          <a:p>
            <a:r>
              <a:rPr lang="en-US" dirty="0"/>
              <a:t>Receives patent applications. </a:t>
            </a:r>
          </a:p>
          <a:p>
            <a:r>
              <a:rPr lang="en-US" dirty="0"/>
              <a:t>Conducts examination. </a:t>
            </a:r>
          </a:p>
          <a:p>
            <a:r>
              <a:rPr lang="en-US" dirty="0"/>
              <a:t>Publishes patent applications. </a:t>
            </a:r>
          </a:p>
          <a:p>
            <a:r>
              <a:rPr lang="en-US" dirty="0"/>
              <a:t>Handles hearings and related proceedings. </a:t>
            </a:r>
          </a:p>
          <a:p>
            <a:r>
              <a:rPr lang="en-US" dirty="0"/>
              <a:t>Grants patents where statutory requirements are satisfied. </a:t>
            </a:r>
          </a:p>
          <a:p>
            <a:r>
              <a:rPr lang="en-US" dirty="0"/>
              <a:t>Maintains patent records. </a:t>
            </a:r>
          </a:p>
        </p:txBody>
      </p:sp>
      <p:sp>
        <p:nvSpPr>
          <p:cNvPr id="4" name="Content Placeholder 2"/>
          <p:cNvSpPr txBox="1">
            <a:spLocks/>
          </p:cNvSpPr>
          <p:nvPr/>
        </p:nvSpPr>
        <p:spPr>
          <a:xfrm>
            <a:off x="6095960" y="1301748"/>
            <a:ext cx="5071794"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b="1" dirty="0" smtClean="0"/>
              <a:t>Patent Offices</a:t>
            </a:r>
          </a:p>
          <a:p>
            <a:r>
              <a:rPr lang="en-US" dirty="0" smtClean="0"/>
              <a:t>Major patent office locations include:</a:t>
            </a:r>
          </a:p>
          <a:p>
            <a:r>
              <a:rPr lang="en-US" dirty="0" smtClean="0"/>
              <a:t>Delhi </a:t>
            </a:r>
          </a:p>
          <a:p>
            <a:r>
              <a:rPr lang="en-US" dirty="0" smtClean="0"/>
              <a:t>Mumbai </a:t>
            </a:r>
          </a:p>
          <a:p>
            <a:r>
              <a:rPr lang="en-US" dirty="0" smtClean="0"/>
              <a:t>Kolkata </a:t>
            </a:r>
          </a:p>
          <a:p>
            <a:r>
              <a:rPr lang="en-US" dirty="0" smtClean="0"/>
              <a:t>Chennai</a:t>
            </a:r>
            <a:endParaRPr lang="en-US" dirty="0"/>
          </a:p>
        </p:txBody>
      </p:sp>
    </p:spTree>
    <p:extLst>
      <p:ext uri="{BB962C8B-B14F-4D97-AF65-F5344CB8AC3E}">
        <p14:creationId xmlns:p14="http://schemas.microsoft.com/office/powerpoint/2010/main" val="250013617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Trade Marks Registry</a:t>
            </a:r>
          </a:p>
        </p:txBody>
      </p:sp>
      <p:sp>
        <p:nvSpPr>
          <p:cNvPr id="3" name="Content Placeholder 2"/>
          <p:cNvSpPr>
            <a:spLocks noGrp="1"/>
          </p:cNvSpPr>
          <p:nvPr>
            <p:ph idx="1"/>
          </p:nvPr>
        </p:nvSpPr>
        <p:spPr>
          <a:xfrm>
            <a:off x="695960" y="1301749"/>
            <a:ext cx="5015523" cy="4873625"/>
          </a:xfrm>
        </p:spPr>
        <p:txBody>
          <a:bodyPr>
            <a:normAutofit fontScale="92500" lnSpcReduction="20000"/>
          </a:bodyPr>
          <a:lstStyle/>
          <a:p>
            <a:pPr marL="0" indent="0">
              <a:buNone/>
            </a:pPr>
            <a:r>
              <a:rPr lang="en-US" dirty="0"/>
              <a:t>The </a:t>
            </a:r>
            <a:r>
              <a:rPr lang="en-US" b="1" dirty="0"/>
              <a:t>Trade Marks Registry</a:t>
            </a:r>
            <a:r>
              <a:rPr lang="en-US" dirty="0"/>
              <a:t> administers trademark registration in India.</a:t>
            </a:r>
          </a:p>
          <a:p>
            <a:pPr marL="0" indent="0">
              <a:buNone/>
            </a:pPr>
            <a:r>
              <a:rPr lang="en-US" b="1" dirty="0"/>
              <a:t>Functions</a:t>
            </a:r>
          </a:p>
          <a:p>
            <a:r>
              <a:rPr lang="en-US" dirty="0"/>
              <a:t>Receives trademark applications. </a:t>
            </a:r>
          </a:p>
          <a:p>
            <a:r>
              <a:rPr lang="en-US" dirty="0"/>
              <a:t>Examines applications. </a:t>
            </a:r>
          </a:p>
          <a:p>
            <a:r>
              <a:rPr lang="en-US" dirty="0"/>
              <a:t>Publishes accepted marks where required. </a:t>
            </a:r>
          </a:p>
          <a:p>
            <a:r>
              <a:rPr lang="en-US" dirty="0"/>
              <a:t>Handles opposition proceedings. </a:t>
            </a:r>
          </a:p>
          <a:p>
            <a:r>
              <a:rPr lang="en-US" dirty="0"/>
              <a:t>Registers trademarks. </a:t>
            </a:r>
          </a:p>
          <a:p>
            <a:r>
              <a:rPr lang="en-US" dirty="0"/>
              <a:t>Maintains trademark records. </a:t>
            </a:r>
          </a:p>
        </p:txBody>
      </p:sp>
      <p:sp>
        <p:nvSpPr>
          <p:cNvPr id="4" name="Content Placeholder 2"/>
          <p:cNvSpPr txBox="1">
            <a:spLocks/>
          </p:cNvSpPr>
          <p:nvPr/>
        </p:nvSpPr>
        <p:spPr>
          <a:xfrm>
            <a:off x="6095960" y="1301749"/>
            <a:ext cx="5015523"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b="1" dirty="0" smtClean="0"/>
              <a:t>Protects</a:t>
            </a:r>
          </a:p>
          <a:p>
            <a:r>
              <a:rPr lang="en-US" dirty="0" smtClean="0"/>
              <a:t>Brand names </a:t>
            </a:r>
          </a:p>
          <a:p>
            <a:r>
              <a:rPr lang="en-US" dirty="0" smtClean="0"/>
              <a:t>Logos </a:t>
            </a:r>
          </a:p>
          <a:p>
            <a:r>
              <a:rPr lang="en-US" dirty="0" smtClean="0"/>
              <a:t>Symbols </a:t>
            </a:r>
          </a:p>
          <a:p>
            <a:r>
              <a:rPr lang="en-US" dirty="0" smtClean="0"/>
              <a:t>Service marks </a:t>
            </a:r>
          </a:p>
          <a:p>
            <a:r>
              <a:rPr lang="en-US" dirty="0" smtClean="0"/>
              <a:t>Other eligible trademarks</a:t>
            </a:r>
            <a:endParaRPr lang="en-US" dirty="0"/>
          </a:p>
        </p:txBody>
      </p:sp>
    </p:spTree>
    <p:extLst>
      <p:ext uri="{BB962C8B-B14F-4D97-AF65-F5344CB8AC3E}">
        <p14:creationId xmlns:p14="http://schemas.microsoft.com/office/powerpoint/2010/main" val="122120083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Designs Wing</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Designs Wing administers registration of industrial designs under India's design law.</a:t>
            </a:r>
          </a:p>
          <a:p>
            <a:pPr marL="0" indent="0">
              <a:buNone/>
            </a:pPr>
            <a:r>
              <a:rPr lang="en-US" dirty="0"/>
              <a:t>Functions</a:t>
            </a:r>
          </a:p>
          <a:p>
            <a:r>
              <a:rPr lang="en-US" dirty="0"/>
              <a:t>Receives design applications. </a:t>
            </a:r>
          </a:p>
          <a:p>
            <a:r>
              <a:rPr lang="en-US" dirty="0"/>
              <a:t>Examines designs. </a:t>
            </a:r>
          </a:p>
          <a:p>
            <a:r>
              <a:rPr lang="en-US" dirty="0"/>
              <a:t>Registers eligible designs. </a:t>
            </a:r>
          </a:p>
          <a:p>
            <a:r>
              <a:rPr lang="en-US" dirty="0"/>
              <a:t>Maintains design records. </a:t>
            </a:r>
          </a:p>
          <a:p>
            <a:r>
              <a:rPr lang="en-US" dirty="0"/>
              <a:t>Provides information concerning registered designs. </a:t>
            </a:r>
          </a:p>
          <a:p>
            <a:pPr marL="0" indent="0">
              <a:buNone/>
            </a:pPr>
            <a:r>
              <a:rPr lang="en-US" dirty="0"/>
              <a:t>Protects</a:t>
            </a:r>
          </a:p>
          <a:p>
            <a:r>
              <a:rPr lang="en-US" dirty="0"/>
              <a:t>Visual appearance of industrial products</a:t>
            </a:r>
          </a:p>
        </p:txBody>
      </p:sp>
    </p:spTree>
    <p:extLst>
      <p:ext uri="{BB962C8B-B14F-4D97-AF65-F5344CB8AC3E}">
        <p14:creationId xmlns:p14="http://schemas.microsoft.com/office/powerpoint/2010/main" val="202723436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Geographical Indications Registry</a:t>
            </a:r>
          </a:p>
        </p:txBody>
      </p:sp>
      <p:sp>
        <p:nvSpPr>
          <p:cNvPr id="3" name="Content Placeholder 2"/>
          <p:cNvSpPr>
            <a:spLocks noGrp="1"/>
          </p:cNvSpPr>
          <p:nvPr>
            <p:ph idx="1"/>
          </p:nvPr>
        </p:nvSpPr>
        <p:spPr>
          <a:xfrm>
            <a:off x="695960" y="1301749"/>
            <a:ext cx="5395351" cy="4873625"/>
          </a:xfrm>
        </p:spPr>
        <p:txBody>
          <a:bodyPr>
            <a:normAutofit lnSpcReduction="10000"/>
          </a:bodyPr>
          <a:lstStyle/>
          <a:p>
            <a:pPr marL="0" indent="0">
              <a:buNone/>
            </a:pPr>
            <a:r>
              <a:rPr lang="en-IN" dirty="0"/>
              <a:t>The Geographical Indications Registry administers GI registration in India.</a:t>
            </a:r>
          </a:p>
          <a:p>
            <a:pPr marL="0" indent="0">
              <a:buNone/>
            </a:pPr>
            <a:r>
              <a:rPr lang="en-IN" dirty="0"/>
              <a:t>Protects products associated with a geographical region.</a:t>
            </a:r>
          </a:p>
          <a:p>
            <a:pPr marL="0" indent="0">
              <a:buNone/>
            </a:pPr>
            <a:r>
              <a:rPr lang="en-IN" dirty="0"/>
              <a:t>Examples</a:t>
            </a:r>
          </a:p>
          <a:p>
            <a:r>
              <a:rPr lang="en-IN" dirty="0"/>
              <a:t>Darjeeling Tea </a:t>
            </a:r>
          </a:p>
          <a:p>
            <a:r>
              <a:rPr lang="en-IN" dirty="0" err="1"/>
              <a:t>Kanchipuram</a:t>
            </a:r>
            <a:r>
              <a:rPr lang="en-IN" dirty="0"/>
              <a:t> Silk </a:t>
            </a:r>
          </a:p>
          <a:p>
            <a:r>
              <a:rPr lang="en-IN" dirty="0" err="1"/>
              <a:t>Banarasi</a:t>
            </a:r>
            <a:r>
              <a:rPr lang="en-IN" dirty="0"/>
              <a:t> </a:t>
            </a:r>
            <a:r>
              <a:rPr lang="en-IN" dirty="0" err="1"/>
              <a:t>Sarees</a:t>
            </a:r>
            <a:r>
              <a:rPr lang="en-IN" dirty="0"/>
              <a:t> </a:t>
            </a:r>
          </a:p>
          <a:p>
            <a:r>
              <a:rPr lang="en-IN" dirty="0"/>
              <a:t>Alphonso Mango </a:t>
            </a:r>
          </a:p>
        </p:txBody>
      </p:sp>
      <p:sp>
        <p:nvSpPr>
          <p:cNvPr id="4" name="Content Placeholder 2"/>
          <p:cNvSpPr txBox="1">
            <a:spLocks/>
          </p:cNvSpPr>
          <p:nvPr/>
        </p:nvSpPr>
        <p:spPr>
          <a:xfrm>
            <a:off x="6100609" y="1301748"/>
            <a:ext cx="5395351"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IN" dirty="0" smtClean="0"/>
              <a:t>Functions</a:t>
            </a:r>
          </a:p>
          <a:p>
            <a:r>
              <a:rPr lang="en-IN" dirty="0" smtClean="0"/>
              <a:t>Examination of GI applications </a:t>
            </a:r>
          </a:p>
          <a:p>
            <a:r>
              <a:rPr lang="en-IN" dirty="0" smtClean="0"/>
              <a:t>Registration </a:t>
            </a:r>
          </a:p>
          <a:p>
            <a:r>
              <a:rPr lang="en-IN" dirty="0" smtClean="0"/>
              <a:t>Maintenance of GI records </a:t>
            </a:r>
          </a:p>
          <a:p>
            <a:r>
              <a:rPr lang="en-IN" dirty="0" smtClean="0"/>
              <a:t>Administration of registered GIs</a:t>
            </a:r>
            <a:endParaRPr lang="en-IN" dirty="0"/>
          </a:p>
        </p:txBody>
      </p:sp>
    </p:spTree>
    <p:extLst>
      <p:ext uri="{BB962C8B-B14F-4D97-AF65-F5344CB8AC3E}">
        <p14:creationId xmlns:p14="http://schemas.microsoft.com/office/powerpoint/2010/main" val="47711329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Copyright Office</a:t>
            </a:r>
          </a:p>
        </p:txBody>
      </p:sp>
      <p:sp>
        <p:nvSpPr>
          <p:cNvPr id="3" name="Content Placeholder 2"/>
          <p:cNvSpPr>
            <a:spLocks noGrp="1"/>
          </p:cNvSpPr>
          <p:nvPr>
            <p:ph idx="1"/>
          </p:nvPr>
        </p:nvSpPr>
        <p:spPr>
          <a:xfrm>
            <a:off x="695960" y="1301749"/>
            <a:ext cx="5085862" cy="4873625"/>
          </a:xfrm>
        </p:spPr>
        <p:txBody>
          <a:bodyPr>
            <a:normAutofit fontScale="85000" lnSpcReduction="10000"/>
          </a:bodyPr>
          <a:lstStyle/>
          <a:p>
            <a:pPr marL="0" indent="0">
              <a:buNone/>
            </a:pPr>
            <a:r>
              <a:rPr lang="en-US" dirty="0"/>
              <a:t>The Copyright Office operates under the Department for Promotion of Industry and Internal Trade (DPIIT), Ministry of Commerce and Industry.</a:t>
            </a:r>
          </a:p>
          <a:p>
            <a:pPr marL="0" indent="0">
              <a:buNone/>
            </a:pPr>
            <a:r>
              <a:rPr lang="en-US" dirty="0"/>
              <a:t>Functions</a:t>
            </a:r>
          </a:p>
          <a:p>
            <a:r>
              <a:rPr lang="en-US" dirty="0"/>
              <a:t>Administers the copyright registration system. </a:t>
            </a:r>
          </a:p>
          <a:p>
            <a:r>
              <a:rPr lang="en-US" dirty="0"/>
              <a:t>Maintains the Register of Copyrights. </a:t>
            </a:r>
          </a:p>
          <a:p>
            <a:r>
              <a:rPr lang="en-US" dirty="0"/>
              <a:t>Processes copyright-related applications. </a:t>
            </a:r>
          </a:p>
          <a:p>
            <a:r>
              <a:rPr lang="en-US" dirty="0"/>
              <a:t>Provides information concerning copyright registration and administration. </a:t>
            </a:r>
          </a:p>
        </p:txBody>
      </p:sp>
      <p:sp>
        <p:nvSpPr>
          <p:cNvPr id="4" name="Content Placeholder 2"/>
          <p:cNvSpPr txBox="1">
            <a:spLocks/>
          </p:cNvSpPr>
          <p:nvPr/>
        </p:nvSpPr>
        <p:spPr>
          <a:xfrm>
            <a:off x="6095960" y="1301748"/>
            <a:ext cx="5085862" cy="4873625"/>
          </a:xfrm>
          <a:prstGeom prst="rect">
            <a:avLst/>
          </a:prstGeom>
        </p:spPr>
        <p:txBody>
          <a:bodyPr vert="horz" wrap="square" lIns="0" tIns="0" rIns="0" bIns="0" rtlCol="0">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a:lstStyle>
          <a:p>
            <a:pPr marL="0" indent="0">
              <a:buFont typeface="Arial" panose="020B0604020202020204" pitchFamily="34" charset="0"/>
              <a:buNone/>
            </a:pPr>
            <a:r>
              <a:rPr lang="en-US" dirty="0" smtClean="0"/>
              <a:t>Protects works such as:</a:t>
            </a:r>
          </a:p>
          <a:p>
            <a:r>
              <a:rPr lang="en-US" dirty="0" smtClean="0"/>
              <a:t>Literary works </a:t>
            </a:r>
          </a:p>
          <a:p>
            <a:r>
              <a:rPr lang="en-US" dirty="0" smtClean="0"/>
              <a:t>Artistic works </a:t>
            </a:r>
          </a:p>
          <a:p>
            <a:r>
              <a:rPr lang="en-US" dirty="0" smtClean="0"/>
              <a:t>Musical works </a:t>
            </a:r>
          </a:p>
          <a:p>
            <a:r>
              <a:rPr lang="en-US" dirty="0" smtClean="0"/>
              <a:t>Films </a:t>
            </a:r>
          </a:p>
          <a:p>
            <a:r>
              <a:rPr lang="en-US" dirty="0" smtClean="0"/>
              <a:t>Sound recordings </a:t>
            </a:r>
          </a:p>
          <a:p>
            <a:r>
              <a:rPr lang="en-US" dirty="0" smtClean="0"/>
              <a:t>Computer programs</a:t>
            </a:r>
            <a:endParaRPr lang="en-US" dirty="0"/>
          </a:p>
        </p:txBody>
      </p:sp>
    </p:spTree>
    <p:extLst>
      <p:ext uri="{BB962C8B-B14F-4D97-AF65-F5344CB8AC3E}">
        <p14:creationId xmlns:p14="http://schemas.microsoft.com/office/powerpoint/2010/main" val="324709545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Intellectual Property Appellate Board – Historical Note</a:t>
            </a:r>
          </a:p>
        </p:txBody>
      </p:sp>
      <p:sp>
        <p:nvSpPr>
          <p:cNvPr id="3" name="Content Placeholder 2"/>
          <p:cNvSpPr>
            <a:spLocks noGrp="1"/>
          </p:cNvSpPr>
          <p:nvPr>
            <p:ph idx="1"/>
          </p:nvPr>
        </p:nvSpPr>
        <p:spPr/>
        <p:txBody>
          <a:bodyPr>
            <a:normAutofit lnSpcReduction="10000"/>
          </a:bodyPr>
          <a:lstStyle/>
          <a:p>
            <a:pPr marL="0" indent="0">
              <a:buNone/>
            </a:pPr>
            <a:r>
              <a:rPr lang="en-US" dirty="0"/>
              <a:t>IPAB</a:t>
            </a:r>
          </a:p>
          <a:p>
            <a:r>
              <a:rPr lang="en-US" dirty="0"/>
              <a:t>The Intellectual Property Appellate Board (IPAB) was established to hear certain appeals and related matters concerning IP rights.</a:t>
            </a:r>
          </a:p>
          <a:p>
            <a:pPr marL="0" indent="0">
              <a:buNone/>
            </a:pPr>
            <a:r>
              <a:rPr lang="en-US" dirty="0"/>
              <a:t>Important Update</a:t>
            </a:r>
          </a:p>
          <a:p>
            <a:r>
              <a:rPr lang="en-US" dirty="0"/>
              <a:t>The Tribunals Reforms Act, 2021 abolished the IPAB.</a:t>
            </a:r>
          </a:p>
          <a:p>
            <a:r>
              <a:rPr lang="en-US" dirty="0"/>
              <a:t>Its functions were transferred to the appropriate High Courts and other competent authorities, depending on the matter.</a:t>
            </a:r>
          </a:p>
          <a:p>
            <a:pPr marL="0" indent="0">
              <a:buNone/>
            </a:pPr>
            <a:r>
              <a:rPr lang="en-US" dirty="0"/>
              <a:t>Exam Point: IPAB is a historical institution and is no longer an operational IPR authority.</a:t>
            </a:r>
          </a:p>
          <a:p>
            <a:endParaRPr lang="en-IN" dirty="0"/>
          </a:p>
        </p:txBody>
      </p:sp>
    </p:spTree>
    <p:extLst>
      <p:ext uri="{BB962C8B-B14F-4D97-AF65-F5344CB8AC3E}">
        <p14:creationId xmlns:p14="http://schemas.microsoft.com/office/powerpoint/2010/main" val="359104078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International </a:t>
            </a:r>
            <a:r>
              <a:rPr lang="en-IN" dirty="0" err="1"/>
              <a:t>vs</a:t>
            </a:r>
            <a:r>
              <a:rPr lang="en-IN" dirty="0"/>
              <a:t> Indian IPR Authorities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7028717"/>
              </p:ext>
            </p:extLst>
          </p:nvPr>
        </p:nvGraphicFramePr>
        <p:xfrm>
          <a:off x="695325" y="1301750"/>
          <a:ext cx="10801350" cy="4785360"/>
        </p:xfrm>
        <a:graphic>
          <a:graphicData uri="http://schemas.openxmlformats.org/drawingml/2006/table">
            <a:tbl>
              <a:tblPr firstRow="1" bandRow="1">
                <a:tableStyleId>{5C22544A-7EE6-4342-B048-85BDC9FD1C3A}</a:tableStyleId>
              </a:tblPr>
              <a:tblGrid>
                <a:gridCol w="3600450">
                  <a:extLst>
                    <a:ext uri="{9D8B030D-6E8A-4147-A177-3AD203B41FA5}">
                      <a16:colId xmlns:a16="http://schemas.microsoft.com/office/drawing/2014/main" val="20000"/>
                    </a:ext>
                  </a:extLst>
                </a:gridCol>
                <a:gridCol w="3600450">
                  <a:extLst>
                    <a:ext uri="{9D8B030D-6E8A-4147-A177-3AD203B41FA5}">
                      <a16:colId xmlns:a16="http://schemas.microsoft.com/office/drawing/2014/main" val="20001"/>
                    </a:ext>
                  </a:extLst>
                </a:gridCol>
                <a:gridCol w="3600450">
                  <a:extLst>
                    <a:ext uri="{9D8B030D-6E8A-4147-A177-3AD203B41FA5}">
                      <a16:colId xmlns:a16="http://schemas.microsoft.com/office/drawing/2014/main" val="20002"/>
                    </a:ext>
                  </a:extLst>
                </a:gridCol>
              </a:tblGrid>
              <a:tr h="370840">
                <a:tc>
                  <a:txBody>
                    <a:bodyPr/>
                    <a:lstStyle/>
                    <a:p>
                      <a:pPr algn="ctr"/>
                      <a:r>
                        <a:rPr lang="en-IN" dirty="0"/>
                        <a:t>Authority</a:t>
                      </a:r>
                    </a:p>
                  </a:txBody>
                  <a:tcPr anchor="ctr"/>
                </a:tc>
                <a:tc>
                  <a:txBody>
                    <a:bodyPr/>
                    <a:lstStyle/>
                    <a:p>
                      <a:pPr algn="ctr"/>
                      <a:r>
                        <a:rPr lang="en-IN" dirty="0"/>
                        <a:t>Level</a:t>
                      </a:r>
                    </a:p>
                  </a:txBody>
                  <a:tcPr anchor="ctr"/>
                </a:tc>
                <a:tc>
                  <a:txBody>
                    <a:bodyPr/>
                    <a:lstStyle/>
                    <a:p>
                      <a:pPr algn="ctr"/>
                      <a:r>
                        <a:rPr lang="en-IN" dirty="0"/>
                        <a:t>Major Role</a:t>
                      </a:r>
                    </a:p>
                  </a:txBody>
                  <a:tcPr anchor="ctr"/>
                </a:tc>
                <a:extLst>
                  <a:ext uri="{0D108BD9-81ED-4DB2-BD59-A6C34878D82A}">
                    <a16:rowId xmlns:a16="http://schemas.microsoft.com/office/drawing/2014/main" val="10000"/>
                  </a:ext>
                </a:extLst>
              </a:tr>
              <a:tr h="370840">
                <a:tc>
                  <a:txBody>
                    <a:bodyPr/>
                    <a:lstStyle/>
                    <a:p>
                      <a:r>
                        <a:rPr lang="en-IN" b="1"/>
                        <a:t>WIPO</a:t>
                      </a:r>
                      <a:endParaRPr lang="en-IN"/>
                    </a:p>
                  </a:txBody>
                  <a:tcPr anchor="ctr"/>
                </a:tc>
                <a:tc>
                  <a:txBody>
                    <a:bodyPr/>
                    <a:lstStyle/>
                    <a:p>
                      <a:r>
                        <a:rPr lang="en-IN"/>
                        <a:t>International</a:t>
                      </a:r>
                    </a:p>
                  </a:txBody>
                  <a:tcPr anchor="ctr"/>
                </a:tc>
                <a:tc>
                  <a:txBody>
                    <a:bodyPr/>
                    <a:lstStyle/>
                    <a:p>
                      <a:r>
                        <a:rPr lang="en-US"/>
                        <a:t>Global IP cooperation and IP systems</a:t>
                      </a:r>
                    </a:p>
                  </a:txBody>
                  <a:tcPr anchor="ctr"/>
                </a:tc>
                <a:extLst>
                  <a:ext uri="{0D108BD9-81ED-4DB2-BD59-A6C34878D82A}">
                    <a16:rowId xmlns:a16="http://schemas.microsoft.com/office/drawing/2014/main" val="10001"/>
                  </a:ext>
                </a:extLst>
              </a:tr>
              <a:tr h="370840">
                <a:tc>
                  <a:txBody>
                    <a:bodyPr/>
                    <a:lstStyle/>
                    <a:p>
                      <a:r>
                        <a:rPr lang="en-IN" b="1"/>
                        <a:t>WTO</a:t>
                      </a:r>
                      <a:endParaRPr lang="en-IN"/>
                    </a:p>
                  </a:txBody>
                  <a:tcPr anchor="ctr"/>
                </a:tc>
                <a:tc>
                  <a:txBody>
                    <a:bodyPr/>
                    <a:lstStyle/>
                    <a:p>
                      <a:r>
                        <a:rPr lang="en-IN"/>
                        <a:t>International</a:t>
                      </a:r>
                    </a:p>
                  </a:txBody>
                  <a:tcPr anchor="ctr"/>
                </a:tc>
                <a:tc>
                  <a:txBody>
                    <a:bodyPr/>
                    <a:lstStyle/>
                    <a:p>
                      <a:r>
                        <a:rPr lang="en-IN"/>
                        <a:t>TRIPS framework</a:t>
                      </a:r>
                    </a:p>
                  </a:txBody>
                  <a:tcPr anchor="ctr"/>
                </a:tc>
                <a:extLst>
                  <a:ext uri="{0D108BD9-81ED-4DB2-BD59-A6C34878D82A}">
                    <a16:rowId xmlns:a16="http://schemas.microsoft.com/office/drawing/2014/main" val="10002"/>
                  </a:ext>
                </a:extLst>
              </a:tr>
              <a:tr h="370840">
                <a:tc>
                  <a:txBody>
                    <a:bodyPr/>
                    <a:lstStyle/>
                    <a:p>
                      <a:r>
                        <a:rPr lang="en-IN" b="1"/>
                        <a:t>DPIIT</a:t>
                      </a:r>
                      <a:endParaRPr lang="en-IN"/>
                    </a:p>
                  </a:txBody>
                  <a:tcPr anchor="ctr"/>
                </a:tc>
                <a:tc>
                  <a:txBody>
                    <a:bodyPr/>
                    <a:lstStyle/>
                    <a:p>
                      <a:r>
                        <a:rPr lang="en-IN"/>
                        <a:t>India</a:t>
                      </a:r>
                    </a:p>
                  </a:txBody>
                  <a:tcPr anchor="ctr"/>
                </a:tc>
                <a:tc>
                  <a:txBody>
                    <a:bodyPr/>
                    <a:lstStyle/>
                    <a:p>
                      <a:r>
                        <a:rPr lang="en-US"/>
                        <a:t>Policy and administration of industrial property</a:t>
                      </a:r>
                    </a:p>
                  </a:txBody>
                  <a:tcPr anchor="ctr"/>
                </a:tc>
                <a:extLst>
                  <a:ext uri="{0D108BD9-81ED-4DB2-BD59-A6C34878D82A}">
                    <a16:rowId xmlns:a16="http://schemas.microsoft.com/office/drawing/2014/main" val="10003"/>
                  </a:ext>
                </a:extLst>
              </a:tr>
              <a:tr h="370840">
                <a:tc>
                  <a:txBody>
                    <a:bodyPr/>
                    <a:lstStyle/>
                    <a:p>
                      <a:r>
                        <a:rPr lang="en-IN" b="1"/>
                        <a:t>CGPDTM</a:t>
                      </a:r>
                      <a:endParaRPr lang="en-IN"/>
                    </a:p>
                  </a:txBody>
                  <a:tcPr anchor="ctr"/>
                </a:tc>
                <a:tc>
                  <a:txBody>
                    <a:bodyPr/>
                    <a:lstStyle/>
                    <a:p>
                      <a:r>
                        <a:rPr lang="en-IN"/>
                        <a:t>India</a:t>
                      </a:r>
                    </a:p>
                  </a:txBody>
                  <a:tcPr anchor="ctr"/>
                </a:tc>
                <a:tc>
                  <a:txBody>
                    <a:bodyPr/>
                    <a:lstStyle/>
                    <a:p>
                      <a:r>
                        <a:rPr lang="en-US"/>
                        <a:t>Patents, designs, trademarks and GIs</a:t>
                      </a:r>
                    </a:p>
                  </a:txBody>
                  <a:tcPr anchor="ctr"/>
                </a:tc>
                <a:extLst>
                  <a:ext uri="{0D108BD9-81ED-4DB2-BD59-A6C34878D82A}">
                    <a16:rowId xmlns:a16="http://schemas.microsoft.com/office/drawing/2014/main" val="10004"/>
                  </a:ext>
                </a:extLst>
              </a:tr>
              <a:tr h="370840">
                <a:tc>
                  <a:txBody>
                    <a:bodyPr/>
                    <a:lstStyle/>
                    <a:p>
                      <a:r>
                        <a:rPr lang="en-IN" b="1"/>
                        <a:t>Patent Office</a:t>
                      </a:r>
                      <a:endParaRPr lang="en-IN"/>
                    </a:p>
                  </a:txBody>
                  <a:tcPr anchor="ctr"/>
                </a:tc>
                <a:tc>
                  <a:txBody>
                    <a:bodyPr/>
                    <a:lstStyle/>
                    <a:p>
                      <a:r>
                        <a:rPr lang="en-IN"/>
                        <a:t>India</a:t>
                      </a:r>
                    </a:p>
                  </a:txBody>
                  <a:tcPr anchor="ctr"/>
                </a:tc>
                <a:tc>
                  <a:txBody>
                    <a:bodyPr/>
                    <a:lstStyle/>
                    <a:p>
                      <a:r>
                        <a:rPr lang="en-IN"/>
                        <a:t>Patent administration</a:t>
                      </a:r>
                    </a:p>
                  </a:txBody>
                  <a:tcPr anchor="ctr"/>
                </a:tc>
                <a:extLst>
                  <a:ext uri="{0D108BD9-81ED-4DB2-BD59-A6C34878D82A}">
                    <a16:rowId xmlns:a16="http://schemas.microsoft.com/office/drawing/2014/main" val="10005"/>
                  </a:ext>
                </a:extLst>
              </a:tr>
              <a:tr h="370840">
                <a:tc>
                  <a:txBody>
                    <a:bodyPr/>
                    <a:lstStyle/>
                    <a:p>
                      <a:r>
                        <a:rPr lang="en-IN" b="1"/>
                        <a:t>Trade Marks Registry</a:t>
                      </a:r>
                      <a:endParaRPr lang="en-IN"/>
                    </a:p>
                  </a:txBody>
                  <a:tcPr anchor="ctr"/>
                </a:tc>
                <a:tc>
                  <a:txBody>
                    <a:bodyPr/>
                    <a:lstStyle/>
                    <a:p>
                      <a:r>
                        <a:rPr lang="en-IN"/>
                        <a:t>India</a:t>
                      </a:r>
                    </a:p>
                  </a:txBody>
                  <a:tcPr anchor="ctr"/>
                </a:tc>
                <a:tc>
                  <a:txBody>
                    <a:bodyPr/>
                    <a:lstStyle/>
                    <a:p>
                      <a:r>
                        <a:rPr lang="en-IN"/>
                        <a:t>Trademark administration</a:t>
                      </a:r>
                    </a:p>
                  </a:txBody>
                  <a:tcPr anchor="ctr"/>
                </a:tc>
                <a:extLst>
                  <a:ext uri="{0D108BD9-81ED-4DB2-BD59-A6C34878D82A}">
                    <a16:rowId xmlns:a16="http://schemas.microsoft.com/office/drawing/2014/main" val="10006"/>
                  </a:ext>
                </a:extLst>
              </a:tr>
              <a:tr h="370840">
                <a:tc>
                  <a:txBody>
                    <a:bodyPr/>
                    <a:lstStyle/>
                    <a:p>
                      <a:r>
                        <a:rPr lang="en-IN" b="1"/>
                        <a:t>Designs Wing</a:t>
                      </a:r>
                      <a:endParaRPr lang="en-IN"/>
                    </a:p>
                  </a:txBody>
                  <a:tcPr anchor="ctr"/>
                </a:tc>
                <a:tc>
                  <a:txBody>
                    <a:bodyPr/>
                    <a:lstStyle/>
                    <a:p>
                      <a:r>
                        <a:rPr lang="en-IN"/>
                        <a:t>India</a:t>
                      </a:r>
                    </a:p>
                  </a:txBody>
                  <a:tcPr anchor="ctr"/>
                </a:tc>
                <a:tc>
                  <a:txBody>
                    <a:bodyPr/>
                    <a:lstStyle/>
                    <a:p>
                      <a:r>
                        <a:rPr lang="en-IN"/>
                        <a:t>Industrial design registration</a:t>
                      </a:r>
                    </a:p>
                  </a:txBody>
                  <a:tcPr anchor="ctr"/>
                </a:tc>
                <a:extLst>
                  <a:ext uri="{0D108BD9-81ED-4DB2-BD59-A6C34878D82A}">
                    <a16:rowId xmlns:a16="http://schemas.microsoft.com/office/drawing/2014/main" val="10007"/>
                  </a:ext>
                </a:extLst>
              </a:tr>
              <a:tr h="370840">
                <a:tc>
                  <a:txBody>
                    <a:bodyPr/>
                    <a:lstStyle/>
                    <a:p>
                      <a:r>
                        <a:rPr lang="en-IN" b="1"/>
                        <a:t>GI Registry</a:t>
                      </a:r>
                      <a:endParaRPr lang="en-IN"/>
                    </a:p>
                  </a:txBody>
                  <a:tcPr anchor="ctr"/>
                </a:tc>
                <a:tc>
                  <a:txBody>
                    <a:bodyPr/>
                    <a:lstStyle/>
                    <a:p>
                      <a:r>
                        <a:rPr lang="en-IN"/>
                        <a:t>India</a:t>
                      </a:r>
                    </a:p>
                  </a:txBody>
                  <a:tcPr anchor="ctr"/>
                </a:tc>
                <a:tc>
                  <a:txBody>
                    <a:bodyPr/>
                    <a:lstStyle/>
                    <a:p>
                      <a:r>
                        <a:rPr lang="en-IN"/>
                        <a:t>GI registration</a:t>
                      </a:r>
                    </a:p>
                  </a:txBody>
                  <a:tcPr anchor="ctr"/>
                </a:tc>
                <a:extLst>
                  <a:ext uri="{0D108BD9-81ED-4DB2-BD59-A6C34878D82A}">
                    <a16:rowId xmlns:a16="http://schemas.microsoft.com/office/drawing/2014/main" val="10008"/>
                  </a:ext>
                </a:extLst>
              </a:tr>
              <a:tr h="370840">
                <a:tc>
                  <a:txBody>
                    <a:bodyPr/>
                    <a:lstStyle/>
                    <a:p>
                      <a:r>
                        <a:rPr lang="en-IN" b="1"/>
                        <a:t>Copyright Office</a:t>
                      </a:r>
                      <a:endParaRPr lang="en-IN"/>
                    </a:p>
                  </a:txBody>
                  <a:tcPr anchor="ctr"/>
                </a:tc>
                <a:tc>
                  <a:txBody>
                    <a:bodyPr/>
                    <a:lstStyle/>
                    <a:p>
                      <a:r>
                        <a:rPr lang="en-IN"/>
                        <a:t>India</a:t>
                      </a:r>
                    </a:p>
                  </a:txBody>
                  <a:tcPr anchor="ctr"/>
                </a:tc>
                <a:tc>
                  <a:txBody>
                    <a:bodyPr/>
                    <a:lstStyle/>
                    <a:p>
                      <a:r>
                        <a:rPr lang="en-IN" dirty="0"/>
                        <a:t>Copyright registration and administration</a:t>
                      </a:r>
                    </a:p>
                  </a:txBody>
                  <a:tcPr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8298314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p:cNvSpPr>
            <a:spLocks noGrp="1"/>
          </p:cNvSpPr>
          <p:nvPr>
            <p:ph type="title"/>
            <p:custDataLst>
              <p:tags r:id="rId2"/>
            </p:custDataLst>
          </p:nvPr>
        </p:nvSpPr>
        <p:spPr>
          <a:xfrm>
            <a:off x="696000" y="1766570"/>
            <a:ext cx="10800000" cy="2646680"/>
          </a:xfrm>
        </p:spPr>
        <p:txBody>
          <a:bodyPr>
            <a:normAutofit/>
          </a:bodyPr>
          <a:lstStyle/>
          <a:p>
            <a:r>
              <a:rPr lang="en-IN" dirty="0"/>
              <a:t>Patent</a:t>
            </a:r>
            <a:endParaRPr lang="en-US" altLang="en-US" dirty="0"/>
          </a:p>
        </p:txBody>
      </p:sp>
    </p:spTree>
    <p:custDataLst>
      <p:tags r:id="rId1"/>
    </p:custDataLst>
    <p:extLst>
      <p:ext uri="{BB962C8B-B14F-4D97-AF65-F5344CB8AC3E}">
        <p14:creationId xmlns:p14="http://schemas.microsoft.com/office/powerpoint/2010/main" val="401482314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 Patent?</a:t>
            </a:r>
            <a:endParaRPr lang="en-US" dirty="0"/>
          </a:p>
        </p:txBody>
      </p:sp>
      <p:sp>
        <p:nvSpPr>
          <p:cNvPr id="3" name="Content Placeholder 2"/>
          <p:cNvSpPr>
            <a:spLocks noGrp="1"/>
          </p:cNvSpPr>
          <p:nvPr>
            <p:ph idx="1"/>
          </p:nvPr>
        </p:nvSpPr>
        <p:spPr/>
        <p:txBody>
          <a:bodyPr>
            <a:normAutofit/>
          </a:bodyPr>
          <a:lstStyle/>
          <a:p>
            <a:r>
              <a:rPr lang="en-US" dirty="0"/>
              <a:t>A </a:t>
            </a:r>
            <a:r>
              <a:rPr lang="en-US" b="1" dirty="0"/>
              <a:t>patent</a:t>
            </a:r>
            <a:r>
              <a:rPr lang="en-US" dirty="0"/>
              <a:t> is a statutory right granted by the government to an inventor for an invention that satisfies the requirements of patentability.</a:t>
            </a:r>
          </a:p>
          <a:p>
            <a:r>
              <a:rPr lang="en-US" dirty="0"/>
              <a:t>The patent gives the patentee an </a:t>
            </a:r>
            <a:r>
              <a:rPr lang="en-US" b="1" dirty="0"/>
              <a:t>exclusive right to prevent others from making, using, selling, offering for sale, or importing the patented product or from using the patented process</a:t>
            </a:r>
            <a:r>
              <a:rPr lang="en-US" dirty="0"/>
              <a:t>, subject to the provisions of patent law.</a:t>
            </a:r>
          </a:p>
        </p:txBody>
      </p:sp>
    </p:spTree>
    <p:extLst>
      <p:ext uri="{BB962C8B-B14F-4D97-AF65-F5344CB8AC3E}">
        <p14:creationId xmlns:p14="http://schemas.microsoft.com/office/powerpoint/2010/main" val="61347999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are Patents Important?</a:t>
            </a:r>
            <a:endParaRPr lang="en-US" dirty="0"/>
          </a:p>
        </p:txBody>
      </p:sp>
      <p:sp>
        <p:nvSpPr>
          <p:cNvPr id="3" name="Content Placeholder 2"/>
          <p:cNvSpPr>
            <a:spLocks noGrp="1"/>
          </p:cNvSpPr>
          <p:nvPr>
            <p:ph idx="1"/>
          </p:nvPr>
        </p:nvSpPr>
        <p:spPr/>
        <p:txBody>
          <a:bodyPr numCol="2">
            <a:normAutofit fontScale="92500" lnSpcReduction="20000"/>
          </a:bodyPr>
          <a:lstStyle/>
          <a:p>
            <a:pPr marL="0" indent="0">
              <a:buNone/>
            </a:pPr>
            <a:r>
              <a:rPr lang="en-US" dirty="0"/>
              <a:t>Patents are intended to encourage technological innovation.</a:t>
            </a:r>
          </a:p>
          <a:p>
            <a:pPr marL="0" indent="0">
              <a:buNone/>
            </a:pPr>
            <a:r>
              <a:rPr lang="en-US" b="1" dirty="0"/>
              <a:t>For Inventors</a:t>
            </a:r>
          </a:p>
          <a:p>
            <a:r>
              <a:rPr lang="en-US" dirty="0"/>
              <a:t>Legal protection </a:t>
            </a:r>
          </a:p>
          <a:p>
            <a:r>
              <a:rPr lang="en-US" dirty="0"/>
              <a:t>Commercial opportunity </a:t>
            </a:r>
          </a:p>
          <a:p>
            <a:r>
              <a:rPr lang="en-US" dirty="0"/>
              <a:t>Recognition </a:t>
            </a:r>
          </a:p>
          <a:p>
            <a:r>
              <a:rPr lang="en-US" dirty="0"/>
              <a:t>Licensing income </a:t>
            </a:r>
          </a:p>
          <a:p>
            <a:pPr marL="0" indent="0">
              <a:buNone/>
            </a:pPr>
            <a:endParaRPr lang="en-US" b="1" dirty="0" smtClean="0"/>
          </a:p>
          <a:p>
            <a:pPr marL="0" indent="0">
              <a:buNone/>
            </a:pPr>
            <a:endParaRPr lang="en-US" b="1" dirty="0"/>
          </a:p>
          <a:p>
            <a:pPr marL="0" indent="0">
              <a:buNone/>
            </a:pPr>
            <a:endParaRPr lang="en-US" b="1" dirty="0" smtClean="0"/>
          </a:p>
          <a:p>
            <a:pPr marL="0" indent="0">
              <a:buNone/>
            </a:pPr>
            <a:r>
              <a:rPr lang="en-US" b="1" dirty="0" smtClean="0"/>
              <a:t>For </a:t>
            </a:r>
            <a:r>
              <a:rPr lang="en-US" b="1" dirty="0"/>
              <a:t>Industry</a:t>
            </a:r>
          </a:p>
          <a:p>
            <a:r>
              <a:rPr lang="en-US" dirty="0"/>
              <a:t>Competitive advantage </a:t>
            </a:r>
          </a:p>
          <a:p>
            <a:r>
              <a:rPr lang="en-US" dirty="0"/>
              <a:t>Investment incentive </a:t>
            </a:r>
          </a:p>
          <a:p>
            <a:r>
              <a:rPr lang="en-US" dirty="0"/>
              <a:t>Technology commercialization </a:t>
            </a:r>
          </a:p>
          <a:p>
            <a:r>
              <a:rPr lang="en-US" dirty="0"/>
              <a:t>Technology licensing </a:t>
            </a:r>
          </a:p>
          <a:p>
            <a:pPr marL="0" indent="0">
              <a:buNone/>
            </a:pPr>
            <a:r>
              <a:rPr lang="en-US" b="1" dirty="0"/>
              <a:t>For Society</a:t>
            </a:r>
          </a:p>
          <a:p>
            <a:r>
              <a:rPr lang="en-US" dirty="0"/>
              <a:t>Encourages innovation </a:t>
            </a:r>
          </a:p>
          <a:p>
            <a:r>
              <a:rPr lang="en-US" dirty="0"/>
              <a:t>Promotes technological development </a:t>
            </a:r>
          </a:p>
          <a:p>
            <a:r>
              <a:rPr lang="en-US" dirty="0"/>
              <a:t>Patent disclosure adds to publicly available technical knowledge</a:t>
            </a:r>
          </a:p>
        </p:txBody>
      </p:sp>
    </p:spTree>
    <p:extLst>
      <p:ext uri="{BB962C8B-B14F-4D97-AF65-F5344CB8AC3E}">
        <p14:creationId xmlns:p14="http://schemas.microsoft.com/office/powerpoint/2010/main" val="325683430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a Patent Protect?</a:t>
            </a:r>
          </a:p>
        </p:txBody>
      </p:sp>
      <p:sp>
        <p:nvSpPr>
          <p:cNvPr id="3" name="Content Placeholder 2"/>
          <p:cNvSpPr>
            <a:spLocks noGrp="1"/>
          </p:cNvSpPr>
          <p:nvPr>
            <p:ph idx="1"/>
          </p:nvPr>
        </p:nvSpPr>
        <p:spPr/>
        <p:txBody>
          <a:bodyPr>
            <a:normAutofit/>
          </a:bodyPr>
          <a:lstStyle/>
          <a:p>
            <a:pPr marL="0" indent="0">
              <a:buNone/>
            </a:pPr>
            <a:r>
              <a:rPr lang="en-US" dirty="0"/>
              <a:t>A patent may </a:t>
            </a:r>
            <a:r>
              <a:rPr lang="en-US" dirty="0" smtClean="0"/>
              <a:t>protect: </a:t>
            </a:r>
          </a:p>
          <a:p>
            <a:pPr marL="0" indent="0">
              <a:buNone/>
            </a:pPr>
            <a:r>
              <a:rPr lang="en-US" b="1" dirty="0" smtClean="0"/>
              <a:t>Product Invention: </a:t>
            </a:r>
            <a:r>
              <a:rPr lang="en-US" dirty="0" smtClean="0"/>
              <a:t>A </a:t>
            </a:r>
            <a:r>
              <a:rPr lang="en-US" dirty="0"/>
              <a:t>new technical product.</a:t>
            </a:r>
          </a:p>
          <a:p>
            <a:pPr marL="0" indent="0">
              <a:buNone/>
            </a:pPr>
            <a:r>
              <a:rPr lang="en-US" b="1" dirty="0" smtClean="0"/>
              <a:t>Example:</a:t>
            </a:r>
            <a:r>
              <a:rPr lang="en-US" dirty="0" smtClean="0"/>
              <a:t> A </a:t>
            </a:r>
            <a:r>
              <a:rPr lang="en-US" dirty="0"/>
              <a:t>new type of battery.</a:t>
            </a:r>
          </a:p>
          <a:p>
            <a:pPr marL="0" indent="0">
              <a:buNone/>
            </a:pPr>
            <a:r>
              <a:rPr lang="en-US" b="1" dirty="0"/>
              <a:t>Process </a:t>
            </a:r>
            <a:r>
              <a:rPr lang="en-US" b="1" dirty="0" smtClean="0"/>
              <a:t>Invention: </a:t>
            </a:r>
            <a:r>
              <a:rPr lang="en-US" dirty="0" smtClean="0"/>
              <a:t>A </a:t>
            </a:r>
            <a:r>
              <a:rPr lang="en-US" dirty="0"/>
              <a:t>new technical process for producing something.</a:t>
            </a:r>
          </a:p>
          <a:p>
            <a:pPr marL="0" indent="0">
              <a:buNone/>
            </a:pPr>
            <a:r>
              <a:rPr lang="en-US" b="1" dirty="0" smtClean="0"/>
              <a:t>Example:</a:t>
            </a:r>
            <a:r>
              <a:rPr lang="en-US" dirty="0" smtClean="0"/>
              <a:t> A </a:t>
            </a:r>
            <a:r>
              <a:rPr lang="en-US" dirty="0"/>
              <a:t>new industrial method for manufacturing a chemical.</a:t>
            </a:r>
          </a:p>
          <a:p>
            <a:pPr marL="0" indent="0">
              <a:buNone/>
            </a:pPr>
            <a:r>
              <a:rPr lang="en-US" b="1" dirty="0"/>
              <a:t>Improvement</a:t>
            </a:r>
          </a:p>
          <a:p>
            <a:r>
              <a:rPr lang="en-US" dirty="0"/>
              <a:t>A new technical improvement to an existing technology, provided it satisfies patentability requirements.</a:t>
            </a:r>
          </a:p>
        </p:txBody>
      </p:sp>
    </p:spTree>
    <p:extLst>
      <p:ext uri="{BB962C8B-B14F-4D97-AF65-F5344CB8AC3E}">
        <p14:creationId xmlns:p14="http://schemas.microsoft.com/office/powerpoint/2010/main" val="198900940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Patentability Requirements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For an invention to generally qualify for patent protection in India, it must satisfy key requirements.</a:t>
            </a:r>
          </a:p>
          <a:p>
            <a:pPr marL="0" indent="0">
              <a:buNone/>
            </a:pPr>
            <a:r>
              <a:rPr lang="en-US" b="1" dirty="0"/>
              <a:t>1. Novelty</a:t>
            </a:r>
          </a:p>
          <a:p>
            <a:pPr lvl="1"/>
            <a:r>
              <a:rPr lang="en-US" dirty="0">
                <a:solidFill>
                  <a:schemeClr val="tx1"/>
                </a:solidFill>
              </a:rPr>
              <a:t>The invention must be </a:t>
            </a:r>
            <a:r>
              <a:rPr lang="en-US" b="1" dirty="0">
                <a:solidFill>
                  <a:schemeClr val="tx1"/>
                </a:solidFill>
              </a:rPr>
              <a:t>new</a:t>
            </a:r>
            <a:r>
              <a:rPr lang="en-US" dirty="0">
                <a:solidFill>
                  <a:schemeClr val="tx1"/>
                </a:solidFill>
              </a:rPr>
              <a:t>.</a:t>
            </a:r>
          </a:p>
          <a:p>
            <a:pPr lvl="1"/>
            <a:r>
              <a:rPr lang="en-US" dirty="0">
                <a:solidFill>
                  <a:schemeClr val="tx1"/>
                </a:solidFill>
              </a:rPr>
              <a:t>It </a:t>
            </a:r>
            <a:r>
              <a:rPr lang="en-US" dirty="0" smtClean="0">
                <a:solidFill>
                  <a:schemeClr val="tx1"/>
                </a:solidFill>
              </a:rPr>
              <a:t>should </a:t>
            </a:r>
            <a:r>
              <a:rPr lang="en-US" dirty="0">
                <a:solidFill>
                  <a:schemeClr val="tx1"/>
                </a:solidFill>
              </a:rPr>
              <a:t>not already form part of the prior art.</a:t>
            </a:r>
          </a:p>
          <a:p>
            <a:pPr marL="0" indent="0">
              <a:buNone/>
            </a:pPr>
            <a:r>
              <a:rPr lang="en-US" b="1" dirty="0"/>
              <a:t>2. Inventive Step</a:t>
            </a:r>
          </a:p>
          <a:p>
            <a:pPr lvl="1"/>
            <a:r>
              <a:rPr lang="en-US" dirty="0">
                <a:solidFill>
                  <a:schemeClr val="tx1"/>
                </a:solidFill>
              </a:rPr>
              <a:t>The invention should involve a technical advance or economic significance and should not be obvious to a person skilled in the art.</a:t>
            </a:r>
          </a:p>
          <a:p>
            <a:pPr marL="0" indent="0">
              <a:buNone/>
            </a:pPr>
            <a:r>
              <a:rPr lang="en-US" b="1" dirty="0"/>
              <a:t>3. Industrial Applicability</a:t>
            </a:r>
          </a:p>
          <a:p>
            <a:pPr lvl="1"/>
            <a:r>
              <a:rPr lang="en-US" dirty="0">
                <a:solidFill>
                  <a:schemeClr val="tx1"/>
                </a:solidFill>
              </a:rPr>
              <a:t>The invention must be capable of being </a:t>
            </a:r>
            <a:r>
              <a:rPr lang="en-US" b="1" dirty="0">
                <a:solidFill>
                  <a:schemeClr val="tx1"/>
                </a:solidFill>
              </a:rPr>
              <a:t>made or used in an industry</a:t>
            </a:r>
            <a:r>
              <a:rPr lang="en-US" dirty="0">
                <a:solidFill>
                  <a:schemeClr val="tx1"/>
                </a:solidFill>
              </a:rPr>
              <a:t>.</a:t>
            </a:r>
          </a:p>
          <a:p>
            <a:pPr marL="0" indent="0">
              <a:buNone/>
            </a:pPr>
            <a:r>
              <a:rPr lang="en-US" b="1" dirty="0"/>
              <a:t>4. Must Not Fall Under Excluded Subject Matter</a:t>
            </a:r>
          </a:p>
          <a:p>
            <a:pPr lvl="1"/>
            <a:r>
              <a:rPr lang="en-US" dirty="0">
                <a:solidFill>
                  <a:schemeClr val="tx1"/>
                </a:solidFill>
              </a:rPr>
              <a:t>The invention must not be excluded under the relevant provisions of the Patents Act.</a:t>
            </a:r>
          </a:p>
        </p:txBody>
      </p:sp>
    </p:spTree>
    <p:extLst>
      <p:ext uri="{BB962C8B-B14F-4D97-AF65-F5344CB8AC3E}">
        <p14:creationId xmlns:p14="http://schemas.microsoft.com/office/powerpoint/2010/main" val="372221869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Understanding Novelty</a:t>
            </a:r>
            <a:endParaRPr lang="en-US" dirty="0"/>
          </a:p>
        </p:txBody>
      </p:sp>
      <p:sp>
        <p:nvSpPr>
          <p:cNvPr id="3" name="Content Placeholder 2"/>
          <p:cNvSpPr>
            <a:spLocks noGrp="1"/>
          </p:cNvSpPr>
          <p:nvPr>
            <p:ph idx="1"/>
          </p:nvPr>
        </p:nvSpPr>
        <p:spPr>
          <a:xfrm>
            <a:off x="695960" y="1301749"/>
            <a:ext cx="10800000" cy="5295999"/>
          </a:xfrm>
        </p:spPr>
        <p:txBody>
          <a:bodyPr>
            <a:normAutofit fontScale="70000" lnSpcReduction="20000"/>
          </a:bodyPr>
          <a:lstStyle/>
          <a:p>
            <a:pPr marL="0" indent="0">
              <a:buNone/>
            </a:pPr>
            <a:r>
              <a:rPr lang="en-US" dirty="0"/>
              <a:t>An invention lacks novelty if the same invention has already been publicly disclosed.</a:t>
            </a:r>
          </a:p>
          <a:p>
            <a:pPr marL="0" indent="0">
              <a:buNone/>
            </a:pPr>
            <a:r>
              <a:rPr lang="en-US" b="1" dirty="0"/>
              <a:t>Prior Art May Include:</a:t>
            </a:r>
          </a:p>
          <a:p>
            <a:r>
              <a:rPr lang="en-US" dirty="0"/>
              <a:t>Existing patents </a:t>
            </a:r>
          </a:p>
          <a:p>
            <a:r>
              <a:rPr lang="en-US" dirty="0"/>
              <a:t>Research papers </a:t>
            </a:r>
          </a:p>
          <a:p>
            <a:r>
              <a:rPr lang="en-US" dirty="0"/>
              <a:t>Books </a:t>
            </a:r>
          </a:p>
          <a:p>
            <a:r>
              <a:rPr lang="en-US" dirty="0"/>
              <a:t>Websites </a:t>
            </a:r>
          </a:p>
          <a:p>
            <a:r>
              <a:rPr lang="en-US" dirty="0"/>
              <a:t>Conference papers </a:t>
            </a:r>
          </a:p>
          <a:p>
            <a:r>
              <a:rPr lang="en-US" dirty="0"/>
              <a:t>Public demonstrations </a:t>
            </a:r>
          </a:p>
          <a:p>
            <a:r>
              <a:rPr lang="en-US" dirty="0"/>
              <a:t>Existing products </a:t>
            </a:r>
          </a:p>
          <a:p>
            <a:r>
              <a:rPr lang="en-US" dirty="0"/>
              <a:t>Public use </a:t>
            </a:r>
          </a:p>
          <a:p>
            <a:r>
              <a:rPr lang="en-US" b="1" dirty="0" smtClean="0"/>
              <a:t>Example: </a:t>
            </a:r>
            <a:r>
              <a:rPr lang="en-US" dirty="0" smtClean="0"/>
              <a:t>A </a:t>
            </a:r>
            <a:r>
              <a:rPr lang="en-US" dirty="0"/>
              <a:t>researcher develops a machine.</a:t>
            </a:r>
          </a:p>
          <a:p>
            <a:r>
              <a:rPr lang="en-US" dirty="0"/>
              <a:t>If the same machine was already publicly disclosed before the relevant patent filing/priority date, the invention may lack novelty.</a:t>
            </a:r>
          </a:p>
        </p:txBody>
      </p:sp>
    </p:spTree>
    <p:extLst>
      <p:ext uri="{BB962C8B-B14F-4D97-AF65-F5344CB8AC3E}">
        <p14:creationId xmlns:p14="http://schemas.microsoft.com/office/powerpoint/2010/main" val="56170784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Understanding Inventive Step</a:t>
            </a:r>
            <a:endParaRPr lang="en-US" dirty="0"/>
          </a:p>
        </p:txBody>
      </p:sp>
      <p:sp>
        <p:nvSpPr>
          <p:cNvPr id="3" name="Content Placeholder 2"/>
          <p:cNvSpPr>
            <a:spLocks noGrp="1"/>
          </p:cNvSpPr>
          <p:nvPr>
            <p:ph idx="1"/>
          </p:nvPr>
        </p:nvSpPr>
        <p:spPr/>
        <p:txBody>
          <a:bodyPr>
            <a:normAutofit/>
          </a:bodyPr>
          <a:lstStyle/>
          <a:p>
            <a:r>
              <a:rPr lang="en-US" dirty="0"/>
              <a:t>An invention must not be merely an obvious modification of existing knowledge</a:t>
            </a:r>
            <a:r>
              <a:rPr lang="en-US" dirty="0" smtClean="0"/>
              <a:t>.</a:t>
            </a:r>
          </a:p>
          <a:p>
            <a:pPr marL="0" indent="0">
              <a:buNone/>
            </a:pPr>
            <a:r>
              <a:rPr lang="en-US" b="1" dirty="0"/>
              <a:t>Example</a:t>
            </a:r>
          </a:p>
          <a:p>
            <a:r>
              <a:rPr lang="en-US" dirty="0"/>
              <a:t>Suppose an existing phone has a standard battery.</a:t>
            </a:r>
          </a:p>
          <a:p>
            <a:r>
              <a:rPr lang="en-US" dirty="0"/>
              <a:t>Simply changing its external color is generally not an inventive technical step.</a:t>
            </a:r>
          </a:p>
          <a:p>
            <a:r>
              <a:rPr lang="en-US" dirty="0"/>
              <a:t>But developing a technically improved battery architecture that solves a recognized technical problem may potentially satisfy the inventive-step requirement, depending on the facts.</a:t>
            </a:r>
          </a:p>
          <a:p>
            <a:endParaRPr lang="en-US" dirty="0"/>
          </a:p>
        </p:txBody>
      </p:sp>
    </p:spTree>
    <p:extLst>
      <p:ext uri="{BB962C8B-B14F-4D97-AF65-F5344CB8AC3E}">
        <p14:creationId xmlns:p14="http://schemas.microsoft.com/office/powerpoint/2010/main" val="305294898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Industrial Applicability</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An invention must be capable of </a:t>
            </a:r>
            <a:r>
              <a:rPr lang="en-US" dirty="0" smtClean="0"/>
              <a:t>being: Made </a:t>
            </a:r>
            <a:r>
              <a:rPr lang="en-US" dirty="0"/>
              <a:t>in an industry, or </a:t>
            </a:r>
            <a:r>
              <a:rPr lang="en-US" dirty="0" smtClean="0"/>
              <a:t>Used </a:t>
            </a:r>
            <a:r>
              <a:rPr lang="en-US" dirty="0"/>
              <a:t>in an industry. </a:t>
            </a:r>
          </a:p>
          <a:p>
            <a:pPr marL="0" indent="0">
              <a:buNone/>
            </a:pPr>
            <a:r>
              <a:rPr lang="en-US" b="1" dirty="0"/>
              <a:t>Examples</a:t>
            </a:r>
          </a:p>
          <a:p>
            <a:r>
              <a:rPr lang="en-US" dirty="0"/>
              <a:t>Potentially industrially applicable:</a:t>
            </a:r>
          </a:p>
          <a:p>
            <a:r>
              <a:rPr lang="en-US" dirty="0"/>
              <a:t>Manufacturing process </a:t>
            </a:r>
          </a:p>
          <a:p>
            <a:r>
              <a:rPr lang="en-US" dirty="0"/>
              <a:t>Medical device </a:t>
            </a:r>
          </a:p>
          <a:p>
            <a:r>
              <a:rPr lang="en-US" dirty="0"/>
              <a:t>Agricultural machine </a:t>
            </a:r>
          </a:p>
          <a:p>
            <a:r>
              <a:rPr lang="en-US" dirty="0"/>
              <a:t>Electronic circuit </a:t>
            </a:r>
          </a:p>
          <a:p>
            <a:r>
              <a:rPr lang="en-US" dirty="0"/>
              <a:t>Industrial chemical process </a:t>
            </a:r>
          </a:p>
          <a:p>
            <a:pPr marL="0" indent="0">
              <a:buNone/>
            </a:pPr>
            <a:r>
              <a:rPr lang="en-US" b="1" dirty="0"/>
              <a:t>Key Idea</a:t>
            </a:r>
          </a:p>
          <a:p>
            <a:r>
              <a:rPr lang="en-US" dirty="0"/>
              <a:t>The invention should have a </a:t>
            </a:r>
            <a:r>
              <a:rPr lang="en-US" b="1" dirty="0"/>
              <a:t>practical industrial application</a:t>
            </a:r>
            <a:r>
              <a:rPr lang="en-US" dirty="0"/>
              <a:t>, rather than being merely theoretical.</a:t>
            </a:r>
          </a:p>
        </p:txBody>
      </p:sp>
    </p:spTree>
    <p:extLst>
      <p:ext uri="{BB962C8B-B14F-4D97-AF65-F5344CB8AC3E}">
        <p14:creationId xmlns:p14="http://schemas.microsoft.com/office/powerpoint/2010/main" val="306804366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Indian Patent Law – Historical Background</a:t>
            </a:r>
          </a:p>
        </p:txBody>
      </p:sp>
      <p:sp>
        <p:nvSpPr>
          <p:cNvPr id="3" name="Content Placeholder 2"/>
          <p:cNvSpPr>
            <a:spLocks noGrp="1"/>
          </p:cNvSpPr>
          <p:nvPr>
            <p:ph idx="1"/>
          </p:nvPr>
        </p:nvSpPr>
        <p:spPr>
          <a:xfrm>
            <a:off x="695960" y="1301749"/>
            <a:ext cx="10800000" cy="5113119"/>
          </a:xfrm>
        </p:spPr>
        <p:txBody>
          <a:bodyPr>
            <a:normAutofit/>
          </a:bodyPr>
          <a:lstStyle/>
          <a:p>
            <a:pPr marL="0" indent="0">
              <a:buNone/>
            </a:pPr>
            <a:r>
              <a:rPr lang="en-US" sz="1800" dirty="0"/>
              <a:t>India's patent system developed during the colonial period and subsequently underwent major reforms.</a:t>
            </a:r>
          </a:p>
          <a:p>
            <a:pPr marL="0" indent="0">
              <a:buNone/>
            </a:pPr>
            <a:r>
              <a:rPr lang="en-US" sz="1800" b="1" dirty="0"/>
              <a:t>Important milestones</a:t>
            </a:r>
          </a:p>
          <a:p>
            <a:r>
              <a:rPr lang="en-US" sz="1800" b="1" dirty="0"/>
              <a:t>1856</a:t>
            </a:r>
            <a:r>
              <a:rPr lang="en-US" sz="1800" dirty="0"/>
              <a:t> – Early Indian patent legislation </a:t>
            </a:r>
          </a:p>
          <a:p>
            <a:r>
              <a:rPr lang="en-US" sz="1800" b="1" dirty="0"/>
              <a:t>1911</a:t>
            </a:r>
            <a:r>
              <a:rPr lang="en-US" sz="1800" dirty="0"/>
              <a:t> – Indian Patents and Designs Act </a:t>
            </a:r>
          </a:p>
          <a:p>
            <a:r>
              <a:rPr lang="en-US" sz="1800" b="1" dirty="0"/>
              <a:t>1970</a:t>
            </a:r>
            <a:r>
              <a:rPr lang="en-US" sz="1800" dirty="0"/>
              <a:t> – Patents Act enacted </a:t>
            </a:r>
          </a:p>
          <a:p>
            <a:r>
              <a:rPr lang="en-US" sz="1800" b="1" dirty="0"/>
              <a:t>1972</a:t>
            </a:r>
            <a:r>
              <a:rPr lang="en-US" sz="1800" dirty="0"/>
              <a:t> – Patents Act came into force </a:t>
            </a:r>
          </a:p>
          <a:p>
            <a:r>
              <a:rPr lang="en-US" sz="1800" b="1" dirty="0"/>
              <a:t>1999, 2002 and 2005</a:t>
            </a:r>
            <a:r>
              <a:rPr lang="en-US" sz="1800" dirty="0"/>
              <a:t> – Major amendments </a:t>
            </a:r>
          </a:p>
          <a:p>
            <a:r>
              <a:rPr lang="en-US" sz="1800" b="1" dirty="0"/>
              <a:t>2005</a:t>
            </a:r>
            <a:r>
              <a:rPr lang="en-US" sz="1800" dirty="0"/>
              <a:t> – Product patent protection restored for pharmaceuticals and other areas covered by the amendment </a:t>
            </a:r>
          </a:p>
          <a:p>
            <a:pPr marL="0" indent="0">
              <a:buNone/>
            </a:pPr>
            <a:r>
              <a:rPr lang="en-US" sz="1800" b="1" dirty="0"/>
              <a:t>Important</a:t>
            </a:r>
          </a:p>
          <a:p>
            <a:r>
              <a:rPr lang="en-US" sz="1800" dirty="0"/>
              <a:t>The current Indian patent regime is based on the </a:t>
            </a:r>
            <a:r>
              <a:rPr lang="en-US" sz="1800" b="1" dirty="0"/>
              <a:t>Patents Act, 1970, as amended from time to time</a:t>
            </a:r>
            <a:r>
              <a:rPr lang="en-US" sz="1800" dirty="0"/>
              <a:t>.</a:t>
            </a:r>
          </a:p>
        </p:txBody>
      </p:sp>
    </p:spTree>
    <p:extLst>
      <p:ext uri="{BB962C8B-B14F-4D97-AF65-F5344CB8AC3E}">
        <p14:creationId xmlns:p14="http://schemas.microsoft.com/office/powerpoint/2010/main" val="1663980020"/>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Indian Patents Act, 1970</a:t>
            </a:r>
            <a:endParaRPr lang="en-US" dirty="0"/>
          </a:p>
        </p:txBody>
      </p:sp>
      <p:sp>
        <p:nvSpPr>
          <p:cNvPr id="3" name="Content Placeholder 2"/>
          <p:cNvSpPr>
            <a:spLocks noGrp="1"/>
          </p:cNvSpPr>
          <p:nvPr>
            <p:ph idx="1"/>
          </p:nvPr>
        </p:nvSpPr>
        <p:spPr>
          <a:xfrm>
            <a:off x="695960" y="1301749"/>
            <a:ext cx="10800000" cy="5155322"/>
          </a:xfrm>
        </p:spPr>
        <p:txBody>
          <a:bodyPr numCol="2">
            <a:normAutofit fontScale="85000" lnSpcReduction="20000"/>
          </a:bodyPr>
          <a:lstStyle/>
          <a:p>
            <a:pPr marL="0" indent="0">
              <a:buNone/>
            </a:pPr>
            <a:r>
              <a:rPr lang="en-US" b="1" dirty="0"/>
              <a:t>Patents Act, 1970</a:t>
            </a:r>
          </a:p>
          <a:p>
            <a:pPr marL="0" indent="0">
              <a:buNone/>
            </a:pPr>
            <a:r>
              <a:rPr lang="en-US" dirty="0"/>
              <a:t>The Patents Act, 1970 is the principal legislation governing patents in India.</a:t>
            </a:r>
          </a:p>
          <a:p>
            <a:pPr marL="0" indent="0">
              <a:buNone/>
            </a:pPr>
            <a:r>
              <a:rPr lang="en-US" b="1" dirty="0"/>
              <a:t>Objectives</a:t>
            </a:r>
          </a:p>
          <a:p>
            <a:r>
              <a:rPr lang="en-US" dirty="0"/>
              <a:t>Encourage inventions </a:t>
            </a:r>
          </a:p>
          <a:p>
            <a:r>
              <a:rPr lang="en-US" dirty="0"/>
              <a:t>Promote technological development </a:t>
            </a:r>
          </a:p>
          <a:p>
            <a:r>
              <a:rPr lang="en-US" dirty="0"/>
              <a:t>Provide patent protection </a:t>
            </a:r>
          </a:p>
          <a:p>
            <a:r>
              <a:rPr lang="en-US" dirty="0"/>
              <a:t>Regulate patent administration </a:t>
            </a:r>
          </a:p>
          <a:p>
            <a:r>
              <a:rPr lang="en-US" dirty="0"/>
              <a:t>Balance private rights with public interest </a:t>
            </a:r>
          </a:p>
          <a:p>
            <a:pPr marL="0" indent="0">
              <a:buNone/>
            </a:pPr>
            <a:endParaRPr lang="en-US" b="1" dirty="0" smtClean="0"/>
          </a:p>
          <a:p>
            <a:pPr marL="0" indent="0">
              <a:buNone/>
            </a:pPr>
            <a:endParaRPr lang="en-US" b="1" dirty="0"/>
          </a:p>
          <a:p>
            <a:pPr marL="0" indent="0">
              <a:buNone/>
            </a:pPr>
            <a:r>
              <a:rPr lang="en-US" b="1" dirty="0" smtClean="0"/>
              <a:t>Important </a:t>
            </a:r>
            <a:r>
              <a:rPr lang="en-US" b="1" dirty="0"/>
              <a:t>Areas Covered</a:t>
            </a:r>
          </a:p>
          <a:p>
            <a:r>
              <a:rPr lang="en-US" dirty="0"/>
              <a:t>Patent applications </a:t>
            </a:r>
          </a:p>
          <a:p>
            <a:r>
              <a:rPr lang="en-US" dirty="0"/>
              <a:t>Patentability </a:t>
            </a:r>
          </a:p>
          <a:p>
            <a:r>
              <a:rPr lang="en-US" dirty="0"/>
              <a:t>Specifications </a:t>
            </a:r>
          </a:p>
          <a:p>
            <a:r>
              <a:rPr lang="en-US" dirty="0"/>
              <a:t>Examination </a:t>
            </a:r>
          </a:p>
          <a:p>
            <a:r>
              <a:rPr lang="en-US" dirty="0"/>
              <a:t>Grant </a:t>
            </a:r>
          </a:p>
          <a:p>
            <a:r>
              <a:rPr lang="en-US" dirty="0"/>
              <a:t>Rights of patentees </a:t>
            </a:r>
          </a:p>
          <a:p>
            <a:r>
              <a:rPr lang="en-US" dirty="0"/>
              <a:t>Opposition </a:t>
            </a:r>
          </a:p>
          <a:p>
            <a:r>
              <a:rPr lang="en-US" dirty="0"/>
              <a:t>Revocation </a:t>
            </a:r>
          </a:p>
          <a:p>
            <a:r>
              <a:rPr lang="en-US" dirty="0"/>
              <a:t>Infringement </a:t>
            </a:r>
          </a:p>
          <a:p>
            <a:r>
              <a:rPr lang="en-US" dirty="0"/>
              <a:t>Patent agents</a:t>
            </a:r>
          </a:p>
        </p:txBody>
      </p:sp>
    </p:spTree>
    <p:extLst>
      <p:ext uri="{BB962C8B-B14F-4D97-AF65-F5344CB8AC3E}">
        <p14:creationId xmlns:p14="http://schemas.microsoft.com/office/powerpoint/2010/main" val="23695856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was the 1970 Act Important?</a:t>
            </a:r>
          </a:p>
        </p:txBody>
      </p:sp>
      <p:sp>
        <p:nvSpPr>
          <p:cNvPr id="3" name="Content Placeholder 2"/>
          <p:cNvSpPr>
            <a:spLocks noGrp="1"/>
          </p:cNvSpPr>
          <p:nvPr>
            <p:ph idx="1"/>
          </p:nvPr>
        </p:nvSpPr>
        <p:spPr/>
        <p:txBody>
          <a:bodyPr>
            <a:normAutofit fontScale="92500"/>
          </a:bodyPr>
          <a:lstStyle/>
          <a:p>
            <a:pPr marL="0" indent="0">
              <a:buNone/>
            </a:pPr>
            <a:r>
              <a:rPr lang="en-US" dirty="0"/>
              <a:t>The 1970 Act represented a major restructuring of India's patent system.</a:t>
            </a:r>
          </a:p>
          <a:p>
            <a:pPr marL="0" indent="0">
              <a:buNone/>
            </a:pPr>
            <a:r>
              <a:rPr lang="en-US" b="1" dirty="0"/>
              <a:t>Major characteristics</a:t>
            </a:r>
          </a:p>
          <a:p>
            <a:r>
              <a:rPr lang="en-US" dirty="0"/>
              <a:t>Focused on promoting domestic technological development. </a:t>
            </a:r>
          </a:p>
          <a:p>
            <a:r>
              <a:rPr lang="en-US" dirty="0"/>
              <a:t>Limited product patent protection in certain sectors, particularly pharmaceuticals and food. </a:t>
            </a:r>
          </a:p>
          <a:p>
            <a:r>
              <a:rPr lang="en-US" dirty="0"/>
              <a:t>Provided stronger emphasis on process patents in those sectors. </a:t>
            </a:r>
          </a:p>
          <a:p>
            <a:r>
              <a:rPr lang="en-US" dirty="0"/>
              <a:t>Included provisions relating to compulsory licensing and public interest. </a:t>
            </a:r>
          </a:p>
          <a:p>
            <a:pPr marL="0" indent="0">
              <a:buNone/>
            </a:pPr>
            <a:r>
              <a:rPr lang="en-US" b="1" dirty="0"/>
              <a:t>Later Development</a:t>
            </a:r>
          </a:p>
          <a:p>
            <a:r>
              <a:rPr lang="en-US" dirty="0"/>
              <a:t>India's obligations under </a:t>
            </a:r>
            <a:r>
              <a:rPr lang="en-US" b="1" dirty="0"/>
              <a:t>TRIPS</a:t>
            </a:r>
            <a:r>
              <a:rPr lang="en-US" dirty="0"/>
              <a:t> led to substantial amendments to the patent regime.</a:t>
            </a:r>
          </a:p>
        </p:txBody>
      </p:sp>
    </p:spTree>
    <p:extLst>
      <p:ext uri="{BB962C8B-B14F-4D97-AF65-F5344CB8AC3E}">
        <p14:creationId xmlns:p14="http://schemas.microsoft.com/office/powerpoint/2010/main" val="250776643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2002 Amendment to the Patents Act</a:t>
            </a:r>
          </a:p>
        </p:txBody>
      </p:sp>
      <p:sp>
        <p:nvSpPr>
          <p:cNvPr id="3" name="Content Placeholder 2"/>
          <p:cNvSpPr>
            <a:spLocks noGrp="1"/>
          </p:cNvSpPr>
          <p:nvPr>
            <p:ph idx="1"/>
          </p:nvPr>
        </p:nvSpPr>
        <p:spPr>
          <a:xfrm>
            <a:off x="695960" y="1301749"/>
            <a:ext cx="10800000" cy="5141254"/>
          </a:xfrm>
        </p:spPr>
        <p:txBody>
          <a:bodyPr>
            <a:normAutofit fontScale="70000" lnSpcReduction="20000"/>
          </a:bodyPr>
          <a:lstStyle/>
          <a:p>
            <a:pPr marL="0" indent="0">
              <a:buNone/>
            </a:pPr>
            <a:r>
              <a:rPr lang="en-US" dirty="0"/>
              <a:t>The </a:t>
            </a:r>
            <a:r>
              <a:rPr lang="en-US" b="1" dirty="0"/>
              <a:t>Patents (Amendment) Act, 2002</a:t>
            </a:r>
            <a:r>
              <a:rPr lang="en-US" dirty="0"/>
              <a:t> was an important step in bringing Indian patent law into greater conformity with TRIPS obligations.</a:t>
            </a:r>
          </a:p>
          <a:p>
            <a:pPr marL="0" indent="0">
              <a:buNone/>
            </a:pPr>
            <a:r>
              <a:rPr lang="en-US" b="1" dirty="0"/>
              <a:t>Major developments included:</a:t>
            </a:r>
          </a:p>
          <a:p>
            <a:r>
              <a:rPr lang="en-US" dirty="0"/>
              <a:t>Strengthening patent examination provisions. </a:t>
            </a:r>
          </a:p>
          <a:p>
            <a:r>
              <a:rPr lang="en-US" dirty="0"/>
              <a:t>Changes relating to patent terms and procedures. </a:t>
            </a:r>
          </a:p>
          <a:p>
            <a:r>
              <a:rPr lang="en-US" dirty="0"/>
              <a:t>Introduction of </a:t>
            </a:r>
            <a:r>
              <a:rPr lang="en-US" b="1" dirty="0"/>
              <a:t>18-month publication</a:t>
            </a:r>
            <a:r>
              <a:rPr lang="en-US" dirty="0"/>
              <a:t> of applications. </a:t>
            </a:r>
          </a:p>
          <a:p>
            <a:r>
              <a:rPr lang="en-US" dirty="0"/>
              <a:t>Changes concerning opposition. </a:t>
            </a:r>
          </a:p>
          <a:p>
            <a:r>
              <a:rPr lang="en-US" dirty="0"/>
              <a:t>Recognition of the international patent filing framework in Indian law. </a:t>
            </a:r>
          </a:p>
          <a:p>
            <a:r>
              <a:rPr lang="en-US" dirty="0"/>
              <a:t>Changes relating to patent rights and procedures. </a:t>
            </a:r>
          </a:p>
          <a:p>
            <a:pPr marL="0" indent="0">
              <a:buNone/>
            </a:pPr>
            <a:r>
              <a:rPr lang="en-US" b="1" dirty="0"/>
              <a:t>Important Exam Point</a:t>
            </a:r>
          </a:p>
          <a:p>
            <a:r>
              <a:rPr lang="en-US" b="1" dirty="0"/>
              <a:t>2002 was one of several major amendments.</a:t>
            </a:r>
            <a:endParaRPr lang="en-US" dirty="0"/>
          </a:p>
          <a:p>
            <a:r>
              <a:rPr lang="en-US" dirty="0"/>
              <a:t>The </a:t>
            </a:r>
            <a:r>
              <a:rPr lang="en-US" b="1" dirty="0"/>
              <a:t>2005 amendment</a:t>
            </a:r>
            <a:r>
              <a:rPr lang="en-US" dirty="0"/>
              <a:t> was especially significant because it introduced product patent protection in areas such as pharmaceuticals.</a:t>
            </a:r>
          </a:p>
        </p:txBody>
      </p:sp>
    </p:spTree>
    <p:extLst>
      <p:ext uri="{BB962C8B-B14F-4D97-AF65-F5344CB8AC3E}">
        <p14:creationId xmlns:p14="http://schemas.microsoft.com/office/powerpoint/2010/main" val="362814656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2005 Amendment – Important Context</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Although the syllabus mentions </a:t>
            </a:r>
            <a:r>
              <a:rPr lang="en-US" b="1" dirty="0"/>
              <a:t>1970 &amp; 2002</a:t>
            </a:r>
            <a:r>
              <a:rPr lang="en-US" dirty="0"/>
              <a:t>, students should know the importance of the </a:t>
            </a:r>
            <a:r>
              <a:rPr lang="en-US" b="1" dirty="0"/>
              <a:t>2005 amendment</a:t>
            </a:r>
            <a:r>
              <a:rPr lang="en-US" dirty="0"/>
              <a:t>.</a:t>
            </a:r>
          </a:p>
          <a:p>
            <a:pPr marL="0" indent="0">
              <a:buNone/>
            </a:pPr>
            <a:r>
              <a:rPr lang="en-US" b="1" dirty="0"/>
              <a:t>Major change</a:t>
            </a:r>
          </a:p>
          <a:p>
            <a:r>
              <a:rPr lang="en-US" dirty="0"/>
              <a:t>India moved to a system providing </a:t>
            </a:r>
            <a:r>
              <a:rPr lang="en-US" b="1" dirty="0"/>
              <a:t>product patent protection</a:t>
            </a:r>
            <a:r>
              <a:rPr lang="en-US" dirty="0"/>
              <a:t> in areas where TRIPS required it.</a:t>
            </a:r>
          </a:p>
          <a:p>
            <a:pPr marL="0" indent="0">
              <a:buNone/>
            </a:pPr>
            <a:r>
              <a:rPr lang="en-US" b="1" dirty="0"/>
              <a:t>Example</a:t>
            </a:r>
          </a:p>
          <a:p>
            <a:r>
              <a:rPr lang="en-US" dirty="0"/>
              <a:t>Pharmaceutical products could receive product patent protection, subject to the requirements and exclusions under the Patents Act.</a:t>
            </a:r>
          </a:p>
          <a:p>
            <a:pPr marL="0" indent="0">
              <a:buNone/>
            </a:pPr>
            <a:r>
              <a:rPr lang="en-US" b="1" dirty="0"/>
              <a:t>Why?</a:t>
            </a:r>
          </a:p>
          <a:p>
            <a:r>
              <a:rPr lang="en-US" dirty="0"/>
              <a:t>To comply with India's obligations under the </a:t>
            </a:r>
            <a:r>
              <a:rPr lang="en-US" b="1" dirty="0"/>
              <a:t>TRIPS Agreement</a:t>
            </a:r>
            <a:r>
              <a:rPr lang="en-US" dirty="0"/>
              <a:t>.</a:t>
            </a:r>
          </a:p>
        </p:txBody>
      </p:sp>
    </p:spTree>
    <p:extLst>
      <p:ext uri="{BB962C8B-B14F-4D97-AF65-F5344CB8AC3E}">
        <p14:creationId xmlns:p14="http://schemas.microsoft.com/office/powerpoint/2010/main" val="321412343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Patentable Invention</a:t>
            </a:r>
            <a:endParaRPr lang="en-US" dirty="0"/>
          </a:p>
        </p:txBody>
      </p:sp>
      <p:sp>
        <p:nvSpPr>
          <p:cNvPr id="3" name="Content Placeholder 2"/>
          <p:cNvSpPr>
            <a:spLocks noGrp="1"/>
          </p:cNvSpPr>
          <p:nvPr>
            <p:ph idx="1"/>
          </p:nvPr>
        </p:nvSpPr>
        <p:spPr>
          <a:xfrm>
            <a:off x="695960" y="1301749"/>
            <a:ext cx="11008360" cy="4620749"/>
          </a:xfrm>
        </p:spPr>
        <p:txBody>
          <a:bodyPr numCol="2">
            <a:normAutofit/>
          </a:bodyPr>
          <a:lstStyle/>
          <a:p>
            <a:pPr marL="0" indent="0">
              <a:buNone/>
            </a:pPr>
            <a:r>
              <a:rPr lang="en-US" b="1" dirty="0"/>
              <a:t>What is Patentable Subject Matter?</a:t>
            </a:r>
          </a:p>
          <a:p>
            <a:pPr marL="0" indent="0">
              <a:buNone/>
            </a:pPr>
            <a:r>
              <a:rPr lang="en-US" dirty="0"/>
              <a:t>A patentable invention generally must:</a:t>
            </a:r>
          </a:p>
          <a:p>
            <a:r>
              <a:rPr lang="en-US" dirty="0"/>
              <a:t>Be new. </a:t>
            </a:r>
          </a:p>
          <a:p>
            <a:r>
              <a:rPr lang="en-US" dirty="0"/>
              <a:t>Involve an inventive step. </a:t>
            </a:r>
          </a:p>
          <a:p>
            <a:r>
              <a:rPr lang="en-US" dirty="0"/>
              <a:t>Be capable of industrial application. </a:t>
            </a:r>
          </a:p>
          <a:p>
            <a:r>
              <a:rPr lang="en-US" dirty="0"/>
              <a:t>Fall within patentable subject matter. </a:t>
            </a:r>
          </a:p>
          <a:p>
            <a:r>
              <a:rPr lang="en-US" dirty="0"/>
              <a:t>Not be excluded by the Patents Act. </a:t>
            </a:r>
          </a:p>
          <a:p>
            <a:pPr marL="0" indent="0">
              <a:buNone/>
            </a:pPr>
            <a:r>
              <a:rPr lang="en-US" b="1" dirty="0"/>
              <a:t>Examples</a:t>
            </a:r>
          </a:p>
          <a:p>
            <a:r>
              <a:rPr lang="en-US" dirty="0"/>
              <a:t>New medical device </a:t>
            </a:r>
          </a:p>
          <a:p>
            <a:r>
              <a:rPr lang="en-US" dirty="0"/>
              <a:t>Improved industrial machine </a:t>
            </a:r>
          </a:p>
          <a:p>
            <a:r>
              <a:rPr lang="en-US" dirty="0"/>
              <a:t>New manufacturing process </a:t>
            </a:r>
          </a:p>
          <a:p>
            <a:r>
              <a:rPr lang="en-US" dirty="0"/>
              <a:t>New technical apparatus </a:t>
            </a:r>
          </a:p>
          <a:p>
            <a:r>
              <a:rPr lang="en-US" dirty="0"/>
              <a:t>Innovative engineering technology </a:t>
            </a:r>
          </a:p>
          <a:p>
            <a:r>
              <a:rPr lang="en-US" dirty="0"/>
              <a:t>Certain biotechnology inventions, subject to statutory exclusions </a:t>
            </a:r>
          </a:p>
        </p:txBody>
      </p:sp>
    </p:spTree>
    <p:extLst>
      <p:ext uri="{BB962C8B-B14F-4D97-AF65-F5344CB8AC3E}">
        <p14:creationId xmlns:p14="http://schemas.microsoft.com/office/powerpoint/2010/main" val="420361584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Non-Patentable Inventions</a:t>
            </a:r>
            <a:endParaRPr lang="en-US" dirty="0"/>
          </a:p>
        </p:txBody>
      </p:sp>
      <p:sp>
        <p:nvSpPr>
          <p:cNvPr id="3" name="Content Placeholder 2"/>
          <p:cNvSpPr>
            <a:spLocks noGrp="1"/>
          </p:cNvSpPr>
          <p:nvPr>
            <p:ph idx="1"/>
          </p:nvPr>
        </p:nvSpPr>
        <p:spPr/>
        <p:txBody>
          <a:bodyPr numCol="2">
            <a:normAutofit fontScale="85000" lnSpcReduction="10000"/>
          </a:bodyPr>
          <a:lstStyle/>
          <a:p>
            <a:pPr marL="0" indent="0">
              <a:buNone/>
            </a:pPr>
            <a:r>
              <a:rPr lang="en-US" dirty="0"/>
              <a:t>Not every new idea qualifies for a patent.</a:t>
            </a:r>
          </a:p>
          <a:p>
            <a:pPr marL="0" indent="0">
              <a:buNone/>
            </a:pPr>
            <a:r>
              <a:rPr lang="en-US" dirty="0"/>
              <a:t>Indian patent law contains </a:t>
            </a:r>
            <a:r>
              <a:rPr lang="en-US" b="1" dirty="0"/>
              <a:t>statutory exclusions</a:t>
            </a:r>
            <a:r>
              <a:rPr lang="en-US" dirty="0"/>
              <a:t> under Sections </a:t>
            </a:r>
            <a:r>
              <a:rPr lang="en-US" b="1" dirty="0"/>
              <a:t>3 and 4</a:t>
            </a:r>
            <a:r>
              <a:rPr lang="en-US" dirty="0"/>
              <a:t> of the Patents Act.</a:t>
            </a:r>
          </a:p>
          <a:p>
            <a:pPr marL="0" indent="0">
              <a:buNone/>
            </a:pPr>
            <a:r>
              <a:rPr lang="en-US" dirty="0"/>
              <a:t>Examples include, subject to the precise statutory wording:</a:t>
            </a:r>
          </a:p>
          <a:p>
            <a:r>
              <a:rPr lang="en-US" dirty="0"/>
              <a:t>Frivolous inventions </a:t>
            </a:r>
          </a:p>
          <a:p>
            <a:r>
              <a:rPr lang="en-US" dirty="0"/>
              <a:t>Inventions contrary to public order or morality </a:t>
            </a:r>
          </a:p>
          <a:p>
            <a:r>
              <a:rPr lang="en-US" dirty="0"/>
              <a:t>Certain discoveries </a:t>
            </a:r>
          </a:p>
          <a:p>
            <a:r>
              <a:rPr lang="en-US" dirty="0"/>
              <a:t>Certain new forms or uses of known substances </a:t>
            </a:r>
          </a:p>
          <a:p>
            <a:r>
              <a:rPr lang="en-US" dirty="0"/>
              <a:t>Methods of agriculture or horticulture </a:t>
            </a:r>
          </a:p>
          <a:p>
            <a:r>
              <a:rPr lang="en-US" dirty="0"/>
              <a:t>Medical, surgical, curative, prophylactic or other treatment methods </a:t>
            </a:r>
          </a:p>
          <a:p>
            <a:r>
              <a:rPr lang="en-US" dirty="0"/>
              <a:t>Plants and animals, except certain microorganisms </a:t>
            </a:r>
          </a:p>
          <a:p>
            <a:r>
              <a:rPr lang="en-US" dirty="0"/>
              <a:t>Mathematical methods </a:t>
            </a:r>
          </a:p>
          <a:p>
            <a:r>
              <a:rPr lang="en-US" dirty="0"/>
              <a:t>Business methods </a:t>
            </a:r>
          </a:p>
          <a:p>
            <a:r>
              <a:rPr lang="en-US" dirty="0"/>
              <a:t>Computer program </a:t>
            </a:r>
            <a:r>
              <a:rPr lang="en-US" i="1" dirty="0"/>
              <a:t>per se</a:t>
            </a:r>
            <a:r>
              <a:rPr lang="en-US" dirty="0"/>
              <a:t> </a:t>
            </a:r>
          </a:p>
          <a:p>
            <a:r>
              <a:rPr lang="en-US" dirty="0"/>
              <a:t>Algorithms </a:t>
            </a:r>
          </a:p>
          <a:p>
            <a:r>
              <a:rPr lang="en-US" dirty="0"/>
              <a:t>Traditional knowledge-related subject matter</a:t>
            </a:r>
          </a:p>
        </p:txBody>
      </p:sp>
    </p:spTree>
    <p:extLst>
      <p:ext uri="{BB962C8B-B14F-4D97-AF65-F5344CB8AC3E}">
        <p14:creationId xmlns:p14="http://schemas.microsoft.com/office/powerpoint/2010/main" val="48781272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Section 3 – Important Exclusions</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Section 3 of the Patents Act</a:t>
            </a:r>
          </a:p>
          <a:p>
            <a:pPr marL="0" indent="0">
              <a:buNone/>
            </a:pPr>
            <a:r>
              <a:rPr lang="en-US" dirty="0"/>
              <a:t>Section 3 identifies inventions that are </a:t>
            </a:r>
            <a:r>
              <a:rPr lang="en-US" b="1" dirty="0"/>
              <a:t>not inventions within the meaning of the Act</a:t>
            </a:r>
            <a:r>
              <a:rPr lang="en-US" dirty="0"/>
              <a:t>.</a:t>
            </a:r>
          </a:p>
          <a:p>
            <a:pPr marL="0" indent="0">
              <a:buNone/>
            </a:pPr>
            <a:r>
              <a:rPr lang="en-US" b="1" dirty="0"/>
              <a:t>Important examples</a:t>
            </a:r>
          </a:p>
          <a:p>
            <a:r>
              <a:rPr lang="en-US" b="1" dirty="0"/>
              <a:t>Section 3(c)</a:t>
            </a:r>
            <a:r>
              <a:rPr lang="en-US" dirty="0"/>
              <a:t/>
            </a:r>
            <a:br>
              <a:rPr lang="en-US" dirty="0"/>
            </a:br>
            <a:r>
              <a:rPr lang="en-US" dirty="0"/>
              <a:t>Mere discovery of a scientific principle or formulation of an abstract theory.</a:t>
            </a:r>
          </a:p>
          <a:p>
            <a:r>
              <a:rPr lang="en-US" b="1" dirty="0"/>
              <a:t>Section 3(d)</a:t>
            </a:r>
            <a:r>
              <a:rPr lang="en-US" dirty="0"/>
              <a:t/>
            </a:r>
            <a:br>
              <a:rPr lang="en-US" dirty="0"/>
            </a:br>
            <a:r>
              <a:rPr lang="en-US" dirty="0"/>
              <a:t>Certain new forms of known substances that do not satisfy the required enhanced efficacy standard.</a:t>
            </a:r>
          </a:p>
          <a:p>
            <a:r>
              <a:rPr lang="en-US" b="1" dirty="0"/>
              <a:t>Section 3(i)</a:t>
            </a:r>
            <a:r>
              <a:rPr lang="en-US" dirty="0"/>
              <a:t/>
            </a:r>
            <a:br>
              <a:rPr lang="en-US" dirty="0"/>
            </a:br>
            <a:r>
              <a:rPr lang="en-US" dirty="0"/>
              <a:t>Certain medical or treatment methods.</a:t>
            </a:r>
          </a:p>
          <a:p>
            <a:r>
              <a:rPr lang="en-US" b="1" dirty="0"/>
              <a:t>Section 3(k)</a:t>
            </a:r>
            <a:r>
              <a:rPr lang="en-US" dirty="0"/>
              <a:t/>
            </a:r>
            <a:br>
              <a:rPr lang="en-US" dirty="0"/>
            </a:br>
            <a:r>
              <a:rPr lang="en-US" dirty="0"/>
              <a:t>A mathematical method, business method, computer programme </a:t>
            </a:r>
            <a:r>
              <a:rPr lang="en-US" i="1" dirty="0"/>
              <a:t>per se</a:t>
            </a:r>
            <a:r>
              <a:rPr lang="en-US" dirty="0"/>
              <a:t>, or algorithms.</a:t>
            </a:r>
          </a:p>
        </p:txBody>
      </p:sp>
    </p:spTree>
    <p:extLst>
      <p:ext uri="{BB962C8B-B14F-4D97-AF65-F5344CB8AC3E}">
        <p14:creationId xmlns:p14="http://schemas.microsoft.com/office/powerpoint/2010/main" val="341345847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Section 4 – Atomic Energy</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Certain inventions relating to </a:t>
            </a:r>
            <a:r>
              <a:rPr lang="en-US" b="1" dirty="0"/>
              <a:t>atomic energy</a:t>
            </a:r>
            <a:r>
              <a:rPr lang="en-US" dirty="0"/>
              <a:t> are excluded from patentability.</a:t>
            </a:r>
          </a:p>
          <a:p>
            <a:pPr marL="0" indent="0">
              <a:buNone/>
            </a:pPr>
            <a:r>
              <a:rPr lang="en-US" b="1" dirty="0"/>
              <a:t>Section </a:t>
            </a:r>
            <a:r>
              <a:rPr lang="en-US" b="1" dirty="0" smtClean="0"/>
              <a:t>4</a:t>
            </a:r>
          </a:p>
          <a:p>
            <a:r>
              <a:rPr lang="en-US" dirty="0"/>
              <a:t>Inventions relating to atomic energy falling within the relevant provisions of the Atomic Energy Act are not patentable</a:t>
            </a:r>
            <a:r>
              <a:rPr lang="en-US" dirty="0" smtClean="0"/>
              <a:t>.</a:t>
            </a:r>
          </a:p>
          <a:p>
            <a:pPr marL="0" indent="0">
              <a:buNone/>
            </a:pPr>
            <a:r>
              <a:rPr lang="en-US" b="1" dirty="0"/>
              <a:t>Reason</a:t>
            </a:r>
          </a:p>
          <a:p>
            <a:r>
              <a:rPr lang="en-US" dirty="0"/>
              <a:t>Atomic energy is considered a matter of:</a:t>
            </a:r>
          </a:p>
          <a:p>
            <a:r>
              <a:rPr lang="en-US" dirty="0"/>
              <a:t>National security </a:t>
            </a:r>
          </a:p>
          <a:p>
            <a:r>
              <a:rPr lang="en-US" dirty="0"/>
              <a:t>Strategic importance </a:t>
            </a:r>
          </a:p>
          <a:p>
            <a:r>
              <a:rPr lang="en-US" dirty="0"/>
              <a:t>Public interest</a:t>
            </a:r>
          </a:p>
          <a:p>
            <a:endParaRPr lang="en-US" b="1" dirty="0"/>
          </a:p>
        </p:txBody>
      </p:sp>
    </p:spTree>
    <p:extLst>
      <p:ext uri="{BB962C8B-B14F-4D97-AF65-F5344CB8AC3E}">
        <p14:creationId xmlns:p14="http://schemas.microsoft.com/office/powerpoint/2010/main" val="190374595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 Application Process</a:t>
            </a:r>
            <a:endParaRPr lang="en-US" dirty="0"/>
          </a:p>
        </p:txBody>
      </p:sp>
      <p:sp>
        <p:nvSpPr>
          <p:cNvPr id="3" name="Content Placeholder 2"/>
          <p:cNvSpPr>
            <a:spLocks noGrp="1"/>
          </p:cNvSpPr>
          <p:nvPr>
            <p:ph idx="1"/>
          </p:nvPr>
        </p:nvSpPr>
        <p:spPr/>
        <p:txBody>
          <a:bodyPr numCol="2">
            <a:normAutofit fontScale="92500" lnSpcReduction="10000"/>
          </a:bodyPr>
          <a:lstStyle/>
          <a:p>
            <a:pPr marL="0" indent="0">
              <a:buNone/>
            </a:pPr>
            <a:r>
              <a:rPr lang="en-IN" b="1" dirty="0"/>
              <a:t>General Process</a:t>
            </a:r>
          </a:p>
          <a:p>
            <a:pPr marL="0" indent="0" algn="ctr">
              <a:lnSpc>
                <a:spcPct val="120000"/>
              </a:lnSpc>
              <a:spcBef>
                <a:spcPts val="800"/>
              </a:spcBef>
              <a:buNone/>
            </a:pPr>
            <a:r>
              <a:rPr lang="en-IN" b="1" dirty="0"/>
              <a:t>Invention</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Prior-Art Search</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Prepare Application</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File Patent Application</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Publication</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Request for Examination</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Examination</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FER / Objections</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Response / Hearing</a:t>
            </a:r>
            <a:endParaRPr lang="en-IN" dirty="0"/>
          </a:p>
          <a:p>
            <a:pPr marL="0" indent="0" algn="ctr">
              <a:lnSpc>
                <a:spcPct val="120000"/>
              </a:lnSpc>
              <a:spcBef>
                <a:spcPts val="800"/>
              </a:spcBef>
              <a:buNone/>
            </a:pPr>
            <a:r>
              <a:rPr lang="en-IN" dirty="0"/>
              <a:t>↓</a:t>
            </a:r>
          </a:p>
          <a:p>
            <a:pPr marL="0" indent="0" algn="ctr">
              <a:lnSpc>
                <a:spcPct val="120000"/>
              </a:lnSpc>
              <a:spcBef>
                <a:spcPts val="800"/>
              </a:spcBef>
              <a:buNone/>
            </a:pPr>
            <a:r>
              <a:rPr lang="en-IN" b="1" dirty="0"/>
              <a:t>Grant or Refusal</a:t>
            </a:r>
            <a:endParaRPr lang="en-IN" dirty="0"/>
          </a:p>
        </p:txBody>
      </p:sp>
    </p:spTree>
    <p:extLst>
      <p:ext uri="{BB962C8B-B14F-4D97-AF65-F5344CB8AC3E}">
        <p14:creationId xmlns:p14="http://schemas.microsoft.com/office/powerpoint/2010/main" val="107073792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 Identify the Invention</a:t>
            </a:r>
          </a:p>
        </p:txBody>
      </p:sp>
      <p:sp>
        <p:nvSpPr>
          <p:cNvPr id="3" name="Content Placeholder 2"/>
          <p:cNvSpPr>
            <a:spLocks noGrp="1"/>
          </p:cNvSpPr>
          <p:nvPr>
            <p:ph idx="1"/>
          </p:nvPr>
        </p:nvSpPr>
        <p:spPr/>
        <p:txBody>
          <a:bodyPr numCol="2">
            <a:normAutofit lnSpcReduction="10000"/>
          </a:bodyPr>
          <a:lstStyle/>
          <a:p>
            <a:pPr marL="0" indent="0">
              <a:buNone/>
            </a:pPr>
            <a:r>
              <a:rPr lang="en-US" dirty="0"/>
              <a:t>Before </a:t>
            </a:r>
            <a:r>
              <a:rPr lang="en-US" dirty="0" smtClean="0"/>
              <a:t>filing: </a:t>
            </a:r>
            <a:r>
              <a:rPr lang="en-US" b="1" dirty="0" smtClean="0"/>
              <a:t>Identify</a:t>
            </a:r>
            <a:endParaRPr lang="en-US" b="1" dirty="0"/>
          </a:p>
          <a:p>
            <a:r>
              <a:rPr lang="en-US" dirty="0"/>
              <a:t>What is new? </a:t>
            </a:r>
          </a:p>
          <a:p>
            <a:r>
              <a:rPr lang="en-US" dirty="0"/>
              <a:t>What problem does it solve? </a:t>
            </a:r>
          </a:p>
          <a:p>
            <a:r>
              <a:rPr lang="en-US" dirty="0"/>
              <a:t>How does it work? </a:t>
            </a:r>
          </a:p>
          <a:p>
            <a:r>
              <a:rPr lang="en-US" dirty="0"/>
              <a:t>What technical advantage does it provide? </a:t>
            </a:r>
          </a:p>
          <a:p>
            <a:pPr marL="0" indent="0">
              <a:buNone/>
            </a:pPr>
            <a:r>
              <a:rPr lang="en-US" b="1" dirty="0"/>
              <a:t>Document</a:t>
            </a:r>
          </a:p>
          <a:p>
            <a:pPr marL="0" indent="0">
              <a:buNone/>
            </a:pPr>
            <a:r>
              <a:rPr lang="en-US" dirty="0"/>
              <a:t>Maintain records of:</a:t>
            </a:r>
          </a:p>
          <a:p>
            <a:r>
              <a:rPr lang="en-US" dirty="0"/>
              <a:t>Research </a:t>
            </a:r>
          </a:p>
          <a:p>
            <a:r>
              <a:rPr lang="en-US" dirty="0"/>
              <a:t>Experiments </a:t>
            </a:r>
          </a:p>
          <a:p>
            <a:r>
              <a:rPr lang="en-US" dirty="0"/>
              <a:t>Drawings </a:t>
            </a:r>
          </a:p>
          <a:p>
            <a:r>
              <a:rPr lang="en-US" dirty="0"/>
              <a:t>Technical results </a:t>
            </a:r>
          </a:p>
          <a:p>
            <a:r>
              <a:rPr lang="en-US" dirty="0"/>
              <a:t>Development dates </a:t>
            </a:r>
          </a:p>
          <a:p>
            <a:pPr marL="0" indent="0">
              <a:buNone/>
            </a:pPr>
            <a:r>
              <a:rPr lang="en-US" b="1" dirty="0"/>
              <a:t>Important</a:t>
            </a:r>
          </a:p>
          <a:p>
            <a:r>
              <a:rPr lang="en-US" dirty="0"/>
              <a:t>Avoid unnecessary </a:t>
            </a:r>
            <a:r>
              <a:rPr lang="en-US" b="1" dirty="0"/>
              <a:t>public disclosure before filing</a:t>
            </a:r>
            <a:r>
              <a:rPr lang="en-US" dirty="0"/>
              <a:t>, because public disclosure can affect novelty.</a:t>
            </a:r>
          </a:p>
        </p:txBody>
      </p:sp>
    </p:spTree>
    <p:extLst>
      <p:ext uri="{BB962C8B-B14F-4D97-AF65-F5344CB8AC3E}">
        <p14:creationId xmlns:p14="http://schemas.microsoft.com/office/powerpoint/2010/main" val="419463179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2 – Patent Search</a:t>
            </a:r>
            <a:endParaRPr lang="en-US" dirty="0"/>
          </a:p>
        </p:txBody>
      </p:sp>
      <p:sp>
        <p:nvSpPr>
          <p:cNvPr id="3" name="Content Placeholder 2"/>
          <p:cNvSpPr>
            <a:spLocks noGrp="1"/>
          </p:cNvSpPr>
          <p:nvPr>
            <p:ph idx="1"/>
          </p:nvPr>
        </p:nvSpPr>
        <p:spPr>
          <a:xfrm>
            <a:off x="695960" y="1080000"/>
            <a:ext cx="10800000" cy="5405206"/>
          </a:xfrm>
        </p:spPr>
        <p:txBody>
          <a:bodyPr numCol="2">
            <a:normAutofit/>
          </a:bodyPr>
          <a:lstStyle/>
          <a:p>
            <a:pPr marL="0" indent="0">
              <a:buNone/>
            </a:pPr>
            <a:r>
              <a:rPr lang="en-US" dirty="0"/>
              <a:t>A </a:t>
            </a:r>
            <a:r>
              <a:rPr lang="en-US" b="1" dirty="0"/>
              <a:t>prior-art search</a:t>
            </a:r>
            <a:r>
              <a:rPr lang="en-US" dirty="0"/>
              <a:t> is conducted to determine whether similar inventions already exist.</a:t>
            </a:r>
          </a:p>
          <a:p>
            <a:pPr marL="0" indent="0">
              <a:buNone/>
            </a:pPr>
            <a:r>
              <a:rPr lang="en-US" b="1" dirty="0"/>
              <a:t>Search Sources</a:t>
            </a:r>
          </a:p>
          <a:p>
            <a:r>
              <a:rPr lang="en-US" dirty="0"/>
              <a:t>Patent databases </a:t>
            </a:r>
          </a:p>
          <a:p>
            <a:r>
              <a:rPr lang="en-US" dirty="0"/>
              <a:t>Research papers </a:t>
            </a:r>
          </a:p>
          <a:p>
            <a:r>
              <a:rPr lang="en-US" dirty="0"/>
              <a:t>Technical journals </a:t>
            </a:r>
          </a:p>
          <a:p>
            <a:r>
              <a:rPr lang="en-US" dirty="0"/>
              <a:t>Products </a:t>
            </a:r>
          </a:p>
          <a:p>
            <a:r>
              <a:rPr lang="en-US" dirty="0"/>
              <a:t>Conference publications </a:t>
            </a:r>
          </a:p>
          <a:p>
            <a:r>
              <a:rPr lang="en-US" dirty="0"/>
              <a:t>Internet sources </a:t>
            </a:r>
          </a:p>
          <a:p>
            <a:pPr marL="0" indent="0">
              <a:buNone/>
            </a:pPr>
            <a:r>
              <a:rPr lang="en-US" b="1" dirty="0"/>
              <a:t>Objectives</a:t>
            </a:r>
          </a:p>
          <a:p>
            <a:r>
              <a:rPr lang="en-US" dirty="0"/>
              <a:t>Determine novelty. </a:t>
            </a:r>
          </a:p>
          <a:p>
            <a:r>
              <a:rPr lang="en-US" dirty="0"/>
              <a:t>Identify similar inventions. </a:t>
            </a:r>
          </a:p>
          <a:p>
            <a:r>
              <a:rPr lang="en-US" dirty="0"/>
              <a:t>Refine patent claims. </a:t>
            </a:r>
          </a:p>
          <a:p>
            <a:r>
              <a:rPr lang="en-US" dirty="0"/>
              <a:t>Reduce the risk of rejection.</a:t>
            </a:r>
          </a:p>
        </p:txBody>
      </p:sp>
    </p:spTree>
    <p:extLst>
      <p:ext uri="{BB962C8B-B14F-4D97-AF65-F5344CB8AC3E}">
        <p14:creationId xmlns:p14="http://schemas.microsoft.com/office/powerpoint/2010/main" val="216926408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 Filing the Application</a:t>
            </a:r>
          </a:p>
        </p:txBody>
      </p:sp>
      <p:sp>
        <p:nvSpPr>
          <p:cNvPr id="3" name="Content Placeholder 2"/>
          <p:cNvSpPr>
            <a:spLocks noGrp="1"/>
          </p:cNvSpPr>
          <p:nvPr>
            <p:ph idx="1"/>
          </p:nvPr>
        </p:nvSpPr>
        <p:spPr/>
        <p:txBody>
          <a:bodyPr numCol="2">
            <a:normAutofit fontScale="92500"/>
          </a:bodyPr>
          <a:lstStyle/>
          <a:p>
            <a:pPr marL="0" indent="0">
              <a:buNone/>
            </a:pPr>
            <a:r>
              <a:rPr lang="en-US" dirty="0"/>
              <a:t>The inventor/applicant files a patent application with the Indian Patent Office.</a:t>
            </a:r>
          </a:p>
          <a:p>
            <a:pPr marL="0" indent="0">
              <a:buNone/>
            </a:pPr>
            <a:r>
              <a:rPr lang="en-US" b="1" dirty="0"/>
              <a:t>Application may contain:</a:t>
            </a:r>
          </a:p>
          <a:p>
            <a:r>
              <a:rPr lang="en-US" dirty="0"/>
              <a:t>Applicant details </a:t>
            </a:r>
          </a:p>
          <a:p>
            <a:r>
              <a:rPr lang="en-US" dirty="0"/>
              <a:t>Inventor details </a:t>
            </a:r>
          </a:p>
          <a:p>
            <a:r>
              <a:rPr lang="en-US" dirty="0"/>
              <a:t>Title of invention </a:t>
            </a:r>
          </a:p>
          <a:p>
            <a:r>
              <a:rPr lang="en-US" dirty="0"/>
              <a:t>Specification </a:t>
            </a:r>
          </a:p>
          <a:p>
            <a:r>
              <a:rPr lang="en-US" dirty="0"/>
              <a:t>Claims </a:t>
            </a:r>
          </a:p>
          <a:p>
            <a:r>
              <a:rPr lang="en-US" dirty="0"/>
              <a:t>Drawings, where applicable </a:t>
            </a:r>
          </a:p>
          <a:p>
            <a:r>
              <a:rPr lang="en-US" dirty="0"/>
              <a:t>Abstract </a:t>
            </a:r>
          </a:p>
          <a:p>
            <a:r>
              <a:rPr lang="en-US" dirty="0"/>
              <a:t>Required forms and fees </a:t>
            </a:r>
          </a:p>
          <a:p>
            <a:pPr marL="0" indent="0">
              <a:buNone/>
            </a:pPr>
            <a:r>
              <a:rPr lang="en-US" b="1" dirty="0"/>
              <a:t>Types</a:t>
            </a:r>
          </a:p>
          <a:p>
            <a:r>
              <a:rPr lang="en-US" dirty="0"/>
              <a:t>Ordinary application </a:t>
            </a:r>
          </a:p>
          <a:p>
            <a:r>
              <a:rPr lang="en-US" dirty="0"/>
              <a:t>Convention application </a:t>
            </a:r>
          </a:p>
          <a:p>
            <a:r>
              <a:rPr lang="en-US" dirty="0"/>
              <a:t>PCT national phase application </a:t>
            </a:r>
          </a:p>
          <a:p>
            <a:r>
              <a:rPr lang="en-US" dirty="0"/>
              <a:t>Divisional application </a:t>
            </a:r>
          </a:p>
          <a:p>
            <a:r>
              <a:rPr lang="en-US" dirty="0"/>
              <a:t>Patent of addition</a:t>
            </a:r>
          </a:p>
        </p:txBody>
      </p:sp>
    </p:spTree>
    <p:extLst>
      <p:ext uri="{BB962C8B-B14F-4D97-AF65-F5344CB8AC3E}">
        <p14:creationId xmlns:p14="http://schemas.microsoft.com/office/powerpoint/2010/main" val="240767027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Provisional Specification</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A </a:t>
            </a:r>
            <a:r>
              <a:rPr lang="en-US" b="1" dirty="0"/>
              <a:t>provisional specification</a:t>
            </a:r>
            <a:r>
              <a:rPr lang="en-US" dirty="0"/>
              <a:t> is used when the invention has reached a stage where the applicant wants to establish an early priority date but the invention is not yet ready for a complete specification.</a:t>
            </a:r>
          </a:p>
          <a:p>
            <a:pPr marL="0" indent="0">
              <a:buNone/>
            </a:pPr>
            <a:r>
              <a:rPr lang="en-US" b="1" dirty="0"/>
              <a:t>Purpose</a:t>
            </a:r>
          </a:p>
          <a:p>
            <a:r>
              <a:rPr lang="en-US" dirty="0"/>
              <a:t>Establishes priority date. </a:t>
            </a:r>
          </a:p>
          <a:p>
            <a:r>
              <a:rPr lang="en-US" dirty="0"/>
              <a:t>Allows additional time to develop the invention. </a:t>
            </a:r>
          </a:p>
          <a:p>
            <a:r>
              <a:rPr lang="en-US" dirty="0"/>
              <a:t>Helps defer preparation of the complete specification. </a:t>
            </a:r>
          </a:p>
          <a:p>
            <a:pPr marL="0" indent="0">
              <a:buNone/>
            </a:pPr>
            <a:r>
              <a:rPr lang="en-US" b="1" dirty="0"/>
              <a:t>Important</a:t>
            </a:r>
          </a:p>
          <a:p>
            <a:r>
              <a:rPr lang="en-US" dirty="0"/>
              <a:t>A provisional specification is </a:t>
            </a:r>
            <a:r>
              <a:rPr lang="en-US" b="1" dirty="0"/>
              <a:t>not itself a granted patent</a:t>
            </a:r>
            <a:r>
              <a:rPr lang="en-US" dirty="0"/>
              <a:t>.</a:t>
            </a:r>
          </a:p>
          <a:p>
            <a:r>
              <a:rPr lang="en-US" dirty="0"/>
              <a:t>A complete specification must generally be filed within </a:t>
            </a:r>
            <a:r>
              <a:rPr lang="en-US" b="1" dirty="0"/>
              <a:t>12 months</a:t>
            </a:r>
            <a:r>
              <a:rPr lang="en-US" dirty="0"/>
              <a:t> from the provisional filing date.</a:t>
            </a:r>
          </a:p>
        </p:txBody>
      </p:sp>
    </p:spTree>
    <p:extLst>
      <p:ext uri="{BB962C8B-B14F-4D97-AF65-F5344CB8AC3E}">
        <p14:creationId xmlns:p14="http://schemas.microsoft.com/office/powerpoint/2010/main" val="207970428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Complete Specification</a:t>
            </a:r>
            <a:endParaRPr lang="en-US" dirty="0"/>
          </a:p>
        </p:txBody>
      </p:sp>
      <p:sp>
        <p:nvSpPr>
          <p:cNvPr id="3" name="Content Placeholder 2"/>
          <p:cNvSpPr>
            <a:spLocks noGrp="1"/>
          </p:cNvSpPr>
          <p:nvPr>
            <p:ph idx="1"/>
          </p:nvPr>
        </p:nvSpPr>
        <p:spPr>
          <a:xfrm>
            <a:off x="695960" y="1080000"/>
            <a:ext cx="10800000" cy="5292665"/>
          </a:xfrm>
        </p:spPr>
        <p:txBody>
          <a:bodyPr>
            <a:normAutofit fontScale="70000" lnSpcReduction="20000"/>
          </a:bodyPr>
          <a:lstStyle/>
          <a:p>
            <a:pPr marL="0" indent="0">
              <a:buNone/>
            </a:pPr>
            <a:r>
              <a:rPr lang="en-US" dirty="0"/>
              <a:t>A </a:t>
            </a:r>
            <a:r>
              <a:rPr lang="en-US" b="1" dirty="0"/>
              <a:t>complete specification</a:t>
            </a:r>
            <a:r>
              <a:rPr lang="en-US" dirty="0"/>
              <a:t> fully describes the invention and defines the scope of protection sought.</a:t>
            </a:r>
          </a:p>
          <a:p>
            <a:pPr marL="0" indent="0">
              <a:buNone/>
            </a:pPr>
            <a:r>
              <a:rPr lang="en-US" b="1" dirty="0"/>
              <a:t>Generally contains:</a:t>
            </a:r>
          </a:p>
          <a:p>
            <a:r>
              <a:rPr lang="en-US" dirty="0"/>
              <a:t>Title </a:t>
            </a:r>
          </a:p>
          <a:p>
            <a:r>
              <a:rPr lang="en-US" dirty="0"/>
              <a:t>Field of invention </a:t>
            </a:r>
          </a:p>
          <a:p>
            <a:r>
              <a:rPr lang="en-US" dirty="0"/>
              <a:t>Background </a:t>
            </a:r>
          </a:p>
          <a:p>
            <a:r>
              <a:rPr lang="en-US" dirty="0"/>
              <a:t>Objects </a:t>
            </a:r>
          </a:p>
          <a:p>
            <a:r>
              <a:rPr lang="en-US" dirty="0"/>
              <a:t>Detailed description </a:t>
            </a:r>
          </a:p>
          <a:p>
            <a:r>
              <a:rPr lang="en-US" dirty="0"/>
              <a:t>Drawings, where necessary </a:t>
            </a:r>
          </a:p>
          <a:p>
            <a:r>
              <a:rPr lang="en-US" dirty="0"/>
              <a:t>Claims </a:t>
            </a:r>
          </a:p>
          <a:p>
            <a:r>
              <a:rPr lang="en-US" dirty="0"/>
              <a:t>Abstract </a:t>
            </a:r>
          </a:p>
          <a:p>
            <a:pPr marL="0" indent="0">
              <a:buNone/>
            </a:pPr>
            <a:r>
              <a:rPr lang="en-US" b="1" dirty="0"/>
              <a:t>Most Important Part</a:t>
            </a:r>
          </a:p>
          <a:p>
            <a:r>
              <a:rPr lang="en-US" b="1" dirty="0"/>
              <a:t>Claims</a:t>
            </a:r>
          </a:p>
          <a:p>
            <a:r>
              <a:rPr lang="en-US" dirty="0"/>
              <a:t>Claims define the </a:t>
            </a:r>
            <a:r>
              <a:rPr lang="en-US" b="1" dirty="0"/>
              <a:t>legal scope of patent protection</a:t>
            </a:r>
            <a:r>
              <a:rPr lang="en-US" dirty="0"/>
              <a:t>.</a:t>
            </a:r>
          </a:p>
        </p:txBody>
      </p:sp>
    </p:spTree>
    <p:extLst>
      <p:ext uri="{BB962C8B-B14F-4D97-AF65-F5344CB8AC3E}">
        <p14:creationId xmlns:p14="http://schemas.microsoft.com/office/powerpoint/2010/main" val="370919775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Provisional </a:t>
            </a:r>
            <a:r>
              <a:rPr lang="en-IN" dirty="0" err="1"/>
              <a:t>vs</a:t>
            </a:r>
            <a:r>
              <a:rPr lang="en-IN" dirty="0"/>
              <a:t> Complete Specification</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034988064"/>
              </p:ext>
            </p:extLst>
          </p:nvPr>
        </p:nvGraphicFramePr>
        <p:xfrm>
          <a:off x="808111" y="1212035"/>
          <a:ext cx="9644184" cy="5062155"/>
        </p:xfrm>
        <a:graphic>
          <a:graphicData uri="http://schemas.openxmlformats.org/drawingml/2006/table">
            <a:tbl>
              <a:tblPr firstRow="1" bandRow="1">
                <a:tableStyleId>{5C22544A-7EE6-4342-B048-85BDC9FD1C3A}</a:tableStyleId>
              </a:tblPr>
              <a:tblGrid>
                <a:gridCol w="3214728">
                  <a:extLst>
                    <a:ext uri="{9D8B030D-6E8A-4147-A177-3AD203B41FA5}">
                      <a16:colId xmlns:a16="http://schemas.microsoft.com/office/drawing/2014/main" val="20000"/>
                    </a:ext>
                  </a:extLst>
                </a:gridCol>
                <a:gridCol w="3214728">
                  <a:extLst>
                    <a:ext uri="{9D8B030D-6E8A-4147-A177-3AD203B41FA5}">
                      <a16:colId xmlns:a16="http://schemas.microsoft.com/office/drawing/2014/main" val="20001"/>
                    </a:ext>
                  </a:extLst>
                </a:gridCol>
                <a:gridCol w="3214728">
                  <a:extLst>
                    <a:ext uri="{9D8B030D-6E8A-4147-A177-3AD203B41FA5}">
                      <a16:colId xmlns:a16="http://schemas.microsoft.com/office/drawing/2014/main" val="20002"/>
                    </a:ext>
                  </a:extLst>
                </a:gridCol>
              </a:tblGrid>
              <a:tr h="680717">
                <a:tc>
                  <a:txBody>
                    <a:bodyPr/>
                    <a:lstStyle/>
                    <a:p>
                      <a:r>
                        <a:rPr lang="en-IN" dirty="0"/>
                        <a:t>Feature</a:t>
                      </a:r>
                    </a:p>
                  </a:txBody>
                  <a:tcPr anchor="ctr"/>
                </a:tc>
                <a:tc>
                  <a:txBody>
                    <a:bodyPr/>
                    <a:lstStyle/>
                    <a:p>
                      <a:r>
                        <a:rPr lang="en-IN"/>
                        <a:t>Provisional Specification</a:t>
                      </a:r>
                    </a:p>
                  </a:txBody>
                  <a:tcPr anchor="ctr"/>
                </a:tc>
                <a:tc>
                  <a:txBody>
                    <a:bodyPr/>
                    <a:lstStyle/>
                    <a:p>
                      <a:r>
                        <a:rPr lang="en-IN"/>
                        <a:t>Complete Specification</a:t>
                      </a:r>
                    </a:p>
                  </a:txBody>
                  <a:tcPr anchor="ctr"/>
                </a:tc>
                <a:extLst>
                  <a:ext uri="{0D108BD9-81ED-4DB2-BD59-A6C34878D82A}">
                    <a16:rowId xmlns:a16="http://schemas.microsoft.com/office/drawing/2014/main" val="10000"/>
                  </a:ext>
                </a:extLst>
              </a:tr>
              <a:tr h="680717">
                <a:tc>
                  <a:txBody>
                    <a:bodyPr/>
                    <a:lstStyle/>
                    <a:p>
                      <a:r>
                        <a:rPr lang="en-IN"/>
                        <a:t>Purpose</a:t>
                      </a:r>
                    </a:p>
                  </a:txBody>
                  <a:tcPr anchor="ctr"/>
                </a:tc>
                <a:tc>
                  <a:txBody>
                    <a:bodyPr/>
                    <a:lstStyle/>
                    <a:p>
                      <a:r>
                        <a:rPr lang="en-IN"/>
                        <a:t>Establish priority</a:t>
                      </a:r>
                    </a:p>
                  </a:txBody>
                  <a:tcPr anchor="ctr"/>
                </a:tc>
                <a:tc>
                  <a:txBody>
                    <a:bodyPr/>
                    <a:lstStyle/>
                    <a:p>
                      <a:r>
                        <a:rPr lang="en-US"/>
                        <a:t>Fully disclose invention and define protection</a:t>
                      </a:r>
                    </a:p>
                  </a:txBody>
                  <a:tcPr anchor="ctr"/>
                </a:tc>
                <a:extLst>
                  <a:ext uri="{0D108BD9-81ED-4DB2-BD59-A6C34878D82A}">
                    <a16:rowId xmlns:a16="http://schemas.microsoft.com/office/drawing/2014/main" val="10001"/>
                  </a:ext>
                </a:extLst>
              </a:tr>
              <a:tr h="394383">
                <a:tc>
                  <a:txBody>
                    <a:bodyPr/>
                    <a:lstStyle/>
                    <a:p>
                      <a:r>
                        <a:rPr lang="en-IN"/>
                        <a:t>Detailed disclosure</a:t>
                      </a:r>
                    </a:p>
                  </a:txBody>
                  <a:tcPr anchor="ctr"/>
                </a:tc>
                <a:tc>
                  <a:txBody>
                    <a:bodyPr/>
                    <a:lstStyle/>
                    <a:p>
                      <a:r>
                        <a:rPr lang="en-IN"/>
                        <a:t>Limited</a:t>
                      </a:r>
                    </a:p>
                  </a:txBody>
                  <a:tcPr anchor="ctr"/>
                </a:tc>
                <a:tc>
                  <a:txBody>
                    <a:bodyPr/>
                    <a:lstStyle/>
                    <a:p>
                      <a:r>
                        <a:rPr lang="en-IN"/>
                        <a:t>Detailed</a:t>
                      </a:r>
                    </a:p>
                  </a:txBody>
                  <a:tcPr anchor="ctr"/>
                </a:tc>
                <a:extLst>
                  <a:ext uri="{0D108BD9-81ED-4DB2-BD59-A6C34878D82A}">
                    <a16:rowId xmlns:a16="http://schemas.microsoft.com/office/drawing/2014/main" val="10002"/>
                  </a:ext>
                </a:extLst>
              </a:tr>
              <a:tr h="972452">
                <a:tc>
                  <a:txBody>
                    <a:bodyPr/>
                    <a:lstStyle/>
                    <a:p>
                      <a:r>
                        <a:rPr lang="en-IN"/>
                        <a:t>Claims</a:t>
                      </a:r>
                    </a:p>
                  </a:txBody>
                  <a:tcPr anchor="ctr"/>
                </a:tc>
                <a:tc>
                  <a:txBody>
                    <a:bodyPr/>
                    <a:lstStyle/>
                    <a:p>
                      <a:r>
                        <a:rPr lang="en-US" dirty="0"/>
                        <a:t>Not required in the same manner as complete specification</a:t>
                      </a:r>
                    </a:p>
                  </a:txBody>
                  <a:tcPr anchor="ctr"/>
                </a:tc>
                <a:tc>
                  <a:txBody>
                    <a:bodyPr/>
                    <a:lstStyle/>
                    <a:p>
                      <a:r>
                        <a:rPr lang="en-IN"/>
                        <a:t>Required</a:t>
                      </a:r>
                    </a:p>
                  </a:txBody>
                  <a:tcPr anchor="ctr"/>
                </a:tc>
                <a:extLst>
                  <a:ext uri="{0D108BD9-81ED-4DB2-BD59-A6C34878D82A}">
                    <a16:rowId xmlns:a16="http://schemas.microsoft.com/office/drawing/2014/main" val="10003"/>
                  </a:ext>
                </a:extLst>
              </a:tr>
              <a:tr h="680717">
                <a:tc>
                  <a:txBody>
                    <a:bodyPr/>
                    <a:lstStyle/>
                    <a:p>
                      <a:r>
                        <a:rPr lang="en-IN"/>
                        <a:t>Patent grant</a:t>
                      </a:r>
                    </a:p>
                  </a:txBody>
                  <a:tcPr anchor="ctr"/>
                </a:tc>
                <a:tc>
                  <a:txBody>
                    <a:bodyPr/>
                    <a:lstStyle/>
                    <a:p>
                      <a:r>
                        <a:rPr lang="en-US"/>
                        <a:t>Cannot directly result in grant</a:t>
                      </a:r>
                    </a:p>
                  </a:txBody>
                  <a:tcPr anchor="ctr"/>
                </a:tc>
                <a:tc>
                  <a:txBody>
                    <a:bodyPr/>
                    <a:lstStyle/>
                    <a:p>
                      <a:r>
                        <a:rPr lang="en-US"/>
                        <a:t>Basis for examination and grant</a:t>
                      </a:r>
                    </a:p>
                  </a:txBody>
                  <a:tcPr anchor="ctr"/>
                </a:tc>
                <a:extLst>
                  <a:ext uri="{0D108BD9-81ED-4DB2-BD59-A6C34878D82A}">
                    <a16:rowId xmlns:a16="http://schemas.microsoft.com/office/drawing/2014/main" val="10004"/>
                  </a:ext>
                </a:extLst>
              </a:tr>
              <a:tr h="972452">
                <a:tc>
                  <a:txBody>
                    <a:bodyPr/>
                    <a:lstStyle/>
                    <a:p>
                      <a:r>
                        <a:rPr lang="en-IN"/>
                        <a:t>Follow-up</a:t>
                      </a:r>
                    </a:p>
                  </a:txBody>
                  <a:tcPr anchor="ctr"/>
                </a:tc>
                <a:tc>
                  <a:txBody>
                    <a:bodyPr/>
                    <a:lstStyle/>
                    <a:p>
                      <a:r>
                        <a:rPr lang="en-US"/>
                        <a:t>Complete specification generally within 12 months</a:t>
                      </a:r>
                    </a:p>
                  </a:txBody>
                  <a:tcPr anchor="ctr"/>
                </a:tc>
                <a:tc>
                  <a:txBody>
                    <a:bodyPr/>
                    <a:lstStyle/>
                    <a:p>
                      <a:r>
                        <a:rPr lang="en-IN"/>
                        <a:t>Examination and grant process</a:t>
                      </a:r>
                    </a:p>
                  </a:txBody>
                  <a:tcPr anchor="ctr"/>
                </a:tc>
                <a:extLst>
                  <a:ext uri="{0D108BD9-81ED-4DB2-BD59-A6C34878D82A}">
                    <a16:rowId xmlns:a16="http://schemas.microsoft.com/office/drawing/2014/main" val="10005"/>
                  </a:ext>
                </a:extLst>
              </a:tr>
              <a:tr h="680717">
                <a:tc>
                  <a:txBody>
                    <a:bodyPr/>
                    <a:lstStyle/>
                    <a:p>
                      <a:r>
                        <a:rPr lang="en-IN"/>
                        <a:t>Priority</a:t>
                      </a:r>
                    </a:p>
                  </a:txBody>
                  <a:tcPr anchor="ctr"/>
                </a:tc>
                <a:tc>
                  <a:txBody>
                    <a:bodyPr/>
                    <a:lstStyle/>
                    <a:p>
                      <a:r>
                        <a:rPr lang="en-IN"/>
                        <a:t>Establishes priority date</a:t>
                      </a:r>
                    </a:p>
                  </a:txBody>
                  <a:tcPr anchor="ctr"/>
                </a:tc>
                <a:tc>
                  <a:txBody>
                    <a:bodyPr/>
                    <a:lstStyle/>
                    <a:p>
                      <a:r>
                        <a:rPr lang="en-US" dirty="0"/>
                        <a:t>May claim priority from provisional</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5883032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Publication of Patent Application</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After filing, a patent application is generally published after </a:t>
            </a:r>
            <a:r>
              <a:rPr lang="en-US" b="1" dirty="0"/>
              <a:t>18 months</a:t>
            </a:r>
            <a:r>
              <a:rPr lang="en-US" dirty="0"/>
              <a:t> from the relevant filing/priority date, subject to applicable rules and exceptions.</a:t>
            </a:r>
          </a:p>
          <a:p>
            <a:pPr marL="0" indent="0">
              <a:buNone/>
            </a:pPr>
            <a:r>
              <a:rPr lang="en-US" b="1" dirty="0"/>
              <a:t>Publication provides:</a:t>
            </a:r>
          </a:p>
          <a:p>
            <a:r>
              <a:rPr lang="en-US" dirty="0"/>
              <a:t>Public disclosure of the application </a:t>
            </a:r>
          </a:p>
          <a:p>
            <a:r>
              <a:rPr lang="en-US" dirty="0"/>
              <a:t>Technical information </a:t>
            </a:r>
          </a:p>
          <a:p>
            <a:r>
              <a:rPr lang="en-US" dirty="0"/>
              <a:t>Transparency of the patent system </a:t>
            </a:r>
          </a:p>
          <a:p>
            <a:pPr marL="0" indent="0">
              <a:buNone/>
            </a:pPr>
            <a:r>
              <a:rPr lang="en-US" b="1" dirty="0"/>
              <a:t>Early Publication</a:t>
            </a:r>
          </a:p>
          <a:p>
            <a:r>
              <a:rPr lang="en-US" dirty="0"/>
              <a:t>An applicant can, subject to the law and prescribed procedure, request </a:t>
            </a:r>
            <a:r>
              <a:rPr lang="en-US" b="1" dirty="0"/>
              <a:t>early publication</a:t>
            </a:r>
            <a:r>
              <a:rPr lang="en-US" dirty="0"/>
              <a:t>.</a:t>
            </a:r>
          </a:p>
        </p:txBody>
      </p:sp>
    </p:spTree>
    <p:extLst>
      <p:ext uri="{BB962C8B-B14F-4D97-AF65-F5344CB8AC3E}">
        <p14:creationId xmlns:p14="http://schemas.microsoft.com/office/powerpoint/2010/main" val="179537995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Request for Examination</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dirty="0"/>
              <a:t>Filing a patent application does not automatically mean immediate substantive examination.</a:t>
            </a:r>
          </a:p>
          <a:p>
            <a:pPr marL="0" indent="0">
              <a:buNone/>
            </a:pPr>
            <a:r>
              <a:rPr lang="en-US" dirty="0"/>
              <a:t>The applicant must submit a </a:t>
            </a:r>
            <a:r>
              <a:rPr lang="en-US" b="1" dirty="0"/>
              <a:t>Request for Examination (RFE)</a:t>
            </a:r>
            <a:r>
              <a:rPr lang="en-US" dirty="0"/>
              <a:t> within the prescribed time period.</a:t>
            </a:r>
          </a:p>
          <a:p>
            <a:pPr marL="0" indent="0">
              <a:buNone/>
            </a:pPr>
            <a:r>
              <a:rPr lang="en-US" b="1" dirty="0"/>
              <a:t>Examination checks:</a:t>
            </a:r>
          </a:p>
          <a:p>
            <a:r>
              <a:rPr lang="en-US" dirty="0"/>
              <a:t>Novelty </a:t>
            </a:r>
          </a:p>
          <a:p>
            <a:r>
              <a:rPr lang="en-US" dirty="0"/>
              <a:t>Inventive step </a:t>
            </a:r>
          </a:p>
          <a:p>
            <a:r>
              <a:rPr lang="en-US" dirty="0"/>
              <a:t>Industrial applicability </a:t>
            </a:r>
          </a:p>
          <a:p>
            <a:r>
              <a:rPr lang="en-US" dirty="0"/>
              <a:t>Compliance with the Patents Act </a:t>
            </a:r>
          </a:p>
          <a:p>
            <a:r>
              <a:rPr lang="en-US" dirty="0"/>
              <a:t>Sufficiency of disclosure </a:t>
            </a:r>
          </a:p>
          <a:p>
            <a:r>
              <a:rPr lang="en-US" dirty="0"/>
              <a:t>Clarity and support of claims </a:t>
            </a:r>
          </a:p>
        </p:txBody>
      </p:sp>
    </p:spTree>
    <p:extLst>
      <p:ext uri="{BB962C8B-B14F-4D97-AF65-F5344CB8AC3E}">
        <p14:creationId xmlns:p14="http://schemas.microsoft.com/office/powerpoint/2010/main" val="297981363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First Examination Report (FER)</a:t>
            </a:r>
            <a:endParaRPr lang="en-US" dirty="0"/>
          </a:p>
        </p:txBody>
      </p:sp>
      <p:sp>
        <p:nvSpPr>
          <p:cNvPr id="3" name="Content Placeholder 2"/>
          <p:cNvSpPr>
            <a:spLocks noGrp="1"/>
          </p:cNvSpPr>
          <p:nvPr>
            <p:ph idx="1"/>
          </p:nvPr>
        </p:nvSpPr>
        <p:spPr/>
        <p:txBody>
          <a:bodyPr numCol="2">
            <a:normAutofit/>
          </a:bodyPr>
          <a:lstStyle/>
          <a:p>
            <a:pPr marL="0" indent="0">
              <a:buNone/>
            </a:pPr>
            <a:r>
              <a:rPr lang="en-US" dirty="0"/>
              <a:t>After examination, the Patent Office may issue a:</a:t>
            </a:r>
          </a:p>
          <a:p>
            <a:pPr marL="0" indent="0">
              <a:buNone/>
            </a:pPr>
            <a:r>
              <a:rPr lang="en-US" b="1" dirty="0"/>
              <a:t>First Examination Report (FER)</a:t>
            </a:r>
          </a:p>
          <a:p>
            <a:r>
              <a:rPr lang="en-US" dirty="0"/>
              <a:t>It may contain objections regarding:</a:t>
            </a:r>
          </a:p>
          <a:p>
            <a:r>
              <a:rPr lang="en-US" dirty="0"/>
              <a:t>Novelty </a:t>
            </a:r>
          </a:p>
          <a:p>
            <a:r>
              <a:rPr lang="en-US" dirty="0"/>
              <a:t>Inventive step </a:t>
            </a:r>
          </a:p>
          <a:p>
            <a:r>
              <a:rPr lang="en-US" dirty="0"/>
              <a:t>Clarity </a:t>
            </a:r>
          </a:p>
          <a:p>
            <a:r>
              <a:rPr lang="en-US" dirty="0"/>
              <a:t>Claim drafting </a:t>
            </a:r>
          </a:p>
          <a:p>
            <a:r>
              <a:rPr lang="en-US" dirty="0"/>
              <a:t>Sufficiency of disclosure </a:t>
            </a:r>
          </a:p>
          <a:p>
            <a:r>
              <a:rPr lang="en-US" dirty="0"/>
              <a:t>Formal requirements </a:t>
            </a:r>
          </a:p>
          <a:p>
            <a:r>
              <a:rPr lang="en-US" dirty="0"/>
              <a:t>Patentability exclusions </a:t>
            </a:r>
          </a:p>
          <a:p>
            <a:pPr marL="0" indent="0">
              <a:buNone/>
            </a:pPr>
            <a:r>
              <a:rPr lang="en-US" b="1" dirty="0"/>
              <a:t>Applicant may:</a:t>
            </a:r>
          </a:p>
          <a:p>
            <a:r>
              <a:rPr lang="en-US" dirty="0"/>
              <a:t>Amend claims </a:t>
            </a:r>
          </a:p>
          <a:p>
            <a:r>
              <a:rPr lang="en-US" dirty="0"/>
              <a:t>Submit arguments </a:t>
            </a:r>
          </a:p>
          <a:p>
            <a:r>
              <a:rPr lang="en-US" dirty="0"/>
              <a:t>Provide evidence </a:t>
            </a:r>
          </a:p>
          <a:p>
            <a:r>
              <a:rPr lang="en-US" dirty="0"/>
              <a:t>Request a hearing</a:t>
            </a:r>
          </a:p>
        </p:txBody>
      </p:sp>
    </p:spTree>
    <p:extLst>
      <p:ext uri="{BB962C8B-B14F-4D97-AF65-F5344CB8AC3E}">
        <p14:creationId xmlns:p14="http://schemas.microsoft.com/office/powerpoint/2010/main" val="324238163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Grant of Patent</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If all requirements are </a:t>
            </a:r>
            <a:r>
              <a:rPr lang="en-US" dirty="0" smtClean="0"/>
              <a:t>satisfied: </a:t>
            </a:r>
            <a:r>
              <a:rPr lang="en-US" b="1" dirty="0" smtClean="0"/>
              <a:t>Patent </a:t>
            </a:r>
            <a:r>
              <a:rPr lang="en-US" b="1" dirty="0"/>
              <a:t>is Granted</a:t>
            </a:r>
          </a:p>
          <a:p>
            <a:pPr marL="0" indent="0">
              <a:buNone/>
            </a:pPr>
            <a:r>
              <a:rPr lang="en-US" dirty="0"/>
              <a:t>The patent is:</a:t>
            </a:r>
          </a:p>
          <a:p>
            <a:pPr marL="0" indent="0">
              <a:buNone/>
            </a:pPr>
            <a:r>
              <a:rPr lang="en-US" dirty="0"/>
              <a:t>Entered in the register. </a:t>
            </a:r>
            <a:endParaRPr lang="en-US" dirty="0" smtClean="0"/>
          </a:p>
          <a:p>
            <a:pPr marL="0" indent="0">
              <a:buNone/>
            </a:pPr>
            <a:r>
              <a:rPr lang="en-US" dirty="0" smtClean="0"/>
              <a:t>Published in the official record. </a:t>
            </a:r>
          </a:p>
          <a:p>
            <a:pPr marL="0" indent="0">
              <a:buNone/>
            </a:pPr>
            <a:r>
              <a:rPr lang="en-US" dirty="0" smtClean="0"/>
              <a:t>Enforceable </a:t>
            </a:r>
            <a:r>
              <a:rPr lang="en-US" dirty="0"/>
              <a:t>subject to the provisions of the law. </a:t>
            </a:r>
          </a:p>
          <a:p>
            <a:pPr marL="0" indent="0">
              <a:buNone/>
            </a:pPr>
            <a:r>
              <a:rPr lang="en-US" b="1" dirty="0"/>
              <a:t>Patent Term</a:t>
            </a:r>
          </a:p>
          <a:p>
            <a:pPr marL="0" indent="0">
              <a:buNone/>
            </a:pPr>
            <a:r>
              <a:rPr lang="en-US" dirty="0"/>
              <a:t>For most patents in India:</a:t>
            </a:r>
          </a:p>
          <a:p>
            <a:pPr marL="0" indent="0">
              <a:buNone/>
            </a:pPr>
            <a:r>
              <a:rPr lang="en-US" b="1" dirty="0"/>
              <a:t>20 years from the filing date</a:t>
            </a:r>
          </a:p>
          <a:p>
            <a:pPr marL="0" indent="0">
              <a:buNone/>
            </a:pPr>
            <a:r>
              <a:rPr lang="en-US" dirty="0"/>
              <a:t>For certain PCT national phase applications, the term is calculated from the international filing date as provided by law.</a:t>
            </a:r>
          </a:p>
        </p:txBody>
      </p:sp>
    </p:spTree>
    <p:extLst>
      <p:ext uri="{BB962C8B-B14F-4D97-AF65-F5344CB8AC3E}">
        <p14:creationId xmlns:p14="http://schemas.microsoft.com/office/powerpoint/2010/main" val="63316786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Rights Conferred on a Patentee</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A patent gives the patentee exclusive rights, subject to statutory limitations.</a:t>
            </a:r>
          </a:p>
          <a:p>
            <a:pPr marL="0" indent="0">
              <a:buNone/>
            </a:pPr>
            <a:r>
              <a:rPr lang="en-US" b="1" dirty="0"/>
              <a:t>Product Patent</a:t>
            </a:r>
          </a:p>
          <a:p>
            <a:r>
              <a:rPr lang="en-US" dirty="0"/>
              <a:t>The patentee can prevent unauthorized:</a:t>
            </a:r>
          </a:p>
          <a:p>
            <a:r>
              <a:rPr lang="en-US" dirty="0"/>
              <a:t>Making </a:t>
            </a:r>
          </a:p>
          <a:p>
            <a:r>
              <a:rPr lang="en-US" dirty="0"/>
              <a:t>Using </a:t>
            </a:r>
          </a:p>
          <a:p>
            <a:r>
              <a:rPr lang="en-US" dirty="0"/>
              <a:t>Offering for sale </a:t>
            </a:r>
          </a:p>
          <a:p>
            <a:r>
              <a:rPr lang="en-US" dirty="0"/>
              <a:t>Selling </a:t>
            </a:r>
          </a:p>
          <a:p>
            <a:r>
              <a:rPr lang="en-US" dirty="0"/>
              <a:t>Importing </a:t>
            </a:r>
          </a:p>
          <a:p>
            <a:r>
              <a:rPr lang="en-US" dirty="0"/>
              <a:t>of the patented product in India.</a:t>
            </a:r>
          </a:p>
          <a:p>
            <a:pPr marL="0" indent="0">
              <a:buNone/>
            </a:pPr>
            <a:r>
              <a:rPr lang="en-US" b="1" dirty="0"/>
              <a:t>Process Patent</a:t>
            </a:r>
          </a:p>
          <a:p>
            <a:r>
              <a:rPr lang="en-US" dirty="0"/>
              <a:t>The patentee can prevent unauthorized use of the patented process and certain dealings with products directly obtained by that process.</a:t>
            </a:r>
          </a:p>
        </p:txBody>
      </p:sp>
    </p:spTree>
    <p:extLst>
      <p:ext uri="{BB962C8B-B14F-4D97-AF65-F5344CB8AC3E}">
        <p14:creationId xmlns:p14="http://schemas.microsoft.com/office/powerpoint/2010/main" val="221323740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Commercial Rights of a Patentee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patentee can generally:</a:t>
            </a:r>
          </a:p>
          <a:p>
            <a:r>
              <a:rPr lang="en-US" dirty="0"/>
              <a:t>Commercialize the invention. </a:t>
            </a:r>
          </a:p>
          <a:p>
            <a:r>
              <a:rPr lang="en-US" dirty="0"/>
              <a:t>License the patent. </a:t>
            </a:r>
          </a:p>
          <a:p>
            <a:r>
              <a:rPr lang="en-US" dirty="0"/>
              <a:t>Assign the patent. </a:t>
            </a:r>
          </a:p>
          <a:p>
            <a:r>
              <a:rPr lang="en-US" dirty="0"/>
              <a:t>Use the patent as a business asset. </a:t>
            </a:r>
          </a:p>
          <a:p>
            <a:r>
              <a:rPr lang="en-US" dirty="0"/>
              <a:t>Enter into technology-transfer agreements. </a:t>
            </a:r>
          </a:p>
          <a:p>
            <a:r>
              <a:rPr lang="en-US" dirty="0"/>
              <a:t>Seek legal remedies against infringement. </a:t>
            </a:r>
          </a:p>
          <a:p>
            <a:pPr marL="0" indent="0">
              <a:buNone/>
            </a:pPr>
            <a:r>
              <a:rPr lang="en-US" b="1" dirty="0"/>
              <a:t>Important</a:t>
            </a:r>
          </a:p>
          <a:p>
            <a:r>
              <a:rPr lang="en-US" dirty="0"/>
              <a:t>Patent rights are </a:t>
            </a:r>
            <a:r>
              <a:rPr lang="en-US" b="1" dirty="0"/>
              <a:t>exclusive but not absolute</a:t>
            </a:r>
            <a:r>
              <a:rPr lang="en-US" dirty="0"/>
              <a:t>. They are subject to statutory limitations, exceptions, and public-interest provisions.</a:t>
            </a:r>
          </a:p>
        </p:txBody>
      </p:sp>
    </p:spTree>
    <p:extLst>
      <p:ext uri="{BB962C8B-B14F-4D97-AF65-F5344CB8AC3E}">
        <p14:creationId xmlns:p14="http://schemas.microsoft.com/office/powerpoint/2010/main" val="1099149877"/>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Transfer of Patent</a:t>
            </a:r>
            <a:endParaRPr lang="en-US" dirty="0"/>
          </a:p>
        </p:txBody>
      </p:sp>
      <p:sp>
        <p:nvSpPr>
          <p:cNvPr id="3" name="Content Placeholder 2"/>
          <p:cNvSpPr>
            <a:spLocks noGrp="1"/>
          </p:cNvSpPr>
          <p:nvPr>
            <p:ph idx="1"/>
          </p:nvPr>
        </p:nvSpPr>
        <p:spPr/>
        <p:txBody>
          <a:bodyPr numCol="2">
            <a:normAutofit lnSpcReduction="10000"/>
          </a:bodyPr>
          <a:lstStyle/>
          <a:p>
            <a:pPr marL="0" indent="0">
              <a:buNone/>
            </a:pPr>
            <a:r>
              <a:rPr lang="en-US" dirty="0"/>
              <a:t>Patent ownership can be transferred.</a:t>
            </a:r>
          </a:p>
          <a:p>
            <a:pPr marL="0" indent="0">
              <a:buNone/>
            </a:pPr>
            <a:r>
              <a:rPr lang="en-US" b="1" dirty="0"/>
              <a:t>Main methods</a:t>
            </a:r>
          </a:p>
          <a:p>
            <a:pPr marL="0" indent="0">
              <a:buNone/>
            </a:pPr>
            <a:r>
              <a:rPr lang="en-US" b="1" dirty="0"/>
              <a:t>1. Assignment</a:t>
            </a:r>
          </a:p>
          <a:p>
            <a:r>
              <a:rPr lang="en-US" dirty="0"/>
              <a:t>Transfer of ownership from one person/entity to another.</a:t>
            </a:r>
          </a:p>
          <a:p>
            <a:pPr marL="0" indent="0">
              <a:buNone/>
            </a:pPr>
            <a:r>
              <a:rPr lang="en-US" b="1" dirty="0"/>
              <a:t>Example:</a:t>
            </a:r>
            <a:endParaRPr lang="en-US" dirty="0"/>
          </a:p>
          <a:p>
            <a:r>
              <a:rPr lang="en-US" dirty="0"/>
              <a:t>Researcher → Company</a:t>
            </a:r>
          </a:p>
          <a:p>
            <a:r>
              <a:rPr lang="en-US" dirty="0"/>
              <a:t>The company becomes the patent owner</a:t>
            </a:r>
            <a:r>
              <a:rPr lang="en-US" dirty="0" smtClean="0"/>
              <a:t>.</a:t>
            </a:r>
          </a:p>
          <a:p>
            <a:pPr marL="0" indent="0">
              <a:buNone/>
            </a:pPr>
            <a:r>
              <a:rPr lang="en-US" b="1" dirty="0"/>
              <a:t>2. Licensing</a:t>
            </a:r>
          </a:p>
          <a:p>
            <a:r>
              <a:rPr lang="en-US" dirty="0"/>
              <a:t>The owner permits another party to use the patent while retaining ownership.</a:t>
            </a:r>
          </a:p>
          <a:p>
            <a:pPr marL="0" indent="0">
              <a:buNone/>
            </a:pPr>
            <a:r>
              <a:rPr lang="en-US" b="1" dirty="0"/>
              <a:t>Example:</a:t>
            </a:r>
            <a:endParaRPr lang="en-US" dirty="0"/>
          </a:p>
          <a:p>
            <a:r>
              <a:rPr lang="en-US" dirty="0"/>
              <a:t>Company A → License → Company B</a:t>
            </a:r>
          </a:p>
          <a:p>
            <a:r>
              <a:rPr lang="en-US" dirty="0"/>
              <a:t>Company B pays royalties or another agreed consideration.</a:t>
            </a:r>
          </a:p>
          <a:p>
            <a:endParaRPr lang="en-US" dirty="0"/>
          </a:p>
        </p:txBody>
      </p:sp>
    </p:spTree>
    <p:extLst>
      <p:ext uri="{BB962C8B-B14F-4D97-AF65-F5344CB8AC3E}">
        <p14:creationId xmlns:p14="http://schemas.microsoft.com/office/powerpoint/2010/main" val="219678697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Assignment </a:t>
            </a:r>
            <a:r>
              <a:rPr lang="en-IN" dirty="0" err="1"/>
              <a:t>vs</a:t>
            </a:r>
            <a:r>
              <a:rPr lang="en-IN" dirty="0"/>
              <a:t> Licensing</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6486858"/>
              </p:ext>
            </p:extLst>
          </p:nvPr>
        </p:nvGraphicFramePr>
        <p:xfrm>
          <a:off x="695960" y="1394916"/>
          <a:ext cx="9123288" cy="3908604"/>
        </p:xfrm>
        <a:graphic>
          <a:graphicData uri="http://schemas.openxmlformats.org/drawingml/2006/table">
            <a:tbl>
              <a:tblPr firstRow="1" bandRow="1">
                <a:tableStyleId>{5C22544A-7EE6-4342-B048-85BDC9FD1C3A}</a:tableStyleId>
              </a:tblPr>
              <a:tblGrid>
                <a:gridCol w="3041096">
                  <a:extLst>
                    <a:ext uri="{9D8B030D-6E8A-4147-A177-3AD203B41FA5}">
                      <a16:colId xmlns:a16="http://schemas.microsoft.com/office/drawing/2014/main" val="20000"/>
                    </a:ext>
                  </a:extLst>
                </a:gridCol>
                <a:gridCol w="3041096">
                  <a:extLst>
                    <a:ext uri="{9D8B030D-6E8A-4147-A177-3AD203B41FA5}">
                      <a16:colId xmlns:a16="http://schemas.microsoft.com/office/drawing/2014/main" val="20001"/>
                    </a:ext>
                  </a:extLst>
                </a:gridCol>
                <a:gridCol w="3041096">
                  <a:extLst>
                    <a:ext uri="{9D8B030D-6E8A-4147-A177-3AD203B41FA5}">
                      <a16:colId xmlns:a16="http://schemas.microsoft.com/office/drawing/2014/main" val="20002"/>
                    </a:ext>
                  </a:extLst>
                </a:gridCol>
              </a:tblGrid>
              <a:tr h="438966">
                <a:tc>
                  <a:txBody>
                    <a:bodyPr/>
                    <a:lstStyle/>
                    <a:p>
                      <a:r>
                        <a:rPr lang="en-IN" dirty="0"/>
                        <a:t>Feature</a:t>
                      </a:r>
                    </a:p>
                  </a:txBody>
                  <a:tcPr anchor="ctr"/>
                </a:tc>
                <a:tc>
                  <a:txBody>
                    <a:bodyPr/>
                    <a:lstStyle/>
                    <a:p>
                      <a:r>
                        <a:rPr lang="en-IN"/>
                        <a:t>Assignment</a:t>
                      </a:r>
                    </a:p>
                  </a:txBody>
                  <a:tcPr anchor="ctr"/>
                </a:tc>
                <a:tc>
                  <a:txBody>
                    <a:bodyPr/>
                    <a:lstStyle/>
                    <a:p>
                      <a:r>
                        <a:rPr lang="en-IN"/>
                        <a:t>Licensing</a:t>
                      </a:r>
                    </a:p>
                  </a:txBody>
                  <a:tcPr anchor="ctr"/>
                </a:tc>
                <a:extLst>
                  <a:ext uri="{0D108BD9-81ED-4DB2-BD59-A6C34878D82A}">
                    <a16:rowId xmlns:a16="http://schemas.microsoft.com/office/drawing/2014/main" val="10000"/>
                  </a:ext>
                </a:extLst>
              </a:tr>
              <a:tr h="438966">
                <a:tc>
                  <a:txBody>
                    <a:bodyPr/>
                    <a:lstStyle/>
                    <a:p>
                      <a:r>
                        <a:rPr lang="en-IN"/>
                        <a:t>Ownership</a:t>
                      </a:r>
                    </a:p>
                  </a:txBody>
                  <a:tcPr anchor="ctr"/>
                </a:tc>
                <a:tc>
                  <a:txBody>
                    <a:bodyPr/>
                    <a:lstStyle/>
                    <a:p>
                      <a:r>
                        <a:rPr lang="en-IN"/>
                        <a:t>Transferred</a:t>
                      </a:r>
                    </a:p>
                  </a:txBody>
                  <a:tcPr anchor="ctr"/>
                </a:tc>
                <a:tc>
                  <a:txBody>
                    <a:bodyPr/>
                    <a:lstStyle/>
                    <a:p>
                      <a:r>
                        <a:rPr lang="en-IN"/>
                        <a:t>Retained by owner</a:t>
                      </a:r>
                    </a:p>
                  </a:txBody>
                  <a:tcPr anchor="ctr"/>
                </a:tc>
                <a:extLst>
                  <a:ext uri="{0D108BD9-81ED-4DB2-BD59-A6C34878D82A}">
                    <a16:rowId xmlns:a16="http://schemas.microsoft.com/office/drawing/2014/main" val="10001"/>
                  </a:ext>
                </a:extLst>
              </a:tr>
              <a:tr h="757668">
                <a:tc>
                  <a:txBody>
                    <a:bodyPr/>
                    <a:lstStyle/>
                    <a:p>
                      <a:r>
                        <a:rPr lang="en-IN"/>
                        <a:t>Control</a:t>
                      </a:r>
                    </a:p>
                  </a:txBody>
                  <a:tcPr anchor="ctr"/>
                </a:tc>
                <a:tc>
                  <a:txBody>
                    <a:bodyPr/>
                    <a:lstStyle/>
                    <a:p>
                      <a:r>
                        <a:rPr lang="en-IN"/>
                        <a:t>Generally passes to assignee</a:t>
                      </a:r>
                    </a:p>
                  </a:txBody>
                  <a:tcPr anchor="ctr"/>
                </a:tc>
                <a:tc>
                  <a:txBody>
                    <a:bodyPr/>
                    <a:lstStyle/>
                    <a:p>
                      <a:r>
                        <a:rPr lang="en-US"/>
                        <a:t>Remains with owner, subject to licence</a:t>
                      </a:r>
                    </a:p>
                  </a:txBody>
                  <a:tcPr anchor="ctr"/>
                </a:tc>
                <a:extLst>
                  <a:ext uri="{0D108BD9-81ED-4DB2-BD59-A6C34878D82A}">
                    <a16:rowId xmlns:a16="http://schemas.microsoft.com/office/drawing/2014/main" val="10002"/>
                  </a:ext>
                </a:extLst>
              </a:tr>
              <a:tr h="757668">
                <a:tc>
                  <a:txBody>
                    <a:bodyPr/>
                    <a:lstStyle/>
                    <a:p>
                      <a:r>
                        <a:rPr lang="en-IN"/>
                        <a:t>Payment</a:t>
                      </a:r>
                    </a:p>
                  </a:txBody>
                  <a:tcPr anchor="ctr"/>
                </a:tc>
                <a:tc>
                  <a:txBody>
                    <a:bodyPr/>
                    <a:lstStyle/>
                    <a:p>
                      <a:r>
                        <a:rPr lang="en-IN"/>
                        <a:t>Lump sum/other consideration</a:t>
                      </a:r>
                    </a:p>
                  </a:txBody>
                  <a:tcPr anchor="ctr"/>
                </a:tc>
                <a:tc>
                  <a:txBody>
                    <a:bodyPr/>
                    <a:lstStyle/>
                    <a:p>
                      <a:r>
                        <a:rPr lang="en-IN"/>
                        <a:t>Royalty/fee/other consideration</a:t>
                      </a:r>
                    </a:p>
                  </a:txBody>
                  <a:tcPr anchor="ctr"/>
                </a:tc>
                <a:extLst>
                  <a:ext uri="{0D108BD9-81ED-4DB2-BD59-A6C34878D82A}">
                    <a16:rowId xmlns:a16="http://schemas.microsoft.com/office/drawing/2014/main" val="10003"/>
                  </a:ext>
                </a:extLst>
              </a:tr>
              <a:tr h="757668">
                <a:tc>
                  <a:txBody>
                    <a:bodyPr/>
                    <a:lstStyle/>
                    <a:p>
                      <a:r>
                        <a:rPr lang="en-IN"/>
                        <a:t>Example</a:t>
                      </a:r>
                    </a:p>
                  </a:txBody>
                  <a:tcPr anchor="ctr"/>
                </a:tc>
                <a:tc>
                  <a:txBody>
                    <a:bodyPr/>
                    <a:lstStyle/>
                    <a:p>
                      <a:r>
                        <a:rPr lang="en-IN"/>
                        <a:t>Sale of patent</a:t>
                      </a:r>
                    </a:p>
                  </a:txBody>
                  <a:tcPr anchor="ctr"/>
                </a:tc>
                <a:tc>
                  <a:txBody>
                    <a:bodyPr/>
                    <a:lstStyle/>
                    <a:p>
                      <a:r>
                        <a:rPr lang="en-IN"/>
                        <a:t>Permission to manufacture</a:t>
                      </a:r>
                    </a:p>
                  </a:txBody>
                  <a:tcPr anchor="ctr"/>
                </a:tc>
                <a:extLst>
                  <a:ext uri="{0D108BD9-81ED-4DB2-BD59-A6C34878D82A}">
                    <a16:rowId xmlns:a16="http://schemas.microsoft.com/office/drawing/2014/main" val="10004"/>
                  </a:ext>
                </a:extLst>
              </a:tr>
              <a:tr h="757668">
                <a:tc>
                  <a:txBody>
                    <a:bodyPr/>
                    <a:lstStyle/>
                    <a:p>
                      <a:r>
                        <a:rPr lang="en-IN"/>
                        <a:t>Result</a:t>
                      </a:r>
                    </a:p>
                  </a:txBody>
                  <a:tcPr anchor="ctr"/>
                </a:tc>
                <a:tc>
                  <a:txBody>
                    <a:bodyPr/>
                    <a:lstStyle/>
                    <a:p>
                      <a:r>
                        <a:rPr lang="en-IN"/>
                        <a:t>New owner</a:t>
                      </a:r>
                    </a:p>
                  </a:txBody>
                  <a:tcPr anchor="ctr"/>
                </a:tc>
                <a:tc>
                  <a:txBody>
                    <a:bodyPr/>
                    <a:lstStyle/>
                    <a:p>
                      <a:r>
                        <a:rPr lang="en-IN" dirty="0"/>
                        <a:t>Licensee gets permitted rights</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46624667"/>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Patent Licenses</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Exclusive </a:t>
            </a:r>
            <a:r>
              <a:rPr lang="en-US" b="1" dirty="0" smtClean="0"/>
              <a:t>License: </a:t>
            </a:r>
            <a:r>
              <a:rPr lang="en-US" dirty="0" smtClean="0"/>
              <a:t>Only </a:t>
            </a:r>
            <a:r>
              <a:rPr lang="en-US" dirty="0"/>
              <a:t>one licensee receives the specified rights.</a:t>
            </a:r>
          </a:p>
          <a:p>
            <a:pPr marL="0" indent="0">
              <a:buNone/>
            </a:pPr>
            <a:r>
              <a:rPr lang="en-US" b="1" dirty="0"/>
              <a:t>Non-Exclusive </a:t>
            </a:r>
            <a:r>
              <a:rPr lang="en-US" b="1" dirty="0" smtClean="0"/>
              <a:t>License: </a:t>
            </a:r>
            <a:r>
              <a:rPr lang="en-US" dirty="0" smtClean="0"/>
              <a:t>Multiple </a:t>
            </a:r>
            <a:r>
              <a:rPr lang="en-US" dirty="0"/>
              <a:t>licensees may receive rights.</a:t>
            </a:r>
          </a:p>
          <a:p>
            <a:pPr marL="0" indent="0">
              <a:buNone/>
            </a:pPr>
            <a:r>
              <a:rPr lang="en-US" b="1" dirty="0"/>
              <a:t>Voluntary </a:t>
            </a:r>
            <a:r>
              <a:rPr lang="en-US" b="1" dirty="0" smtClean="0"/>
              <a:t>License: </a:t>
            </a:r>
            <a:r>
              <a:rPr lang="en-US" dirty="0" smtClean="0"/>
              <a:t>License </a:t>
            </a:r>
            <a:r>
              <a:rPr lang="en-US" dirty="0"/>
              <a:t>granted voluntarily by the patent owner.</a:t>
            </a:r>
          </a:p>
          <a:p>
            <a:pPr marL="0" indent="0">
              <a:buNone/>
            </a:pPr>
            <a:r>
              <a:rPr lang="en-US" b="1" dirty="0"/>
              <a:t>Compulsory </a:t>
            </a:r>
            <a:r>
              <a:rPr lang="en-US" b="1" dirty="0" smtClean="0"/>
              <a:t>License: </a:t>
            </a:r>
            <a:r>
              <a:rPr lang="en-US" dirty="0" smtClean="0"/>
              <a:t>Granted </a:t>
            </a:r>
            <a:r>
              <a:rPr lang="en-US" dirty="0"/>
              <a:t>under statutory conditions by the competent authority.</a:t>
            </a:r>
          </a:p>
          <a:p>
            <a:pPr marL="0" indent="0">
              <a:buNone/>
            </a:pPr>
            <a:r>
              <a:rPr lang="en-US" b="1" dirty="0"/>
              <a:t>Purpose of Licensing</a:t>
            </a:r>
          </a:p>
          <a:p>
            <a:r>
              <a:rPr lang="en-US" dirty="0"/>
              <a:t>Commercialization </a:t>
            </a:r>
          </a:p>
          <a:p>
            <a:r>
              <a:rPr lang="en-US" dirty="0"/>
              <a:t>Technology transfer </a:t>
            </a:r>
          </a:p>
          <a:p>
            <a:r>
              <a:rPr lang="en-US" dirty="0"/>
              <a:t>Wider market access </a:t>
            </a:r>
          </a:p>
          <a:p>
            <a:r>
              <a:rPr lang="en-US" dirty="0"/>
              <a:t>Revenue generation</a:t>
            </a:r>
          </a:p>
        </p:txBody>
      </p:sp>
    </p:spTree>
    <p:extLst>
      <p:ext uri="{BB962C8B-B14F-4D97-AF65-F5344CB8AC3E}">
        <p14:creationId xmlns:p14="http://schemas.microsoft.com/office/powerpoint/2010/main" val="386862060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Compulsory Licensing</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Compulsory licensing allows a third party to use a patented invention under statutory conditions without the voluntary permission of the patent owner.</a:t>
            </a:r>
          </a:p>
          <a:p>
            <a:pPr marL="0" indent="0">
              <a:buNone/>
            </a:pPr>
            <a:r>
              <a:rPr lang="en-US" b="1" dirty="0"/>
              <a:t>Indian law provides for compulsory licensing under specified conditions.</a:t>
            </a:r>
          </a:p>
          <a:p>
            <a:pPr marL="0" indent="0">
              <a:buNone/>
            </a:pPr>
            <a:r>
              <a:rPr lang="en-US" dirty="0"/>
              <a:t>Factors can include:</a:t>
            </a:r>
          </a:p>
          <a:p>
            <a:r>
              <a:rPr lang="en-US" dirty="0"/>
              <a:t>Reasonable requirements of the public not being satisfied. </a:t>
            </a:r>
          </a:p>
          <a:p>
            <a:r>
              <a:rPr lang="en-US" dirty="0"/>
              <a:t>Invention not being available at a reasonably affordable price. </a:t>
            </a:r>
          </a:p>
          <a:p>
            <a:r>
              <a:rPr lang="en-US" dirty="0"/>
              <a:t>Patent not being sufficiently worked in India. </a:t>
            </a:r>
          </a:p>
          <a:p>
            <a:pPr marL="0" indent="0">
              <a:buNone/>
            </a:pPr>
            <a:r>
              <a:rPr lang="en-US" b="1" dirty="0"/>
              <a:t>Purpose</a:t>
            </a:r>
          </a:p>
          <a:p>
            <a:pPr marL="0" indent="0">
              <a:buNone/>
            </a:pPr>
            <a:r>
              <a:rPr lang="en-US" dirty="0"/>
              <a:t>To </a:t>
            </a:r>
            <a:r>
              <a:rPr lang="en-US" dirty="0" smtClean="0"/>
              <a:t>balance: </a:t>
            </a:r>
            <a:r>
              <a:rPr lang="en-US" b="1" dirty="0" smtClean="0"/>
              <a:t>Patent </a:t>
            </a:r>
            <a:r>
              <a:rPr lang="en-US" b="1" dirty="0"/>
              <a:t>Rights ↔ Public Interest</a:t>
            </a:r>
            <a:endParaRPr lang="en-US" dirty="0"/>
          </a:p>
        </p:txBody>
      </p:sp>
    </p:spTree>
    <p:extLst>
      <p:ext uri="{BB962C8B-B14F-4D97-AF65-F5344CB8AC3E}">
        <p14:creationId xmlns:p14="http://schemas.microsoft.com/office/powerpoint/2010/main" val="2893983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Surrender of Patent</a:t>
            </a:r>
            <a:endParaRPr lang="en-US"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a:t>A patentee may voluntarily offer to surrender a patent.</a:t>
            </a:r>
          </a:p>
          <a:p>
            <a:pPr marL="0" indent="0">
              <a:buNone/>
            </a:pPr>
            <a:r>
              <a:rPr lang="en-US" b="1" dirty="0"/>
              <a:t>General Process</a:t>
            </a:r>
          </a:p>
          <a:p>
            <a:pPr marL="0" indent="0" algn="ctr">
              <a:buNone/>
            </a:pPr>
            <a:r>
              <a:rPr lang="en-US" b="1" dirty="0"/>
              <a:t>Patentee requests surrender</a:t>
            </a:r>
            <a:endParaRPr lang="en-US" dirty="0"/>
          </a:p>
          <a:p>
            <a:pPr marL="0" indent="0" algn="ctr">
              <a:buNone/>
            </a:pPr>
            <a:r>
              <a:rPr lang="en-US" dirty="0"/>
              <a:t>↓</a:t>
            </a:r>
          </a:p>
          <a:p>
            <a:pPr marL="0" indent="0" algn="ctr">
              <a:buNone/>
            </a:pPr>
            <a:r>
              <a:rPr lang="en-US" b="1" dirty="0"/>
              <a:t>Controller examines the request</a:t>
            </a:r>
            <a:endParaRPr lang="en-US" dirty="0"/>
          </a:p>
          <a:p>
            <a:pPr marL="0" indent="0" algn="ctr">
              <a:buNone/>
            </a:pPr>
            <a:r>
              <a:rPr lang="en-US" dirty="0"/>
              <a:t>↓</a:t>
            </a:r>
          </a:p>
          <a:p>
            <a:pPr marL="0" indent="0" algn="ctr">
              <a:buNone/>
            </a:pPr>
            <a:r>
              <a:rPr lang="en-US" b="1" dirty="0"/>
              <a:t>Opportunity to interested persons to oppose</a:t>
            </a:r>
            <a:endParaRPr lang="en-US" dirty="0"/>
          </a:p>
          <a:p>
            <a:pPr marL="0" indent="0" algn="ctr">
              <a:buNone/>
            </a:pPr>
            <a:r>
              <a:rPr lang="en-US" dirty="0"/>
              <a:t>↓</a:t>
            </a:r>
          </a:p>
          <a:p>
            <a:pPr marL="0" indent="0" algn="ctr">
              <a:buNone/>
            </a:pPr>
            <a:r>
              <a:rPr lang="en-US" b="1" dirty="0"/>
              <a:t>Decision according to the Act</a:t>
            </a:r>
            <a:endParaRPr lang="en-US" dirty="0"/>
          </a:p>
          <a:p>
            <a:pPr marL="0" indent="0">
              <a:buNone/>
            </a:pPr>
            <a:r>
              <a:rPr lang="en-US" b="1" dirty="0"/>
              <a:t>Important</a:t>
            </a:r>
          </a:p>
          <a:p>
            <a:pPr marL="0" indent="0">
              <a:buNone/>
            </a:pPr>
            <a:r>
              <a:rPr lang="en-US" dirty="0"/>
              <a:t>Surrender is different from revocation.</a:t>
            </a:r>
          </a:p>
          <a:p>
            <a:pPr marL="0" indent="0">
              <a:buNone/>
            </a:pPr>
            <a:r>
              <a:rPr lang="en-US" b="1" dirty="0"/>
              <a:t>Surrender → initiated by patentee</a:t>
            </a:r>
            <a:endParaRPr lang="en-US" dirty="0"/>
          </a:p>
          <a:p>
            <a:pPr marL="0" indent="0">
              <a:buNone/>
            </a:pPr>
            <a:r>
              <a:rPr lang="en-US" b="1" dirty="0"/>
              <a:t>Revocation → patent cancelled under statutory grounds/procedure</a:t>
            </a:r>
            <a:endParaRPr lang="en-US" dirty="0"/>
          </a:p>
        </p:txBody>
      </p:sp>
    </p:spTree>
    <p:extLst>
      <p:ext uri="{BB962C8B-B14F-4D97-AF65-F5344CB8AC3E}">
        <p14:creationId xmlns:p14="http://schemas.microsoft.com/office/powerpoint/2010/main" val="21410130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Revocation of Patent</a:t>
            </a:r>
            <a:endParaRPr lang="en-US" dirty="0"/>
          </a:p>
        </p:txBody>
      </p:sp>
      <p:sp>
        <p:nvSpPr>
          <p:cNvPr id="3" name="Content Placeholder 2"/>
          <p:cNvSpPr>
            <a:spLocks noGrp="1"/>
          </p:cNvSpPr>
          <p:nvPr>
            <p:ph idx="1"/>
          </p:nvPr>
        </p:nvSpPr>
        <p:spPr>
          <a:xfrm>
            <a:off x="695960" y="1181687"/>
            <a:ext cx="10800000" cy="4993688"/>
          </a:xfrm>
        </p:spPr>
        <p:txBody>
          <a:bodyPr>
            <a:normAutofit fontScale="70000" lnSpcReduction="20000"/>
          </a:bodyPr>
          <a:lstStyle/>
          <a:p>
            <a:pPr marL="0" indent="0">
              <a:buNone/>
            </a:pPr>
            <a:r>
              <a:rPr lang="en-US" b="1" dirty="0"/>
              <a:t>What is Revocation?</a:t>
            </a:r>
          </a:p>
          <a:p>
            <a:r>
              <a:rPr lang="en-US" dirty="0"/>
              <a:t>Revocation means cancellation of a granted patent.</a:t>
            </a:r>
          </a:p>
          <a:p>
            <a:r>
              <a:rPr lang="en-US" dirty="0"/>
              <a:t>A patent may be revoked under specified statutory grounds.</a:t>
            </a:r>
          </a:p>
          <a:p>
            <a:pPr marL="0" indent="0">
              <a:buNone/>
            </a:pPr>
            <a:r>
              <a:rPr lang="en-US" b="1" dirty="0"/>
              <a:t>Possible grounds include:</a:t>
            </a:r>
          </a:p>
          <a:p>
            <a:r>
              <a:rPr lang="en-US" dirty="0"/>
              <a:t>Lack of novelty </a:t>
            </a:r>
          </a:p>
          <a:p>
            <a:r>
              <a:rPr lang="en-US" dirty="0"/>
              <a:t>Lack of inventive step </a:t>
            </a:r>
          </a:p>
          <a:p>
            <a:r>
              <a:rPr lang="en-US" dirty="0"/>
              <a:t>Lack of patentable subject matter </a:t>
            </a:r>
          </a:p>
          <a:p>
            <a:r>
              <a:rPr lang="en-US" dirty="0"/>
              <a:t>Wrongful obtaining </a:t>
            </a:r>
          </a:p>
          <a:p>
            <a:r>
              <a:rPr lang="en-US" dirty="0"/>
              <a:t>Insufficient disclosure </a:t>
            </a:r>
          </a:p>
          <a:p>
            <a:r>
              <a:rPr lang="en-US" dirty="0"/>
              <a:t>Claims not sufficiently based on the specification </a:t>
            </a:r>
          </a:p>
          <a:p>
            <a:r>
              <a:rPr lang="en-US" dirty="0"/>
              <a:t>Patent obtained through fraud or misrepresentation in appropriate circumstances </a:t>
            </a:r>
          </a:p>
          <a:p>
            <a:r>
              <a:rPr lang="en-US" dirty="0"/>
              <a:t>Failure to comply with statutory requirements</a:t>
            </a:r>
          </a:p>
        </p:txBody>
      </p:sp>
    </p:spTree>
    <p:extLst>
      <p:ext uri="{BB962C8B-B14F-4D97-AF65-F5344CB8AC3E}">
        <p14:creationId xmlns:p14="http://schemas.microsoft.com/office/powerpoint/2010/main" val="360814148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Who Can Seek Revocation?</a:t>
            </a:r>
            <a:endParaRPr lang="en-US" dirty="0"/>
          </a:p>
        </p:txBody>
      </p:sp>
      <p:sp>
        <p:nvSpPr>
          <p:cNvPr id="3" name="Content Placeholder 2"/>
          <p:cNvSpPr>
            <a:spLocks noGrp="1"/>
          </p:cNvSpPr>
          <p:nvPr>
            <p:ph idx="1"/>
          </p:nvPr>
        </p:nvSpPr>
        <p:spPr/>
        <p:txBody>
          <a:bodyPr>
            <a:normAutofit/>
          </a:bodyPr>
          <a:lstStyle/>
          <a:p>
            <a:pPr marL="0" indent="0">
              <a:buNone/>
            </a:pPr>
            <a:r>
              <a:rPr lang="en-US" dirty="0"/>
              <a:t>Under the current legal framework, revocation proceedings may be brought before the </a:t>
            </a:r>
            <a:r>
              <a:rPr lang="en-US" b="1" dirty="0"/>
              <a:t>High Court</a:t>
            </a:r>
            <a:r>
              <a:rPr lang="en-US" dirty="0"/>
              <a:t> in accordance with the Patents Act.</a:t>
            </a:r>
          </a:p>
          <a:p>
            <a:pPr marL="0" indent="0">
              <a:buNone/>
            </a:pPr>
            <a:r>
              <a:rPr lang="en-US" b="1" dirty="0"/>
              <a:t>Important Historical Note</a:t>
            </a:r>
          </a:p>
          <a:p>
            <a:pPr marL="0" indent="0">
              <a:buNone/>
            </a:pPr>
            <a:r>
              <a:rPr lang="en-US" dirty="0"/>
              <a:t>Older textbooks may describe the </a:t>
            </a:r>
            <a:r>
              <a:rPr lang="en-US" b="1" dirty="0"/>
              <a:t>IPAB</a:t>
            </a:r>
            <a:r>
              <a:rPr lang="en-US" dirty="0"/>
              <a:t> as the forum for certain revocation matters.</a:t>
            </a:r>
          </a:p>
          <a:p>
            <a:pPr marL="0" indent="0">
              <a:buNone/>
            </a:pPr>
            <a:r>
              <a:rPr lang="en-US" dirty="0"/>
              <a:t>However</a:t>
            </a:r>
            <a:r>
              <a:rPr lang="en-US" dirty="0" smtClean="0"/>
              <a:t>: IPAB </a:t>
            </a:r>
            <a:r>
              <a:rPr lang="en-US" dirty="0"/>
              <a:t>was abolished in 2021</a:t>
            </a:r>
            <a:r>
              <a:rPr lang="en-US" dirty="0" smtClean="0"/>
              <a:t>.</a:t>
            </a:r>
          </a:p>
          <a:p>
            <a:pPr marL="0" indent="0">
              <a:buNone/>
            </a:pPr>
            <a:r>
              <a:rPr lang="en-US" dirty="0"/>
              <a:t>Relevant IP appellate and revocation functions were transferred primarily to </a:t>
            </a:r>
            <a:r>
              <a:rPr lang="en-US" b="1" dirty="0"/>
              <a:t>High Courts</a:t>
            </a:r>
            <a:r>
              <a:rPr lang="en-US" dirty="0"/>
              <a:t>, subject to the specific statutory provision.</a:t>
            </a:r>
          </a:p>
        </p:txBody>
      </p:sp>
    </p:spTree>
    <p:extLst>
      <p:ext uri="{BB962C8B-B14F-4D97-AF65-F5344CB8AC3E}">
        <p14:creationId xmlns:p14="http://schemas.microsoft.com/office/powerpoint/2010/main" val="107811936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 Infringement</a:t>
            </a:r>
            <a:endParaRPr lang="en-US" dirty="0"/>
          </a:p>
        </p:txBody>
      </p:sp>
      <p:sp>
        <p:nvSpPr>
          <p:cNvPr id="3" name="Content Placeholder 2"/>
          <p:cNvSpPr>
            <a:spLocks noGrp="1"/>
          </p:cNvSpPr>
          <p:nvPr>
            <p:ph idx="1"/>
          </p:nvPr>
        </p:nvSpPr>
        <p:spPr/>
        <p:txBody>
          <a:bodyPr>
            <a:normAutofit fontScale="92500"/>
          </a:bodyPr>
          <a:lstStyle/>
          <a:p>
            <a:pPr marL="0" indent="0">
              <a:buNone/>
            </a:pPr>
            <a:r>
              <a:rPr lang="en-US" b="1" dirty="0"/>
              <a:t>What is Patent Infringement?</a:t>
            </a:r>
          </a:p>
          <a:p>
            <a:r>
              <a:rPr lang="en-US" dirty="0"/>
              <a:t>Patent infringement occurs when a person performs an act that falls within the scope of the patent rights </a:t>
            </a:r>
            <a:r>
              <a:rPr lang="en-US" b="1" dirty="0"/>
              <a:t>without authorization</a:t>
            </a:r>
            <a:r>
              <a:rPr lang="en-US" dirty="0"/>
              <a:t> and contrary to the Patents Act.</a:t>
            </a:r>
          </a:p>
          <a:p>
            <a:pPr marL="0" indent="0">
              <a:buNone/>
            </a:pPr>
            <a:r>
              <a:rPr lang="en-US" b="1" dirty="0"/>
              <a:t>Examples</a:t>
            </a:r>
          </a:p>
          <a:p>
            <a:r>
              <a:rPr lang="en-US" dirty="0"/>
              <a:t>Unauthorized:</a:t>
            </a:r>
          </a:p>
          <a:p>
            <a:r>
              <a:rPr lang="en-US" dirty="0"/>
              <a:t>Manufacturing a patented product </a:t>
            </a:r>
          </a:p>
          <a:p>
            <a:r>
              <a:rPr lang="en-US" dirty="0"/>
              <a:t>Selling a patented product </a:t>
            </a:r>
          </a:p>
          <a:p>
            <a:r>
              <a:rPr lang="en-US" dirty="0"/>
              <a:t>Using a patented process </a:t>
            </a:r>
          </a:p>
          <a:p>
            <a:r>
              <a:rPr lang="en-US" dirty="0"/>
              <a:t>Importing a patented product</a:t>
            </a:r>
          </a:p>
        </p:txBody>
      </p:sp>
    </p:spTree>
    <p:extLst>
      <p:ext uri="{BB962C8B-B14F-4D97-AF65-F5344CB8AC3E}">
        <p14:creationId xmlns:p14="http://schemas.microsoft.com/office/powerpoint/2010/main" val="428084148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Patent Infringement</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Direct Infringement</a:t>
            </a:r>
          </a:p>
          <a:p>
            <a:r>
              <a:rPr lang="en-US" dirty="0"/>
              <a:t>Direct unauthorized performance of an act covered by the patent.</a:t>
            </a:r>
          </a:p>
          <a:p>
            <a:pPr marL="0" indent="0">
              <a:buNone/>
            </a:pPr>
            <a:r>
              <a:rPr lang="en-US" b="1" dirty="0"/>
              <a:t>Indirect/Contributory Situations</a:t>
            </a:r>
          </a:p>
          <a:p>
            <a:r>
              <a:rPr lang="en-US" dirty="0"/>
              <a:t>A third party may be involved in activities that facilitate infringement, depending on the applicable law and facts.</a:t>
            </a:r>
          </a:p>
          <a:p>
            <a:pPr marL="0" indent="0">
              <a:buNone/>
            </a:pPr>
            <a:r>
              <a:rPr lang="en-US" b="1" dirty="0"/>
              <a:t>Literal Infringement</a:t>
            </a:r>
          </a:p>
          <a:p>
            <a:r>
              <a:rPr lang="en-US" dirty="0"/>
              <a:t>The accused product/process falls within the wording of the patent claims.</a:t>
            </a:r>
          </a:p>
          <a:p>
            <a:pPr marL="0" indent="0">
              <a:buNone/>
            </a:pPr>
            <a:r>
              <a:rPr lang="en-US" b="1" dirty="0"/>
              <a:t>Doctrine of Equivalents</a:t>
            </a:r>
          </a:p>
          <a:p>
            <a:r>
              <a:rPr lang="en-US" dirty="0"/>
              <a:t>In some jurisdictions, equivalent technical features may be considered. Indian patent litigation must be analyzed under Indian law and the specific judicial approach.</a:t>
            </a:r>
          </a:p>
        </p:txBody>
      </p:sp>
    </p:spTree>
    <p:extLst>
      <p:ext uri="{BB962C8B-B14F-4D97-AF65-F5344CB8AC3E}">
        <p14:creationId xmlns:p14="http://schemas.microsoft.com/office/powerpoint/2010/main" val="61727920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Patent Infringement Example</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Suppose:</a:t>
            </a:r>
          </a:p>
          <a:p>
            <a:pPr marL="0" indent="0">
              <a:buNone/>
            </a:pPr>
            <a:r>
              <a:rPr lang="en-US" dirty="0"/>
              <a:t>Company A owns a patent for a particular water-purification technology.</a:t>
            </a:r>
          </a:p>
          <a:p>
            <a:pPr marL="0" indent="0">
              <a:buNone/>
            </a:pPr>
            <a:r>
              <a:rPr lang="en-US" dirty="0"/>
              <a:t>Company </a:t>
            </a:r>
            <a:r>
              <a:rPr lang="en-US" dirty="0" smtClean="0"/>
              <a:t>B: </a:t>
            </a:r>
          </a:p>
          <a:p>
            <a:r>
              <a:rPr lang="en-US" dirty="0" smtClean="0"/>
              <a:t>Manufactures </a:t>
            </a:r>
            <a:r>
              <a:rPr lang="en-US" dirty="0"/>
              <a:t>the same patented system. </a:t>
            </a:r>
          </a:p>
          <a:p>
            <a:r>
              <a:rPr lang="en-US" dirty="0"/>
              <a:t>Sells it commercially. </a:t>
            </a:r>
          </a:p>
          <a:p>
            <a:r>
              <a:rPr lang="en-US" dirty="0"/>
              <a:t>Has no license from Company A. </a:t>
            </a:r>
          </a:p>
          <a:p>
            <a:pPr marL="0" indent="0">
              <a:buNone/>
            </a:pPr>
            <a:r>
              <a:rPr lang="en-US" dirty="0"/>
              <a:t>If the accused activity falls within the scope of the patent claims, it may constitute infringement.</a:t>
            </a:r>
          </a:p>
          <a:p>
            <a:pPr marL="0" indent="0">
              <a:buNone/>
            </a:pPr>
            <a:r>
              <a:rPr lang="en-US" b="1" dirty="0"/>
              <a:t>Key Principle</a:t>
            </a:r>
          </a:p>
          <a:p>
            <a:r>
              <a:rPr lang="en-US" b="1" dirty="0"/>
              <a:t>Patent protection is determined primarily by the claims.</a:t>
            </a:r>
            <a:endParaRPr lang="en-US" dirty="0"/>
          </a:p>
        </p:txBody>
      </p:sp>
    </p:spTree>
    <p:extLst>
      <p:ext uri="{BB962C8B-B14F-4D97-AF65-F5344CB8AC3E}">
        <p14:creationId xmlns:p14="http://schemas.microsoft.com/office/powerpoint/2010/main" val="282307937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Action for Patent Infringement</a:t>
            </a:r>
            <a:endParaRPr lang="en-US" dirty="0"/>
          </a:p>
        </p:txBody>
      </p:sp>
      <p:sp>
        <p:nvSpPr>
          <p:cNvPr id="3" name="Content Placeholder 2"/>
          <p:cNvSpPr>
            <a:spLocks noGrp="1"/>
          </p:cNvSpPr>
          <p:nvPr>
            <p:ph idx="1"/>
          </p:nvPr>
        </p:nvSpPr>
        <p:spPr>
          <a:xfrm>
            <a:off x="695960" y="1301749"/>
            <a:ext cx="10800000" cy="5141254"/>
          </a:xfrm>
        </p:spPr>
        <p:txBody>
          <a:bodyPr>
            <a:normAutofit fontScale="77500" lnSpcReduction="20000"/>
          </a:bodyPr>
          <a:lstStyle/>
          <a:p>
            <a:pPr marL="0" indent="0">
              <a:buNone/>
            </a:pPr>
            <a:r>
              <a:rPr lang="en-US" dirty="0"/>
              <a:t>A patent infringement action is generally filed before a </a:t>
            </a:r>
            <a:r>
              <a:rPr lang="en-US" b="1" dirty="0"/>
              <a:t>competent court having jurisdiction</a:t>
            </a:r>
            <a:r>
              <a:rPr lang="en-US" dirty="0"/>
              <a:t>, and patent infringement suits are heard by the </a:t>
            </a:r>
            <a:r>
              <a:rPr lang="en-US" b="1" dirty="0"/>
              <a:t>High Court</a:t>
            </a:r>
            <a:r>
              <a:rPr lang="en-US" dirty="0"/>
              <a:t> under the current framework where applicable.</a:t>
            </a:r>
          </a:p>
          <a:p>
            <a:pPr marL="0" indent="0">
              <a:buNone/>
            </a:pPr>
            <a:r>
              <a:rPr lang="en-US" b="1" dirty="0"/>
              <a:t>Patentee may seek:</a:t>
            </a:r>
          </a:p>
          <a:p>
            <a:r>
              <a:rPr lang="en-US" dirty="0"/>
              <a:t>Injunction </a:t>
            </a:r>
          </a:p>
          <a:p>
            <a:r>
              <a:rPr lang="en-US" dirty="0"/>
              <a:t>Damages </a:t>
            </a:r>
          </a:p>
          <a:p>
            <a:r>
              <a:rPr lang="en-US" dirty="0"/>
              <a:t>Account of profits </a:t>
            </a:r>
          </a:p>
          <a:p>
            <a:r>
              <a:rPr lang="en-US" dirty="0"/>
              <a:t>Other appropriate relief </a:t>
            </a:r>
          </a:p>
          <a:p>
            <a:pPr marL="0" indent="0">
              <a:buNone/>
            </a:pPr>
            <a:r>
              <a:rPr lang="en-US" b="1" dirty="0" smtClean="0"/>
              <a:t>Purpose</a:t>
            </a:r>
            <a:endParaRPr lang="en-US" dirty="0"/>
          </a:p>
          <a:p>
            <a:r>
              <a:rPr lang="en-US" dirty="0"/>
              <a:t>Stop infringement. </a:t>
            </a:r>
          </a:p>
          <a:p>
            <a:r>
              <a:rPr lang="en-US" dirty="0"/>
              <a:t>Compensate the patent owner. </a:t>
            </a:r>
          </a:p>
          <a:p>
            <a:r>
              <a:rPr lang="en-US" dirty="0"/>
              <a:t>Protect the commercial value of the patent.</a:t>
            </a:r>
          </a:p>
        </p:txBody>
      </p:sp>
    </p:spTree>
    <p:extLst>
      <p:ext uri="{BB962C8B-B14F-4D97-AF65-F5344CB8AC3E}">
        <p14:creationId xmlns:p14="http://schemas.microsoft.com/office/powerpoint/2010/main" val="370394655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Defenses</a:t>
            </a:r>
            <a:r>
              <a:rPr lang="en-IN" dirty="0"/>
              <a:t> in Patent Infringement</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A defendant may challenge infringement or the validity of the patent.</a:t>
            </a:r>
          </a:p>
          <a:p>
            <a:pPr marL="0" indent="0">
              <a:buNone/>
            </a:pPr>
            <a:r>
              <a:rPr lang="en-US" b="1" dirty="0"/>
              <a:t>Possible issues include:</a:t>
            </a:r>
          </a:p>
          <a:p>
            <a:r>
              <a:rPr lang="en-US" dirty="0"/>
              <a:t>Patent is invalid. </a:t>
            </a:r>
          </a:p>
          <a:p>
            <a:r>
              <a:rPr lang="en-US" dirty="0"/>
              <a:t>No infringement occurred. </a:t>
            </a:r>
          </a:p>
          <a:p>
            <a:r>
              <a:rPr lang="en-US" dirty="0"/>
              <a:t>Accused product/process does not fall within the claims. </a:t>
            </a:r>
          </a:p>
          <a:p>
            <a:r>
              <a:rPr lang="en-US" dirty="0"/>
              <a:t>Statutory exception applies. </a:t>
            </a:r>
          </a:p>
          <a:p>
            <a:r>
              <a:rPr lang="en-US" dirty="0"/>
              <a:t>Patent rights are exhausted, where applicable. </a:t>
            </a:r>
          </a:p>
          <a:p>
            <a:r>
              <a:rPr lang="en-US" dirty="0"/>
              <a:t>Other defenses recognized by the Patents Act. </a:t>
            </a:r>
          </a:p>
          <a:p>
            <a:pPr marL="0" indent="0">
              <a:buNone/>
            </a:pPr>
            <a:r>
              <a:rPr lang="en-US" b="1" dirty="0"/>
              <a:t>Important</a:t>
            </a:r>
          </a:p>
          <a:p>
            <a:r>
              <a:rPr lang="en-US" dirty="0"/>
              <a:t>Patent infringement litigation involves </a:t>
            </a:r>
            <a:r>
              <a:rPr lang="en-US" dirty="0" smtClean="0"/>
              <a:t>both: </a:t>
            </a:r>
            <a:r>
              <a:rPr lang="en-US" b="1" dirty="0" smtClean="0"/>
              <a:t>Infringement </a:t>
            </a:r>
            <a:r>
              <a:rPr lang="en-US" b="1" dirty="0"/>
              <a:t>Analysis + Patent Validity Analysis</a:t>
            </a:r>
            <a:endParaRPr lang="en-US" dirty="0"/>
          </a:p>
        </p:txBody>
      </p:sp>
    </p:spTree>
    <p:extLst>
      <p:ext uri="{BB962C8B-B14F-4D97-AF65-F5344CB8AC3E}">
        <p14:creationId xmlns:p14="http://schemas.microsoft.com/office/powerpoint/2010/main" val="1985532854"/>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 Agents</a:t>
            </a:r>
          </a:p>
        </p:txBody>
      </p:sp>
      <p:sp>
        <p:nvSpPr>
          <p:cNvPr id="3" name="Content Placeholder 2"/>
          <p:cNvSpPr>
            <a:spLocks noGrp="1"/>
          </p:cNvSpPr>
          <p:nvPr>
            <p:ph idx="1"/>
          </p:nvPr>
        </p:nvSpPr>
        <p:spPr/>
        <p:txBody>
          <a:bodyPr>
            <a:normAutofit lnSpcReduction="10000"/>
          </a:bodyPr>
          <a:lstStyle/>
          <a:p>
            <a:pPr marL="0" indent="0">
              <a:buNone/>
            </a:pPr>
            <a:r>
              <a:rPr lang="en-US" dirty="0"/>
              <a:t>A </a:t>
            </a:r>
            <a:r>
              <a:rPr lang="en-US" b="1" dirty="0"/>
              <a:t>patent agent</a:t>
            </a:r>
            <a:r>
              <a:rPr lang="en-US" dirty="0"/>
              <a:t> is a person who is registered under Indian patent law and is authorized to perform specified professional activities before the Patent Office.</a:t>
            </a:r>
          </a:p>
          <a:p>
            <a:pPr marL="0" indent="0">
              <a:buNone/>
            </a:pPr>
            <a:r>
              <a:rPr lang="en-US" b="1" dirty="0"/>
              <a:t>Functions</a:t>
            </a:r>
          </a:p>
          <a:p>
            <a:r>
              <a:rPr lang="en-US" dirty="0"/>
              <a:t>Prepare patent applications. </a:t>
            </a:r>
          </a:p>
          <a:p>
            <a:r>
              <a:rPr lang="en-US" dirty="0"/>
              <a:t>Draft specifications. </a:t>
            </a:r>
          </a:p>
          <a:p>
            <a:r>
              <a:rPr lang="en-US" dirty="0"/>
              <a:t>File applications. </a:t>
            </a:r>
          </a:p>
          <a:p>
            <a:r>
              <a:rPr lang="en-US" dirty="0"/>
              <a:t>Communicate with the Patent Office. </a:t>
            </a:r>
          </a:p>
          <a:p>
            <a:r>
              <a:rPr lang="en-US" dirty="0"/>
              <a:t>Respond to examination objections. </a:t>
            </a:r>
          </a:p>
          <a:p>
            <a:r>
              <a:rPr lang="en-US" dirty="0"/>
              <a:t>Represent applicants in permitted proceedings.</a:t>
            </a:r>
          </a:p>
        </p:txBody>
      </p:sp>
    </p:spTree>
    <p:extLst>
      <p:ext uri="{BB962C8B-B14F-4D97-AF65-F5344CB8AC3E}">
        <p14:creationId xmlns:p14="http://schemas.microsoft.com/office/powerpoint/2010/main" val="206979748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Qualification of Patent Agent</a:t>
            </a:r>
          </a:p>
        </p:txBody>
      </p:sp>
      <p:sp>
        <p:nvSpPr>
          <p:cNvPr id="3" name="Content Placeholder 2"/>
          <p:cNvSpPr>
            <a:spLocks noGrp="1"/>
          </p:cNvSpPr>
          <p:nvPr>
            <p:ph idx="1"/>
          </p:nvPr>
        </p:nvSpPr>
        <p:spPr/>
        <p:txBody>
          <a:bodyPr>
            <a:normAutofit fontScale="85000" lnSpcReduction="10000"/>
          </a:bodyPr>
          <a:lstStyle/>
          <a:p>
            <a:pPr marL="0" indent="0">
              <a:buNone/>
            </a:pPr>
            <a:r>
              <a:rPr lang="en-US" dirty="0"/>
              <a:t>A person seeking registration as a patent agent must satisfy the statutory eligibility requirements.</a:t>
            </a:r>
          </a:p>
          <a:p>
            <a:r>
              <a:rPr lang="en-US" dirty="0"/>
              <a:t>Broadly, the requirements include:</a:t>
            </a:r>
          </a:p>
          <a:p>
            <a:r>
              <a:rPr lang="en-US" dirty="0"/>
              <a:t>Being a citizen of India, subject to the statutory requirements. </a:t>
            </a:r>
          </a:p>
          <a:p>
            <a:r>
              <a:rPr lang="en-US" dirty="0"/>
              <a:t>Meeting prescribed age requirements. </a:t>
            </a:r>
          </a:p>
          <a:p>
            <a:r>
              <a:rPr lang="en-US" dirty="0"/>
              <a:t>Possessing the required scientific/technical qualifications. </a:t>
            </a:r>
          </a:p>
          <a:p>
            <a:r>
              <a:rPr lang="en-US" dirty="0"/>
              <a:t>Passing the prescribed patent-agent examination or satisfying the applicable statutory route. </a:t>
            </a:r>
          </a:p>
          <a:p>
            <a:pPr marL="0" indent="0">
              <a:buNone/>
            </a:pPr>
            <a:r>
              <a:rPr lang="en-US" b="1" dirty="0"/>
              <a:t>Important</a:t>
            </a:r>
          </a:p>
          <a:p>
            <a:r>
              <a:rPr lang="en-US" dirty="0"/>
              <a:t>The exact eligibility requirements should be checked against the </a:t>
            </a:r>
            <a:r>
              <a:rPr lang="en-US" b="1" dirty="0"/>
              <a:t>current Patents Act and Patent Rules</a:t>
            </a:r>
            <a:r>
              <a:rPr lang="en-US" dirty="0"/>
              <a:t> because the rules have been amended over time.</a:t>
            </a:r>
          </a:p>
        </p:txBody>
      </p:sp>
    </p:spTree>
    <p:extLst>
      <p:ext uri="{BB962C8B-B14F-4D97-AF65-F5344CB8AC3E}">
        <p14:creationId xmlns:p14="http://schemas.microsoft.com/office/powerpoint/2010/main" val="220893176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 Agent vs Patent Attorney/Lawyer</a:t>
            </a:r>
          </a:p>
        </p:txBody>
      </p:sp>
      <p:sp>
        <p:nvSpPr>
          <p:cNvPr id="3" name="Content Placeholder 2"/>
          <p:cNvSpPr>
            <a:spLocks noGrp="1"/>
          </p:cNvSpPr>
          <p:nvPr>
            <p:ph idx="1"/>
          </p:nvPr>
        </p:nvSpPr>
        <p:spPr/>
        <p:txBody>
          <a:bodyPr numCol="2">
            <a:normAutofit/>
          </a:bodyPr>
          <a:lstStyle/>
          <a:p>
            <a:pPr marL="0" indent="0">
              <a:buNone/>
            </a:pPr>
            <a:r>
              <a:rPr lang="en-US" b="1" dirty="0"/>
              <a:t>Patent Agent</a:t>
            </a:r>
          </a:p>
          <a:p>
            <a:r>
              <a:rPr lang="en-US" dirty="0"/>
              <a:t>Focuses particularly on:</a:t>
            </a:r>
          </a:p>
          <a:p>
            <a:r>
              <a:rPr lang="en-US" dirty="0"/>
              <a:t>Patent drafting </a:t>
            </a:r>
          </a:p>
          <a:p>
            <a:r>
              <a:rPr lang="en-US" dirty="0"/>
              <a:t>Patent filing </a:t>
            </a:r>
          </a:p>
          <a:p>
            <a:r>
              <a:rPr lang="en-US" dirty="0"/>
              <a:t>Patent prosecution </a:t>
            </a:r>
          </a:p>
          <a:p>
            <a:r>
              <a:rPr lang="en-US" dirty="0"/>
              <a:t>Representation before the Patent Office </a:t>
            </a:r>
          </a:p>
          <a:p>
            <a:endParaRPr lang="en-US" b="1" dirty="0" smtClean="0"/>
          </a:p>
          <a:p>
            <a:pPr marL="0" indent="0">
              <a:buNone/>
            </a:pPr>
            <a:r>
              <a:rPr lang="en-US" b="1" dirty="0" smtClean="0"/>
              <a:t>Advocate/Lawyer</a:t>
            </a:r>
            <a:endParaRPr lang="en-US" b="1" dirty="0"/>
          </a:p>
          <a:p>
            <a:r>
              <a:rPr lang="en-US" dirty="0"/>
              <a:t>Handles:</a:t>
            </a:r>
          </a:p>
          <a:p>
            <a:r>
              <a:rPr lang="en-US" dirty="0"/>
              <a:t>Litigation </a:t>
            </a:r>
          </a:p>
          <a:p>
            <a:r>
              <a:rPr lang="en-US" dirty="0"/>
              <a:t>Court proceedings </a:t>
            </a:r>
          </a:p>
          <a:p>
            <a:r>
              <a:rPr lang="en-US" dirty="0"/>
              <a:t>Legal opinions </a:t>
            </a:r>
          </a:p>
          <a:p>
            <a:r>
              <a:rPr lang="en-US" dirty="0"/>
              <a:t>Patent infringement suits</a:t>
            </a:r>
          </a:p>
        </p:txBody>
      </p:sp>
    </p:spTree>
    <p:extLst>
      <p:ext uri="{BB962C8B-B14F-4D97-AF65-F5344CB8AC3E}">
        <p14:creationId xmlns:p14="http://schemas.microsoft.com/office/powerpoint/2010/main" val="331438390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Patents and Computer Programs</a:t>
            </a:r>
          </a:p>
        </p:txBody>
      </p:sp>
      <p:sp>
        <p:nvSpPr>
          <p:cNvPr id="3" name="Content Placeholder 2"/>
          <p:cNvSpPr>
            <a:spLocks noGrp="1"/>
          </p:cNvSpPr>
          <p:nvPr>
            <p:ph idx="1"/>
          </p:nvPr>
        </p:nvSpPr>
        <p:spPr/>
        <p:txBody>
          <a:bodyPr>
            <a:normAutofit/>
          </a:bodyPr>
          <a:lstStyle/>
          <a:p>
            <a:r>
              <a:rPr lang="en-US" b="1" dirty="0" smtClean="0"/>
              <a:t>Indian </a:t>
            </a:r>
            <a:r>
              <a:rPr lang="en-US" b="1" dirty="0"/>
              <a:t>Patent Act – Section 3(k)</a:t>
            </a:r>
          </a:p>
          <a:p>
            <a:r>
              <a:rPr lang="en-US" dirty="0"/>
              <a:t>The Act excludes</a:t>
            </a:r>
            <a:r>
              <a:rPr lang="en-US" dirty="0" smtClean="0"/>
              <a:t>: "</a:t>
            </a:r>
            <a:r>
              <a:rPr lang="en-US" dirty="0"/>
              <a:t>a mathematical method or business method or a computer </a:t>
            </a:r>
            <a:r>
              <a:rPr lang="en-US" dirty="0" err="1"/>
              <a:t>programme</a:t>
            </a:r>
            <a:r>
              <a:rPr lang="en-US" dirty="0"/>
              <a:t> per se or </a:t>
            </a:r>
            <a:r>
              <a:rPr lang="en-US" dirty="0" smtClean="0"/>
              <a:t>algorithms“ from </a:t>
            </a:r>
            <a:r>
              <a:rPr lang="en-US" dirty="0"/>
              <a:t>patentability.</a:t>
            </a:r>
          </a:p>
          <a:p>
            <a:r>
              <a:rPr lang="en-US" b="1" dirty="0" smtClean="0"/>
              <a:t>Therefore </a:t>
            </a:r>
            <a:r>
              <a:rPr lang="en-US" dirty="0" smtClean="0"/>
              <a:t>A </a:t>
            </a:r>
            <a:r>
              <a:rPr lang="en-US" b="1" dirty="0"/>
              <a:t>computer program merely as such</a:t>
            </a:r>
            <a:r>
              <a:rPr lang="en-US" dirty="0"/>
              <a:t> is generally not patentable in India.</a:t>
            </a:r>
          </a:p>
          <a:p>
            <a:r>
              <a:rPr lang="en-US" dirty="0"/>
              <a:t>But the analysis becomes more nuanced when software is associated with a </a:t>
            </a:r>
            <a:r>
              <a:rPr lang="en-US" b="1" dirty="0"/>
              <a:t>technical effect or technical contribution</a:t>
            </a:r>
            <a:r>
              <a:rPr lang="en-US" dirty="0"/>
              <a:t>.</a:t>
            </a:r>
          </a:p>
          <a:p>
            <a:endParaRPr lang="en-US" dirty="0"/>
          </a:p>
        </p:txBody>
      </p:sp>
    </p:spTree>
    <p:extLst>
      <p:ext uri="{BB962C8B-B14F-4D97-AF65-F5344CB8AC3E}">
        <p14:creationId xmlns:p14="http://schemas.microsoft.com/office/powerpoint/2010/main" val="410701048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Copyright vs Software Patent</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a:t>Copyright</a:t>
            </a:r>
          </a:p>
          <a:p>
            <a:r>
              <a:rPr lang="en-US" dirty="0"/>
              <a:t>Protects the </a:t>
            </a:r>
            <a:r>
              <a:rPr lang="en-US" b="1" dirty="0"/>
              <a:t>expression of software</a:t>
            </a:r>
            <a:r>
              <a:rPr lang="en-US" dirty="0"/>
              <a:t>, such </a:t>
            </a:r>
            <a:r>
              <a:rPr lang="en-US" dirty="0" smtClean="0"/>
              <a:t>as: Source code, Object code, Program </a:t>
            </a:r>
            <a:r>
              <a:rPr lang="en-US" dirty="0"/>
              <a:t>documentation </a:t>
            </a:r>
          </a:p>
          <a:p>
            <a:pPr marL="0" indent="0">
              <a:buNone/>
            </a:pPr>
            <a:r>
              <a:rPr lang="en-US" b="1" dirty="0"/>
              <a:t>Patent</a:t>
            </a:r>
          </a:p>
          <a:p>
            <a:r>
              <a:rPr lang="en-US" dirty="0"/>
              <a:t>May potentially protect an eligible </a:t>
            </a:r>
            <a:r>
              <a:rPr lang="en-US" b="1" dirty="0"/>
              <a:t>technical invention involving software</a:t>
            </a:r>
            <a:r>
              <a:rPr lang="en-US" dirty="0"/>
              <a:t>, provided the invention satisfies the Patents Act and is not excluded.</a:t>
            </a:r>
          </a:p>
          <a:p>
            <a:pPr marL="0" indent="0">
              <a:buNone/>
            </a:pPr>
            <a:r>
              <a:rPr lang="en-US" b="1" dirty="0"/>
              <a:t>Example</a:t>
            </a:r>
          </a:p>
          <a:p>
            <a:r>
              <a:rPr lang="en-US" b="1" dirty="0"/>
              <a:t>Source code of an </a:t>
            </a:r>
            <a:r>
              <a:rPr lang="en-US" b="1" dirty="0" smtClean="0"/>
              <a:t>application</a:t>
            </a:r>
            <a:r>
              <a:rPr lang="en-US" dirty="0" smtClean="0"/>
              <a:t> → </a:t>
            </a:r>
            <a:r>
              <a:rPr lang="en-US" dirty="0"/>
              <a:t>Copyright</a:t>
            </a:r>
          </a:p>
          <a:p>
            <a:r>
              <a:rPr lang="en-US" b="1" dirty="0"/>
              <a:t>Novel technical system implemented using software that provides a qualifying technical </a:t>
            </a:r>
            <a:r>
              <a:rPr lang="en-US" b="1" dirty="0" smtClean="0"/>
              <a:t>contribution</a:t>
            </a:r>
            <a:r>
              <a:rPr lang="en-US" dirty="0" smtClean="0"/>
              <a:t> → </a:t>
            </a:r>
            <a:r>
              <a:rPr lang="en-US" dirty="0"/>
              <a:t>May potentially be patentable, subject to examination and Section 3(k).</a:t>
            </a:r>
          </a:p>
        </p:txBody>
      </p:sp>
    </p:spTree>
    <p:extLst>
      <p:ext uri="{BB962C8B-B14F-4D97-AF65-F5344CB8AC3E}">
        <p14:creationId xmlns:p14="http://schemas.microsoft.com/office/powerpoint/2010/main" val="94160690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Program – Examples</a:t>
            </a:r>
          </a:p>
        </p:txBody>
      </p:sp>
      <p:sp>
        <p:nvSpPr>
          <p:cNvPr id="3" name="Content Placeholder 2"/>
          <p:cNvSpPr>
            <a:spLocks noGrp="1"/>
          </p:cNvSpPr>
          <p:nvPr>
            <p:ph idx="1"/>
          </p:nvPr>
        </p:nvSpPr>
        <p:spPr>
          <a:xfrm>
            <a:off x="695960" y="1301749"/>
            <a:ext cx="10800000" cy="5302251"/>
          </a:xfrm>
        </p:spPr>
        <p:txBody>
          <a:bodyPr>
            <a:normAutofit fontScale="85000" lnSpcReduction="20000"/>
          </a:bodyPr>
          <a:lstStyle/>
          <a:p>
            <a:pPr marL="0" indent="0">
              <a:buNone/>
            </a:pPr>
            <a:r>
              <a:rPr lang="en-US" b="1" dirty="0"/>
              <a:t>Generally Not Patentable</a:t>
            </a:r>
          </a:p>
          <a:p>
            <a:r>
              <a:rPr lang="en-US" dirty="0"/>
              <a:t>Mathematical algorithm alone </a:t>
            </a:r>
          </a:p>
          <a:p>
            <a:r>
              <a:rPr lang="en-US" dirty="0"/>
              <a:t>Business method alone </a:t>
            </a:r>
          </a:p>
          <a:p>
            <a:r>
              <a:rPr lang="en-US" dirty="0"/>
              <a:t>Abstract software logic </a:t>
            </a:r>
          </a:p>
          <a:p>
            <a:r>
              <a:rPr lang="en-US" dirty="0"/>
              <a:t>Computer program </a:t>
            </a:r>
            <a:r>
              <a:rPr lang="en-US" i="1" dirty="0"/>
              <a:t>per se</a:t>
            </a:r>
            <a:r>
              <a:rPr lang="en-US" dirty="0"/>
              <a:t> </a:t>
            </a:r>
          </a:p>
          <a:p>
            <a:pPr marL="0" indent="0">
              <a:buNone/>
            </a:pPr>
            <a:r>
              <a:rPr lang="en-US" b="1" dirty="0"/>
              <a:t>Potentially Patentable</a:t>
            </a:r>
          </a:p>
          <a:p>
            <a:r>
              <a:rPr lang="en-US" dirty="0"/>
              <a:t>A software-related invention may be considered for patent protection where it demonstrates an eligible </a:t>
            </a:r>
            <a:r>
              <a:rPr lang="en-US" b="1" dirty="0"/>
              <a:t>technical contribution/effect</a:t>
            </a:r>
            <a:r>
              <a:rPr lang="en-US" dirty="0"/>
              <a:t> and satisfies all patentability requirements.</a:t>
            </a:r>
          </a:p>
          <a:p>
            <a:r>
              <a:rPr lang="en-US" b="1" dirty="0" smtClean="0"/>
              <a:t>Examples: </a:t>
            </a:r>
            <a:r>
              <a:rPr lang="en-US" dirty="0" smtClean="0"/>
              <a:t>Technical </a:t>
            </a:r>
            <a:r>
              <a:rPr lang="en-US" dirty="0"/>
              <a:t>control of an industrial </a:t>
            </a:r>
            <a:r>
              <a:rPr lang="en-US" dirty="0" smtClean="0"/>
              <a:t>machine, Improved </a:t>
            </a:r>
            <a:r>
              <a:rPr lang="en-US" dirty="0"/>
              <a:t>functioning of a communication </a:t>
            </a:r>
            <a:r>
              <a:rPr lang="en-US" dirty="0" smtClean="0"/>
              <a:t>system, Technical </a:t>
            </a:r>
            <a:r>
              <a:rPr lang="en-US" dirty="0"/>
              <a:t>improvement in computer hardware performance </a:t>
            </a:r>
          </a:p>
          <a:p>
            <a:pPr marL="0" indent="0">
              <a:buNone/>
            </a:pPr>
            <a:r>
              <a:rPr lang="en-US" b="1" dirty="0"/>
              <a:t>Important:</a:t>
            </a:r>
            <a:r>
              <a:rPr lang="en-US" dirty="0"/>
              <a:t> Patentability depends on the actual claims and technical substance, not merely on adding words such as "computer implemented."</a:t>
            </a:r>
          </a:p>
        </p:txBody>
      </p:sp>
    </p:spTree>
    <p:extLst>
      <p:ext uri="{BB962C8B-B14F-4D97-AF65-F5344CB8AC3E}">
        <p14:creationId xmlns:p14="http://schemas.microsoft.com/office/powerpoint/2010/main" val="58524113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Patentability of AI-Based Inventions</a:t>
            </a:r>
          </a:p>
        </p:txBody>
      </p:sp>
      <p:sp>
        <p:nvSpPr>
          <p:cNvPr id="3" name="Content Placeholder 2"/>
          <p:cNvSpPr>
            <a:spLocks noGrp="1"/>
          </p:cNvSpPr>
          <p:nvPr>
            <p:ph idx="1"/>
          </p:nvPr>
        </p:nvSpPr>
        <p:spPr/>
        <p:txBody>
          <a:bodyPr numCol="2">
            <a:normAutofit fontScale="92500"/>
          </a:bodyPr>
          <a:lstStyle/>
          <a:p>
            <a:pPr marL="0" indent="0">
              <a:buNone/>
            </a:pPr>
            <a:r>
              <a:rPr lang="en-US" dirty="0"/>
              <a:t>AI is particularly relevant to modern patent law.</a:t>
            </a:r>
          </a:p>
          <a:p>
            <a:pPr marL="0" indent="0">
              <a:buNone/>
            </a:pPr>
            <a:r>
              <a:rPr lang="en-US" b="1" dirty="0"/>
              <a:t>Possible patent-related areas</a:t>
            </a:r>
          </a:p>
          <a:p>
            <a:r>
              <a:rPr lang="en-US" dirty="0"/>
              <a:t>AI-controlled industrial systems </a:t>
            </a:r>
          </a:p>
          <a:p>
            <a:r>
              <a:rPr lang="en-US" dirty="0"/>
              <a:t>Novel hardware architecture </a:t>
            </a:r>
          </a:p>
          <a:p>
            <a:r>
              <a:rPr lang="en-US" dirty="0"/>
              <a:t>Technical image-processing systems </a:t>
            </a:r>
          </a:p>
          <a:p>
            <a:r>
              <a:rPr lang="en-US" dirty="0"/>
              <a:t>AI-based signal-processing techniques </a:t>
            </a:r>
          </a:p>
          <a:p>
            <a:r>
              <a:rPr lang="en-US" dirty="0"/>
              <a:t>Technical improvements in computing systems </a:t>
            </a:r>
          </a:p>
          <a:p>
            <a:pPr marL="0" indent="0">
              <a:buNone/>
            </a:pPr>
            <a:r>
              <a:rPr lang="en-US" b="1" dirty="0"/>
              <a:t>Potentially problematic</a:t>
            </a:r>
          </a:p>
          <a:p>
            <a:r>
              <a:rPr lang="en-US" dirty="0"/>
              <a:t>Mathematical model alone </a:t>
            </a:r>
          </a:p>
          <a:p>
            <a:r>
              <a:rPr lang="en-US" dirty="0"/>
              <a:t>Algorithm alone </a:t>
            </a:r>
          </a:p>
          <a:p>
            <a:r>
              <a:rPr lang="en-US" dirty="0"/>
              <a:t>Abstract AI concept </a:t>
            </a:r>
          </a:p>
          <a:p>
            <a:r>
              <a:rPr lang="en-US" dirty="0"/>
              <a:t>Business method implemented using software </a:t>
            </a:r>
          </a:p>
          <a:p>
            <a:pPr marL="0" indent="0">
              <a:buNone/>
            </a:pPr>
            <a:r>
              <a:rPr lang="en-US" b="1" dirty="0"/>
              <a:t>Key Principle</a:t>
            </a:r>
          </a:p>
          <a:p>
            <a:r>
              <a:rPr lang="en-US" b="1" dirty="0"/>
              <a:t>AI + Technical Contribution + Patentability Requirements</a:t>
            </a:r>
            <a:endParaRPr lang="en-US" dirty="0"/>
          </a:p>
        </p:txBody>
      </p:sp>
    </p:spTree>
    <p:extLst>
      <p:ext uri="{BB962C8B-B14F-4D97-AF65-F5344CB8AC3E}">
        <p14:creationId xmlns:p14="http://schemas.microsoft.com/office/powerpoint/2010/main" val="321373453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 Lifecycle</a:t>
            </a:r>
          </a:p>
        </p:txBody>
      </p:sp>
      <p:sp>
        <p:nvSpPr>
          <p:cNvPr id="3" name="Content Placeholder 2"/>
          <p:cNvSpPr>
            <a:spLocks noGrp="1"/>
          </p:cNvSpPr>
          <p:nvPr>
            <p:ph idx="1"/>
          </p:nvPr>
        </p:nvSpPr>
        <p:spPr>
          <a:xfrm>
            <a:off x="695960" y="1080000"/>
            <a:ext cx="10800000" cy="5597891"/>
          </a:xfrm>
        </p:spPr>
        <p:txBody>
          <a:bodyPr numCol="1">
            <a:normAutofit fontScale="70000" lnSpcReduction="20000"/>
          </a:bodyPr>
          <a:lstStyle/>
          <a:p>
            <a:pPr marL="0" indent="0" algn="ctr">
              <a:lnSpc>
                <a:spcPct val="120000"/>
              </a:lnSpc>
              <a:spcBef>
                <a:spcPts val="0"/>
              </a:spcBef>
              <a:buNone/>
            </a:pPr>
            <a:r>
              <a:rPr lang="en-US" b="1" dirty="0"/>
              <a:t>Idea</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Prior-Art Search</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Provisional / Complete Application</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Filing</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Publication</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Examination</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FER / Response</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Grant</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Commercialization / Licensing</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Renewal</a:t>
            </a:r>
          </a:p>
          <a:p>
            <a:pPr marL="0" indent="0" algn="ctr">
              <a:lnSpc>
                <a:spcPct val="120000"/>
              </a:lnSpc>
              <a:spcBef>
                <a:spcPts val="0"/>
              </a:spcBef>
              <a:buNone/>
            </a:pPr>
            <a:r>
              <a:rPr lang="en-US" dirty="0"/>
              <a:t>↓</a:t>
            </a:r>
          </a:p>
          <a:p>
            <a:pPr marL="0" indent="0" algn="ctr">
              <a:lnSpc>
                <a:spcPct val="120000"/>
              </a:lnSpc>
              <a:spcBef>
                <a:spcPts val="0"/>
              </a:spcBef>
              <a:buNone/>
            </a:pPr>
            <a:r>
              <a:rPr lang="en-US" b="1" dirty="0"/>
              <a:t>Expiry / Possible Earlier Termination</a:t>
            </a:r>
          </a:p>
        </p:txBody>
      </p:sp>
    </p:spTree>
    <p:extLst>
      <p:ext uri="{BB962C8B-B14F-4D97-AF65-F5344CB8AC3E}">
        <p14:creationId xmlns:p14="http://schemas.microsoft.com/office/powerpoint/2010/main" val="269464799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Patent Process – Example</a:t>
            </a:r>
          </a:p>
        </p:txBody>
      </p:sp>
      <p:sp>
        <p:nvSpPr>
          <p:cNvPr id="3" name="Content Placeholder 2"/>
          <p:cNvSpPr>
            <a:spLocks noGrp="1"/>
          </p:cNvSpPr>
          <p:nvPr>
            <p:ph idx="1"/>
          </p:nvPr>
        </p:nvSpPr>
        <p:spPr/>
        <p:txBody>
          <a:bodyPr numCol="1">
            <a:normAutofit fontScale="77500" lnSpcReduction="20000"/>
          </a:bodyPr>
          <a:lstStyle/>
          <a:p>
            <a:pPr marL="0" indent="0">
              <a:buNone/>
            </a:pPr>
            <a:r>
              <a:rPr lang="en-US" b="1" dirty="0"/>
              <a:t>Example: Smart Irrigation System</a:t>
            </a:r>
          </a:p>
          <a:p>
            <a:pPr marL="0" indent="0">
              <a:buNone/>
            </a:pPr>
            <a:r>
              <a:rPr lang="en-US" dirty="0"/>
              <a:t>A researcher develops a new irrigation controller.</a:t>
            </a:r>
          </a:p>
          <a:p>
            <a:r>
              <a:rPr lang="en-US" b="1" dirty="0"/>
              <a:t>Step </a:t>
            </a:r>
            <a:r>
              <a:rPr lang="en-US" b="1" dirty="0" smtClean="0"/>
              <a:t>1: </a:t>
            </a:r>
            <a:r>
              <a:rPr lang="en-US" dirty="0" smtClean="0"/>
              <a:t>Identify </a:t>
            </a:r>
            <a:r>
              <a:rPr lang="en-US" dirty="0"/>
              <a:t>the technical invention.</a:t>
            </a:r>
          </a:p>
          <a:p>
            <a:r>
              <a:rPr lang="en-US" b="1" dirty="0"/>
              <a:t>Step </a:t>
            </a:r>
            <a:r>
              <a:rPr lang="en-US" b="1" dirty="0" smtClean="0"/>
              <a:t>2: </a:t>
            </a:r>
            <a:r>
              <a:rPr lang="en-US" dirty="0" smtClean="0"/>
              <a:t>Conduct </a:t>
            </a:r>
            <a:r>
              <a:rPr lang="en-US" dirty="0"/>
              <a:t>prior-art search.</a:t>
            </a:r>
          </a:p>
          <a:p>
            <a:r>
              <a:rPr lang="en-US" b="1" dirty="0"/>
              <a:t>Step </a:t>
            </a:r>
            <a:r>
              <a:rPr lang="en-US" b="1" dirty="0" smtClean="0"/>
              <a:t>3: </a:t>
            </a:r>
            <a:r>
              <a:rPr lang="en-US" dirty="0" smtClean="0"/>
              <a:t>File </a:t>
            </a:r>
            <a:r>
              <a:rPr lang="en-US" dirty="0"/>
              <a:t>provisional specification.</a:t>
            </a:r>
          </a:p>
          <a:p>
            <a:r>
              <a:rPr lang="en-US" b="1" dirty="0"/>
              <a:t>Step </a:t>
            </a:r>
            <a:r>
              <a:rPr lang="en-US" b="1" dirty="0" smtClean="0"/>
              <a:t>4: </a:t>
            </a:r>
            <a:r>
              <a:rPr lang="en-US" dirty="0" smtClean="0"/>
              <a:t>Develop </a:t>
            </a:r>
            <a:r>
              <a:rPr lang="en-US" dirty="0"/>
              <a:t>and finalize the invention.</a:t>
            </a:r>
          </a:p>
          <a:p>
            <a:r>
              <a:rPr lang="en-US" b="1" dirty="0"/>
              <a:t>Step </a:t>
            </a:r>
            <a:r>
              <a:rPr lang="en-US" b="1" dirty="0" smtClean="0"/>
              <a:t>5: </a:t>
            </a:r>
            <a:r>
              <a:rPr lang="en-US" dirty="0" smtClean="0"/>
              <a:t>File </a:t>
            </a:r>
            <a:r>
              <a:rPr lang="en-US" dirty="0"/>
              <a:t>complete specification within the prescribed period.</a:t>
            </a:r>
          </a:p>
          <a:p>
            <a:r>
              <a:rPr lang="en-US" b="1" dirty="0"/>
              <a:t>Step </a:t>
            </a:r>
            <a:r>
              <a:rPr lang="en-US" b="1" dirty="0" smtClean="0"/>
              <a:t>6: </a:t>
            </a:r>
            <a:r>
              <a:rPr lang="en-US" dirty="0" smtClean="0"/>
              <a:t>Request </a:t>
            </a:r>
            <a:r>
              <a:rPr lang="en-US" dirty="0"/>
              <a:t>examination.</a:t>
            </a:r>
          </a:p>
          <a:p>
            <a:r>
              <a:rPr lang="en-US" b="1" dirty="0"/>
              <a:t>Step </a:t>
            </a:r>
            <a:r>
              <a:rPr lang="en-US" b="1" dirty="0" smtClean="0"/>
              <a:t>7: </a:t>
            </a:r>
            <a:r>
              <a:rPr lang="en-US" dirty="0" smtClean="0"/>
              <a:t>Respond </a:t>
            </a:r>
            <a:r>
              <a:rPr lang="en-US" dirty="0"/>
              <a:t>to examination objections.</a:t>
            </a:r>
          </a:p>
          <a:p>
            <a:r>
              <a:rPr lang="en-US" b="1" dirty="0"/>
              <a:t>Step </a:t>
            </a:r>
            <a:r>
              <a:rPr lang="en-US" b="1" dirty="0" smtClean="0"/>
              <a:t>8: </a:t>
            </a:r>
            <a:r>
              <a:rPr lang="en-US" dirty="0" smtClean="0"/>
              <a:t>Patent </a:t>
            </a:r>
            <a:r>
              <a:rPr lang="en-US" dirty="0"/>
              <a:t>is granted if requirements are satisfied.</a:t>
            </a:r>
          </a:p>
          <a:p>
            <a:r>
              <a:rPr lang="en-US" b="1" dirty="0"/>
              <a:t>Step </a:t>
            </a:r>
            <a:r>
              <a:rPr lang="en-US" b="1" dirty="0" smtClean="0"/>
              <a:t>9: </a:t>
            </a:r>
            <a:r>
              <a:rPr lang="en-US" dirty="0" smtClean="0"/>
              <a:t>Commercialize </a:t>
            </a:r>
            <a:r>
              <a:rPr lang="en-US" dirty="0"/>
              <a:t>or license the technology.</a:t>
            </a:r>
          </a:p>
        </p:txBody>
      </p:sp>
    </p:spTree>
    <p:extLst>
      <p:ext uri="{BB962C8B-B14F-4D97-AF65-F5344CB8AC3E}">
        <p14:creationId xmlns:p14="http://schemas.microsoft.com/office/powerpoint/2010/main" val="1010720076"/>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 vs Copyright</a:t>
            </a:r>
          </a:p>
        </p:txBody>
      </p:sp>
      <p:graphicFrame>
        <p:nvGraphicFramePr>
          <p:cNvPr id="5" name="Table 4"/>
          <p:cNvGraphicFramePr>
            <a:graphicFrameLocks noGrp="1"/>
          </p:cNvGraphicFramePr>
          <p:nvPr>
            <p:extLst>
              <p:ext uri="{D42A27DB-BD31-4B8C-83A1-F6EECF244321}">
                <p14:modId xmlns:p14="http://schemas.microsoft.com/office/powerpoint/2010/main" val="1733846184"/>
              </p:ext>
            </p:extLst>
          </p:nvPr>
        </p:nvGraphicFramePr>
        <p:xfrm>
          <a:off x="775855" y="1246139"/>
          <a:ext cx="9421089" cy="4471169"/>
        </p:xfrm>
        <a:graphic>
          <a:graphicData uri="http://schemas.openxmlformats.org/drawingml/2006/table">
            <a:tbl>
              <a:tblPr firstRow="1" bandRow="1">
                <a:tableStyleId>{5C22544A-7EE6-4342-B048-85BDC9FD1C3A}</a:tableStyleId>
              </a:tblPr>
              <a:tblGrid>
                <a:gridCol w="3140363">
                  <a:extLst>
                    <a:ext uri="{9D8B030D-6E8A-4147-A177-3AD203B41FA5}">
                      <a16:colId xmlns:a16="http://schemas.microsoft.com/office/drawing/2014/main" val="4141919650"/>
                    </a:ext>
                  </a:extLst>
                </a:gridCol>
                <a:gridCol w="3140363">
                  <a:extLst>
                    <a:ext uri="{9D8B030D-6E8A-4147-A177-3AD203B41FA5}">
                      <a16:colId xmlns:a16="http://schemas.microsoft.com/office/drawing/2014/main" val="2593712154"/>
                    </a:ext>
                  </a:extLst>
                </a:gridCol>
                <a:gridCol w="3140363">
                  <a:extLst>
                    <a:ext uri="{9D8B030D-6E8A-4147-A177-3AD203B41FA5}">
                      <a16:colId xmlns:a16="http://schemas.microsoft.com/office/drawing/2014/main" val="3829728433"/>
                    </a:ext>
                  </a:extLst>
                </a:gridCol>
              </a:tblGrid>
              <a:tr h="487157">
                <a:tc>
                  <a:txBody>
                    <a:bodyPr/>
                    <a:lstStyle/>
                    <a:p>
                      <a:r>
                        <a:rPr lang="en-US" dirty="0"/>
                        <a:t>Feature</a:t>
                      </a:r>
                    </a:p>
                  </a:txBody>
                  <a:tcPr anchor="ctr"/>
                </a:tc>
                <a:tc>
                  <a:txBody>
                    <a:bodyPr/>
                    <a:lstStyle/>
                    <a:p>
                      <a:r>
                        <a:rPr lang="en-US"/>
                        <a:t>Patent</a:t>
                      </a:r>
                    </a:p>
                  </a:txBody>
                  <a:tcPr anchor="ctr"/>
                </a:tc>
                <a:tc>
                  <a:txBody>
                    <a:bodyPr/>
                    <a:lstStyle/>
                    <a:p>
                      <a:r>
                        <a:rPr lang="en-US"/>
                        <a:t>Copyright</a:t>
                      </a:r>
                    </a:p>
                  </a:txBody>
                  <a:tcPr anchor="ctr"/>
                </a:tc>
                <a:extLst>
                  <a:ext uri="{0D108BD9-81ED-4DB2-BD59-A6C34878D82A}">
                    <a16:rowId xmlns:a16="http://schemas.microsoft.com/office/drawing/2014/main" val="894231222"/>
                  </a:ext>
                </a:extLst>
              </a:tr>
              <a:tr h="487157">
                <a:tc>
                  <a:txBody>
                    <a:bodyPr/>
                    <a:lstStyle/>
                    <a:p>
                      <a:r>
                        <a:rPr lang="en-US" dirty="0"/>
                        <a:t>Protects</a:t>
                      </a:r>
                    </a:p>
                  </a:txBody>
                  <a:tcPr anchor="ctr"/>
                </a:tc>
                <a:tc>
                  <a:txBody>
                    <a:bodyPr/>
                    <a:lstStyle/>
                    <a:p>
                      <a:r>
                        <a:rPr lang="en-US"/>
                        <a:t>Invention</a:t>
                      </a:r>
                    </a:p>
                  </a:txBody>
                  <a:tcPr anchor="ctr"/>
                </a:tc>
                <a:tc>
                  <a:txBody>
                    <a:bodyPr/>
                    <a:lstStyle/>
                    <a:p>
                      <a:r>
                        <a:rPr lang="en-US"/>
                        <a:t>Creative expression</a:t>
                      </a:r>
                    </a:p>
                  </a:txBody>
                  <a:tcPr anchor="ctr"/>
                </a:tc>
                <a:extLst>
                  <a:ext uri="{0D108BD9-81ED-4DB2-BD59-A6C34878D82A}">
                    <a16:rowId xmlns:a16="http://schemas.microsoft.com/office/drawing/2014/main" val="2702395254"/>
                  </a:ext>
                </a:extLst>
              </a:tr>
              <a:tr h="487157">
                <a:tc>
                  <a:txBody>
                    <a:bodyPr/>
                    <a:lstStyle/>
                    <a:p>
                      <a:r>
                        <a:rPr lang="en-US"/>
                        <a:t>Example</a:t>
                      </a:r>
                    </a:p>
                  </a:txBody>
                  <a:tcPr anchor="ctr"/>
                </a:tc>
                <a:tc>
                  <a:txBody>
                    <a:bodyPr/>
                    <a:lstStyle/>
                    <a:p>
                      <a:r>
                        <a:rPr lang="en-US"/>
                        <a:t>New technical device</a:t>
                      </a:r>
                    </a:p>
                  </a:txBody>
                  <a:tcPr anchor="ctr"/>
                </a:tc>
                <a:tc>
                  <a:txBody>
                    <a:bodyPr/>
                    <a:lstStyle/>
                    <a:p>
                      <a:r>
                        <a:rPr lang="en-US"/>
                        <a:t>Software source code</a:t>
                      </a:r>
                    </a:p>
                  </a:txBody>
                  <a:tcPr anchor="ctr"/>
                </a:tc>
                <a:extLst>
                  <a:ext uri="{0D108BD9-81ED-4DB2-BD59-A6C34878D82A}">
                    <a16:rowId xmlns:a16="http://schemas.microsoft.com/office/drawing/2014/main" val="2137139067"/>
                  </a:ext>
                </a:extLst>
              </a:tr>
              <a:tr h="840847">
                <a:tc>
                  <a:txBody>
                    <a:bodyPr/>
                    <a:lstStyle/>
                    <a:p>
                      <a:r>
                        <a:rPr lang="en-US"/>
                        <a:t>Main requirement</a:t>
                      </a:r>
                    </a:p>
                  </a:txBody>
                  <a:tcPr anchor="ctr"/>
                </a:tc>
                <a:tc>
                  <a:txBody>
                    <a:bodyPr/>
                    <a:lstStyle/>
                    <a:p>
                      <a:r>
                        <a:rPr lang="en-US"/>
                        <a:t>Novelty + inventive step + industrial applicability</a:t>
                      </a:r>
                    </a:p>
                  </a:txBody>
                  <a:tcPr anchor="ctr"/>
                </a:tc>
                <a:tc>
                  <a:txBody>
                    <a:bodyPr/>
                    <a:lstStyle/>
                    <a:p>
                      <a:r>
                        <a:rPr lang="en-US"/>
                        <a:t>Originality/eligibility</a:t>
                      </a:r>
                    </a:p>
                  </a:txBody>
                  <a:tcPr anchor="ctr"/>
                </a:tc>
                <a:extLst>
                  <a:ext uri="{0D108BD9-81ED-4DB2-BD59-A6C34878D82A}">
                    <a16:rowId xmlns:a16="http://schemas.microsoft.com/office/drawing/2014/main" val="1193298497"/>
                  </a:ext>
                </a:extLst>
              </a:tr>
              <a:tr h="840847">
                <a:tc>
                  <a:txBody>
                    <a:bodyPr/>
                    <a:lstStyle/>
                    <a:p>
                      <a:r>
                        <a:rPr lang="en-US"/>
                        <a:t>Registration</a:t>
                      </a:r>
                    </a:p>
                  </a:txBody>
                  <a:tcPr anchor="ctr"/>
                </a:tc>
                <a:tc>
                  <a:txBody>
                    <a:bodyPr/>
                    <a:lstStyle/>
                    <a:p>
                      <a:r>
                        <a:rPr lang="en-US"/>
                        <a:t>Required for patent rights</a:t>
                      </a:r>
                    </a:p>
                  </a:txBody>
                  <a:tcPr anchor="ctr"/>
                </a:tc>
                <a:tc>
                  <a:txBody>
                    <a:bodyPr/>
                    <a:lstStyle/>
                    <a:p>
                      <a:r>
                        <a:rPr lang="en-US"/>
                        <a:t>Not required for existence</a:t>
                      </a:r>
                    </a:p>
                  </a:txBody>
                  <a:tcPr anchor="ctr"/>
                </a:tc>
                <a:extLst>
                  <a:ext uri="{0D108BD9-81ED-4DB2-BD59-A6C34878D82A}">
                    <a16:rowId xmlns:a16="http://schemas.microsoft.com/office/drawing/2014/main" val="2341835919"/>
                  </a:ext>
                </a:extLst>
              </a:tr>
              <a:tr h="840847">
                <a:tc>
                  <a:txBody>
                    <a:bodyPr/>
                    <a:lstStyle/>
                    <a:p>
                      <a:r>
                        <a:rPr lang="en-US"/>
                        <a:t>Typical term</a:t>
                      </a:r>
                    </a:p>
                  </a:txBody>
                  <a:tcPr anchor="ctr"/>
                </a:tc>
                <a:tc>
                  <a:txBody>
                    <a:bodyPr/>
                    <a:lstStyle/>
                    <a:p>
                      <a:r>
                        <a:rPr lang="en-US"/>
                        <a:t>20 years</a:t>
                      </a:r>
                    </a:p>
                  </a:txBody>
                  <a:tcPr anchor="ctr"/>
                </a:tc>
                <a:tc>
                  <a:txBody>
                    <a:bodyPr/>
                    <a:lstStyle/>
                    <a:p>
                      <a:r>
                        <a:rPr lang="en-US"/>
                        <a:t>Life + 60 years for many works</a:t>
                      </a:r>
                    </a:p>
                  </a:txBody>
                  <a:tcPr anchor="ctr"/>
                </a:tc>
                <a:extLst>
                  <a:ext uri="{0D108BD9-81ED-4DB2-BD59-A6C34878D82A}">
                    <a16:rowId xmlns:a16="http://schemas.microsoft.com/office/drawing/2014/main" val="2338164161"/>
                  </a:ext>
                </a:extLst>
              </a:tr>
              <a:tr h="487157">
                <a:tc>
                  <a:txBody>
                    <a:bodyPr/>
                    <a:lstStyle/>
                    <a:p>
                      <a:r>
                        <a:rPr lang="en-US"/>
                        <a:t>Focus</a:t>
                      </a:r>
                    </a:p>
                  </a:txBody>
                  <a:tcPr anchor="ctr"/>
                </a:tc>
                <a:tc>
                  <a:txBody>
                    <a:bodyPr/>
                    <a:lstStyle/>
                    <a:p>
                      <a:r>
                        <a:rPr lang="en-US"/>
                        <a:t>Technical solution</a:t>
                      </a:r>
                    </a:p>
                  </a:txBody>
                  <a:tcPr anchor="ctr"/>
                </a:tc>
                <a:tc>
                  <a:txBody>
                    <a:bodyPr/>
                    <a:lstStyle/>
                    <a:p>
                      <a:r>
                        <a:rPr lang="en-US" dirty="0"/>
                        <a:t>Expression</a:t>
                      </a:r>
                    </a:p>
                  </a:txBody>
                  <a:tcPr anchor="ctr"/>
                </a:tc>
                <a:extLst>
                  <a:ext uri="{0D108BD9-81ED-4DB2-BD59-A6C34878D82A}">
                    <a16:rowId xmlns:a16="http://schemas.microsoft.com/office/drawing/2014/main" val="2268336785"/>
                  </a:ext>
                </a:extLst>
              </a:tr>
            </a:tbl>
          </a:graphicData>
        </a:graphic>
      </p:graphicFrame>
    </p:spTree>
    <p:extLst>
      <p:ext uri="{BB962C8B-B14F-4D97-AF65-F5344CB8AC3E}">
        <p14:creationId xmlns:p14="http://schemas.microsoft.com/office/powerpoint/2010/main" val="387529195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Patent vs Trade Secret</a:t>
            </a:r>
          </a:p>
        </p:txBody>
      </p:sp>
      <p:graphicFrame>
        <p:nvGraphicFramePr>
          <p:cNvPr id="4" name="Table 3"/>
          <p:cNvGraphicFramePr>
            <a:graphicFrameLocks noGrp="1"/>
          </p:cNvGraphicFramePr>
          <p:nvPr>
            <p:extLst>
              <p:ext uri="{D42A27DB-BD31-4B8C-83A1-F6EECF244321}">
                <p14:modId xmlns:p14="http://schemas.microsoft.com/office/powerpoint/2010/main" val="3144021840"/>
              </p:ext>
            </p:extLst>
          </p:nvPr>
        </p:nvGraphicFramePr>
        <p:xfrm>
          <a:off x="766618" y="1440103"/>
          <a:ext cx="9097818" cy="4369569"/>
        </p:xfrm>
        <a:graphic>
          <a:graphicData uri="http://schemas.openxmlformats.org/drawingml/2006/table">
            <a:tbl>
              <a:tblPr firstRow="1" bandRow="1">
                <a:tableStyleId>{5C22544A-7EE6-4342-B048-85BDC9FD1C3A}</a:tableStyleId>
              </a:tblPr>
              <a:tblGrid>
                <a:gridCol w="3032606">
                  <a:extLst>
                    <a:ext uri="{9D8B030D-6E8A-4147-A177-3AD203B41FA5}">
                      <a16:colId xmlns:a16="http://schemas.microsoft.com/office/drawing/2014/main" val="3420130743"/>
                    </a:ext>
                  </a:extLst>
                </a:gridCol>
                <a:gridCol w="3032606">
                  <a:extLst>
                    <a:ext uri="{9D8B030D-6E8A-4147-A177-3AD203B41FA5}">
                      <a16:colId xmlns:a16="http://schemas.microsoft.com/office/drawing/2014/main" val="2266998910"/>
                    </a:ext>
                  </a:extLst>
                </a:gridCol>
                <a:gridCol w="3032606">
                  <a:extLst>
                    <a:ext uri="{9D8B030D-6E8A-4147-A177-3AD203B41FA5}">
                      <a16:colId xmlns:a16="http://schemas.microsoft.com/office/drawing/2014/main" val="4182373247"/>
                    </a:ext>
                  </a:extLst>
                </a:gridCol>
              </a:tblGrid>
              <a:tr h="516983">
                <a:tc>
                  <a:txBody>
                    <a:bodyPr/>
                    <a:lstStyle/>
                    <a:p>
                      <a:r>
                        <a:rPr lang="en-US" dirty="0"/>
                        <a:t>Feature</a:t>
                      </a:r>
                    </a:p>
                  </a:txBody>
                  <a:tcPr anchor="ctr"/>
                </a:tc>
                <a:tc>
                  <a:txBody>
                    <a:bodyPr/>
                    <a:lstStyle/>
                    <a:p>
                      <a:r>
                        <a:rPr lang="en-US"/>
                        <a:t>Patent</a:t>
                      </a:r>
                    </a:p>
                  </a:txBody>
                  <a:tcPr anchor="ctr"/>
                </a:tc>
                <a:tc>
                  <a:txBody>
                    <a:bodyPr/>
                    <a:lstStyle/>
                    <a:p>
                      <a:r>
                        <a:rPr lang="en-US"/>
                        <a:t>Trade Secret</a:t>
                      </a:r>
                    </a:p>
                  </a:txBody>
                  <a:tcPr anchor="ctr"/>
                </a:tc>
                <a:extLst>
                  <a:ext uri="{0D108BD9-81ED-4DB2-BD59-A6C34878D82A}">
                    <a16:rowId xmlns:a16="http://schemas.microsoft.com/office/drawing/2014/main" val="557305156"/>
                  </a:ext>
                </a:extLst>
              </a:tr>
              <a:tr h="516983">
                <a:tc>
                  <a:txBody>
                    <a:bodyPr/>
                    <a:lstStyle/>
                    <a:p>
                      <a:r>
                        <a:rPr lang="en-US"/>
                        <a:t>Protection</a:t>
                      </a:r>
                    </a:p>
                  </a:txBody>
                  <a:tcPr anchor="ctr"/>
                </a:tc>
                <a:tc>
                  <a:txBody>
                    <a:bodyPr/>
                    <a:lstStyle/>
                    <a:p>
                      <a:r>
                        <a:rPr lang="en-US"/>
                        <a:t>Statutory</a:t>
                      </a:r>
                    </a:p>
                  </a:txBody>
                  <a:tcPr anchor="ctr"/>
                </a:tc>
                <a:tc>
                  <a:txBody>
                    <a:bodyPr/>
                    <a:lstStyle/>
                    <a:p>
                      <a:r>
                        <a:rPr lang="en-US"/>
                        <a:t>Confidentiality-based</a:t>
                      </a:r>
                    </a:p>
                  </a:txBody>
                  <a:tcPr anchor="ctr"/>
                </a:tc>
                <a:extLst>
                  <a:ext uri="{0D108BD9-81ED-4DB2-BD59-A6C34878D82A}">
                    <a16:rowId xmlns:a16="http://schemas.microsoft.com/office/drawing/2014/main" val="3486723479"/>
                  </a:ext>
                </a:extLst>
              </a:tr>
              <a:tr h="892327">
                <a:tc>
                  <a:txBody>
                    <a:bodyPr/>
                    <a:lstStyle/>
                    <a:p>
                      <a:r>
                        <a:rPr lang="en-US"/>
                        <a:t>Disclosure</a:t>
                      </a:r>
                    </a:p>
                  </a:txBody>
                  <a:tcPr anchor="ctr"/>
                </a:tc>
                <a:tc>
                  <a:txBody>
                    <a:bodyPr/>
                    <a:lstStyle/>
                    <a:p>
                      <a:r>
                        <a:rPr lang="en-US"/>
                        <a:t>Patent application is published</a:t>
                      </a:r>
                    </a:p>
                  </a:txBody>
                  <a:tcPr anchor="ctr"/>
                </a:tc>
                <a:tc>
                  <a:txBody>
                    <a:bodyPr/>
                    <a:lstStyle/>
                    <a:p>
                      <a:r>
                        <a:rPr lang="en-US"/>
                        <a:t>Must remain secret</a:t>
                      </a:r>
                    </a:p>
                  </a:txBody>
                  <a:tcPr anchor="ctr"/>
                </a:tc>
                <a:extLst>
                  <a:ext uri="{0D108BD9-81ED-4DB2-BD59-A6C34878D82A}">
                    <a16:rowId xmlns:a16="http://schemas.microsoft.com/office/drawing/2014/main" val="1320166905"/>
                  </a:ext>
                </a:extLst>
              </a:tr>
              <a:tr h="516983">
                <a:tc>
                  <a:txBody>
                    <a:bodyPr/>
                    <a:lstStyle/>
                    <a:p>
                      <a:r>
                        <a:rPr lang="en-US"/>
                        <a:t>Duration</a:t>
                      </a:r>
                    </a:p>
                  </a:txBody>
                  <a:tcPr anchor="ctr"/>
                </a:tc>
                <a:tc>
                  <a:txBody>
                    <a:bodyPr/>
                    <a:lstStyle/>
                    <a:p>
                      <a:r>
                        <a:rPr lang="en-US"/>
                        <a:t>Generally 20 years</a:t>
                      </a:r>
                    </a:p>
                  </a:txBody>
                  <a:tcPr anchor="ctr"/>
                </a:tc>
                <a:tc>
                  <a:txBody>
                    <a:bodyPr/>
                    <a:lstStyle/>
                    <a:p>
                      <a:r>
                        <a:rPr lang="en-US"/>
                        <a:t>Potentially indefinite</a:t>
                      </a:r>
                    </a:p>
                  </a:txBody>
                  <a:tcPr anchor="ctr"/>
                </a:tc>
                <a:extLst>
                  <a:ext uri="{0D108BD9-81ED-4DB2-BD59-A6C34878D82A}">
                    <a16:rowId xmlns:a16="http://schemas.microsoft.com/office/drawing/2014/main" val="1727854423"/>
                  </a:ext>
                </a:extLst>
              </a:tr>
              <a:tr h="516983">
                <a:tc>
                  <a:txBody>
                    <a:bodyPr/>
                    <a:lstStyle/>
                    <a:p>
                      <a:r>
                        <a:rPr lang="en-US"/>
                        <a:t>Registration</a:t>
                      </a:r>
                    </a:p>
                  </a:txBody>
                  <a:tcPr anchor="ctr"/>
                </a:tc>
                <a:tc>
                  <a:txBody>
                    <a:bodyPr/>
                    <a:lstStyle/>
                    <a:p>
                      <a:r>
                        <a:rPr lang="en-US"/>
                        <a:t>Required</a:t>
                      </a:r>
                    </a:p>
                  </a:txBody>
                  <a:tcPr anchor="ctr"/>
                </a:tc>
                <a:tc>
                  <a:txBody>
                    <a:bodyPr/>
                    <a:lstStyle/>
                    <a:p>
                      <a:r>
                        <a:rPr lang="en-US"/>
                        <a:t>No registration</a:t>
                      </a:r>
                    </a:p>
                  </a:txBody>
                  <a:tcPr anchor="ctr"/>
                </a:tc>
                <a:extLst>
                  <a:ext uri="{0D108BD9-81ED-4DB2-BD59-A6C34878D82A}">
                    <a16:rowId xmlns:a16="http://schemas.microsoft.com/office/drawing/2014/main" val="504475628"/>
                  </a:ext>
                </a:extLst>
              </a:tr>
              <a:tr h="516983">
                <a:tc>
                  <a:txBody>
                    <a:bodyPr/>
                    <a:lstStyle/>
                    <a:p>
                      <a:r>
                        <a:rPr lang="en-US"/>
                        <a:t>Risk</a:t>
                      </a:r>
                    </a:p>
                  </a:txBody>
                  <a:tcPr anchor="ctr"/>
                </a:tc>
                <a:tc>
                  <a:txBody>
                    <a:bodyPr/>
                    <a:lstStyle/>
                    <a:p>
                      <a:r>
                        <a:rPr lang="en-US"/>
                        <a:t>Expires</a:t>
                      </a:r>
                    </a:p>
                  </a:txBody>
                  <a:tcPr anchor="ctr"/>
                </a:tc>
                <a:tc>
                  <a:txBody>
                    <a:bodyPr/>
                    <a:lstStyle/>
                    <a:p>
                      <a:r>
                        <a:rPr lang="en-US"/>
                        <a:t>Lost if secrecy is lost</a:t>
                      </a:r>
                    </a:p>
                  </a:txBody>
                  <a:tcPr anchor="ctr"/>
                </a:tc>
                <a:extLst>
                  <a:ext uri="{0D108BD9-81ED-4DB2-BD59-A6C34878D82A}">
                    <a16:rowId xmlns:a16="http://schemas.microsoft.com/office/drawing/2014/main" val="93271874"/>
                  </a:ext>
                </a:extLst>
              </a:tr>
              <a:tr h="892327">
                <a:tc>
                  <a:txBody>
                    <a:bodyPr/>
                    <a:lstStyle/>
                    <a:p>
                      <a:r>
                        <a:rPr lang="en-US"/>
                        <a:t>Example</a:t>
                      </a:r>
                    </a:p>
                  </a:txBody>
                  <a:tcPr anchor="ctr"/>
                </a:tc>
                <a:tc>
                  <a:txBody>
                    <a:bodyPr/>
                    <a:lstStyle/>
                    <a:p>
                      <a:r>
                        <a:rPr lang="en-US"/>
                        <a:t>New manufacturing technology</a:t>
                      </a:r>
                    </a:p>
                  </a:txBody>
                  <a:tcPr anchor="ctr"/>
                </a:tc>
                <a:tc>
                  <a:txBody>
                    <a:bodyPr/>
                    <a:lstStyle/>
                    <a:p>
                      <a:r>
                        <a:rPr lang="en-US" dirty="0"/>
                        <a:t>Confidential formula/process</a:t>
                      </a:r>
                    </a:p>
                  </a:txBody>
                  <a:tcPr anchor="ctr"/>
                </a:tc>
                <a:extLst>
                  <a:ext uri="{0D108BD9-81ED-4DB2-BD59-A6C34878D82A}">
                    <a16:rowId xmlns:a16="http://schemas.microsoft.com/office/drawing/2014/main" val="1492412859"/>
                  </a:ext>
                </a:extLst>
              </a:tr>
            </a:tbl>
          </a:graphicData>
        </a:graphic>
      </p:graphicFrame>
    </p:spTree>
    <p:extLst>
      <p:ext uri="{BB962C8B-B14F-4D97-AF65-F5344CB8AC3E}">
        <p14:creationId xmlns:p14="http://schemas.microsoft.com/office/powerpoint/2010/main" val="383940810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Patenting</a:t>
            </a:r>
          </a:p>
        </p:txBody>
      </p:sp>
      <p:sp>
        <p:nvSpPr>
          <p:cNvPr id="3" name="Content Placeholder 2"/>
          <p:cNvSpPr>
            <a:spLocks noGrp="1"/>
          </p:cNvSpPr>
          <p:nvPr>
            <p:ph idx="1"/>
          </p:nvPr>
        </p:nvSpPr>
        <p:spPr/>
        <p:txBody>
          <a:bodyPr numCol="2">
            <a:normAutofit/>
          </a:bodyPr>
          <a:lstStyle/>
          <a:p>
            <a:pPr marL="0" indent="0">
              <a:buNone/>
            </a:pPr>
            <a:r>
              <a:rPr lang="en-US" b="1" dirty="0"/>
              <a:t>For Inventors</a:t>
            </a:r>
          </a:p>
          <a:p>
            <a:r>
              <a:rPr lang="en-US" dirty="0"/>
              <a:t>Legal protection </a:t>
            </a:r>
          </a:p>
          <a:p>
            <a:r>
              <a:rPr lang="en-US" dirty="0"/>
              <a:t>Commercialization </a:t>
            </a:r>
          </a:p>
          <a:p>
            <a:r>
              <a:rPr lang="en-US" dirty="0"/>
              <a:t>Licensing opportunities </a:t>
            </a:r>
          </a:p>
          <a:p>
            <a:r>
              <a:rPr lang="en-US" dirty="0"/>
              <a:t>Recognition </a:t>
            </a:r>
          </a:p>
          <a:p>
            <a:pPr marL="0" indent="0">
              <a:buNone/>
            </a:pPr>
            <a:r>
              <a:rPr lang="en-US" b="1" dirty="0"/>
              <a:t>For Companies</a:t>
            </a:r>
          </a:p>
          <a:p>
            <a:r>
              <a:rPr lang="en-US" dirty="0"/>
              <a:t>Competitive advantage </a:t>
            </a:r>
          </a:p>
          <a:p>
            <a:r>
              <a:rPr lang="en-US" dirty="0"/>
              <a:t>Investment attraction </a:t>
            </a:r>
          </a:p>
          <a:p>
            <a:r>
              <a:rPr lang="en-US" dirty="0"/>
              <a:t>Technology licensing </a:t>
            </a:r>
          </a:p>
          <a:p>
            <a:r>
              <a:rPr lang="en-US" dirty="0"/>
              <a:t>Market differentiation </a:t>
            </a:r>
          </a:p>
          <a:p>
            <a:pPr marL="0" indent="0">
              <a:buNone/>
            </a:pPr>
            <a:r>
              <a:rPr lang="en-US" b="1" dirty="0"/>
              <a:t>For Society</a:t>
            </a:r>
          </a:p>
          <a:p>
            <a:r>
              <a:rPr lang="en-US" dirty="0"/>
              <a:t>Technical knowledge is disclosed. </a:t>
            </a:r>
          </a:p>
          <a:p>
            <a:r>
              <a:rPr lang="en-US" dirty="0"/>
              <a:t>Innovation is encouraged. </a:t>
            </a:r>
          </a:p>
          <a:p>
            <a:r>
              <a:rPr lang="en-US" dirty="0"/>
              <a:t>New technologies can be developed.</a:t>
            </a:r>
          </a:p>
        </p:txBody>
      </p:sp>
    </p:spTree>
    <p:extLst>
      <p:ext uri="{BB962C8B-B14F-4D97-AF65-F5344CB8AC3E}">
        <p14:creationId xmlns:p14="http://schemas.microsoft.com/office/powerpoint/2010/main" val="30754793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Patents</a:t>
            </a:r>
          </a:p>
        </p:txBody>
      </p:sp>
      <p:sp>
        <p:nvSpPr>
          <p:cNvPr id="3" name="Content Placeholder 2"/>
          <p:cNvSpPr>
            <a:spLocks noGrp="1"/>
          </p:cNvSpPr>
          <p:nvPr>
            <p:ph idx="1"/>
          </p:nvPr>
        </p:nvSpPr>
        <p:spPr/>
        <p:txBody>
          <a:bodyPr>
            <a:normAutofit/>
          </a:bodyPr>
          <a:lstStyle/>
          <a:p>
            <a:r>
              <a:rPr lang="en-US" dirty="0"/>
              <a:t>Patent application can be expensive. </a:t>
            </a:r>
          </a:p>
          <a:p>
            <a:r>
              <a:rPr lang="en-US" dirty="0"/>
              <a:t>Patent prosecution can take time. </a:t>
            </a:r>
          </a:p>
          <a:p>
            <a:r>
              <a:rPr lang="en-US" dirty="0"/>
              <a:t>Patent protection is territorial. </a:t>
            </a:r>
          </a:p>
          <a:p>
            <a:r>
              <a:rPr lang="en-US" dirty="0"/>
              <a:t>Patent protection has a limited term. </a:t>
            </a:r>
          </a:p>
          <a:p>
            <a:r>
              <a:rPr lang="en-US" dirty="0"/>
              <a:t>Patent details are publicly disclosed. </a:t>
            </a:r>
          </a:p>
          <a:p>
            <a:r>
              <a:rPr lang="en-US" dirty="0"/>
              <a:t>Enforcement can involve litigation costs. </a:t>
            </a:r>
          </a:p>
          <a:p>
            <a:r>
              <a:rPr lang="en-US" dirty="0"/>
              <a:t>Patentability is not guaranteed merely by filing an application. </a:t>
            </a:r>
          </a:p>
        </p:txBody>
      </p:sp>
    </p:spTree>
    <p:extLst>
      <p:ext uri="{BB962C8B-B14F-4D97-AF65-F5344CB8AC3E}">
        <p14:creationId xmlns:p14="http://schemas.microsoft.com/office/powerpoint/2010/main" val="3129758824"/>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p:cNvSpPr>
            <a:spLocks noGrp="1"/>
          </p:cNvSpPr>
          <p:nvPr>
            <p:ph type="ctrTitle"/>
            <p:custDataLst>
              <p:tags r:id="rId2"/>
            </p:custDataLst>
          </p:nvPr>
        </p:nvSpPr>
        <p:spPr>
          <a:xfrm>
            <a:off x="838835" y="212725"/>
            <a:ext cx="10514965" cy="2973070"/>
          </a:xfrm>
        </p:spPr>
        <p:txBody>
          <a:bodyPr/>
          <a:lstStyle/>
          <a:p>
            <a:r>
              <a:rPr lang="en-US"/>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90"/>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90"/>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90"/>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SUBTYPE" val="g"/>
  <p:tag name="KSO_WM_UNIT_PRESET_TEXT" val="公司名占位符"/>
  <p:tag name="KSO_WM_UNIT_NOCLEAR" val="0"/>
  <p:tag name="KSO_WM_UNIT_VALUE" val="96"/>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SUBTYPE" val="g"/>
  <p:tag name="KSO_WM_UNIT_PRESET_TEXT" val="公司名占位符"/>
  <p:tag name="KSO_WM_UNIT_NOCLEAR" val="0"/>
  <p:tag name="KSO_WM_UNIT_VALUE" val="96"/>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1*f*2"/>
  <p:tag name="KSO_WM_UNIT_LAYERLEVEL" val="1"/>
  <p:tag name="KSO_WM_TAG_VERSION" val="3.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TEMPLATE_THUMBS_INDEX" val="1、9"/>
  <p:tag name="KSO_WM_SPECIAL_SOURCE" val="bdnull"/>
  <p:tag name="KSO_WM_SLIDE_ID" val="custom20237990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7990"/>
  <p:tag name="KSO_WM_SLIDE_LAYOUT" val="a_b_f"/>
  <p:tag name="KSO_WM_SLIDE_LAYOUT_CNT" val="1_1_2"/>
  <p:tag name="KSO_WM_SLIDE_THEME_ID" val="3312678"/>
  <p:tag name="KSO_WM_SLIDE_THEME_NAME" val="Red Minimalist"/>
</p:tagLst>
</file>

<file path=ppt/tags/tag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7990_1*a*1"/>
  <p:tag name="KSO_WM_TEMPLATE_CATEGORY" val="custom"/>
  <p:tag name="KSO_WM_TEMPLATE_INDEX" val="20237990"/>
  <p:tag name="KSO_WM_UNIT_LAYERLEVEL" val="1"/>
  <p:tag name="KSO_WM_TAG_VERSION" val="3.0"/>
  <p:tag name="KSO_WM_BEAUTIFY_FLAG" val="#wm#"/>
  <p:tag name="KSO_WM_UNIT_PRESET_TEXT" val="Click to add titl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f*2"/>
  <p:tag name="KSO_WM_TEMPLATE_CATEGORY" val="custom"/>
  <p:tag name="KSO_WM_TEMPLATE_INDEX" val="20237990"/>
  <p:tag name="KSO_WM_UNIT_LAYERLEVEL" val="1"/>
  <p:tag name="KSO_WM_TAG_VERSION" val="3.0"/>
  <p:tag name="KSO_WM_BEAUTIFY_FLAG" val="#wm#"/>
  <p:tag name="KSO_WM_UNIT_PRESET_TEXT" val="署名占位符"/>
</p:tagLst>
</file>

<file path=ppt/tags/tag83.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90"/>
  <p:tag name="KSO_WM_SLIDE_LAYOUT" val="a_e"/>
  <p:tag name="KSO_WM_SLIDE_LAYOUT_CNT" val="1_1"/>
  <p:tag name="KSO_WM_SLIDE_THEME_ID" val="3312678"/>
  <p:tag name="KSO_WM_SLIDE_THEME_NAME" val="Red Minimalist"/>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7990_7*a*1"/>
  <p:tag name="KSO_WM_TEMPLATE_CATEGORY" val="custom"/>
  <p:tag name="KSO_WM_TEMPLATE_INDEX" val="20237990"/>
  <p:tag name="KSO_WM_UNIT_LAYERLEVEL" val="1"/>
  <p:tag name="KSO_WM_TAG_VERSION" val="3.0"/>
  <p:tag name="KSO_WM_BEAUTIFY_FLAG" val="#wm#"/>
  <p:tag name="KSO_WM_UNIT_PRESET_TEXT" val="Your title here"/>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8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8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9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9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0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0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1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1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90"/>
  <p:tag name="KSO_WM_SLIDE_LAYOUT" val="a_e"/>
  <p:tag name="KSO_WM_SLIDE_LAYOUT_CNT" val="1_1"/>
  <p:tag name="KSO_WM_SLIDE_THEME_ID" val="3312678"/>
  <p:tag name="KSO_WM_SLIDE_THEME_NAME" val="Red Minimalist"/>
</p:tagLst>
</file>

<file path=ppt/tags/tag1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7990_7*a*1"/>
  <p:tag name="KSO_WM_TEMPLATE_CATEGORY" val="custom"/>
  <p:tag name="KSO_WM_TEMPLATE_INDEX" val="20237990"/>
  <p:tag name="KSO_WM_UNIT_LAYERLEVEL" val="1"/>
  <p:tag name="KSO_WM_TAG_VERSION" val="3.0"/>
  <p:tag name="KSO_WM_BEAUTIFY_FLAG" val="#wm#"/>
  <p:tag name="KSO_WM_UNIT_PRESET_TEXT" val="Your title here"/>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3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3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4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4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6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90"/>
  <p:tag name="KSO_WM_SLIDE_LAYOUT" val="a_e"/>
  <p:tag name="KSO_WM_SLIDE_LAYOUT_CNT" val="1_1"/>
  <p:tag name="KSO_WM_SLIDE_THEME_ID" val="3312678"/>
  <p:tag name="KSO_WM_SLIDE_THEME_NAME" val="Red Minimalist"/>
</p:tagLst>
</file>

<file path=ppt/tags/tag1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7990_7*a*1"/>
  <p:tag name="KSO_WM_TEMPLATE_CATEGORY" val="custom"/>
  <p:tag name="KSO_WM_TEMPLATE_INDEX" val="20237990"/>
  <p:tag name="KSO_WM_UNIT_LAYERLEVEL" val="1"/>
  <p:tag name="KSO_WM_TAG_VERSION" val="3.0"/>
  <p:tag name="KSO_WM_BEAUTIFY_FLAG" val="#wm#"/>
  <p:tag name="KSO_WM_UNIT_PRESET_TEXT" val="Your title here"/>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7990"/>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90"/>
  <p:tag name="KSO_WM_SLIDE_LAYOUT" val="a_e"/>
  <p:tag name="KSO_WM_SLIDE_LAYOUT_CNT" val="1_1"/>
  <p:tag name="KSO_WM_SLIDE_THEME_ID" val="3312678"/>
  <p:tag name="KSO_WM_SLIDE_THEME_NAME" val="Red Minimalist"/>
</p:tagLst>
</file>

<file path=ppt/tags/tag17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7990_7*a*1"/>
  <p:tag name="KSO_WM_TEMPLATE_CATEGORY" val="custom"/>
  <p:tag name="KSO_WM_TEMPLATE_INDEX" val="20237990"/>
  <p:tag name="KSO_WM_UNIT_LAYERLEVEL" val="1"/>
  <p:tag name="KSO_WM_TAG_VERSION" val="3.0"/>
  <p:tag name="KSO_WM_BEAUTIFY_FLAG" val="#wm#"/>
  <p:tag name="KSO_WM_UNIT_PRESET_TEXT" val="Your title here"/>
</p:tagLst>
</file>

<file path=ppt/tags/tag175.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90"/>
  <p:tag name="KSO_WM_SLIDE_LAYOUT" val="a_e"/>
  <p:tag name="KSO_WM_SLIDE_LAYOUT_CNT" val="1_1"/>
  <p:tag name="KSO_WM_SLIDE_THEME_ID" val="3312678"/>
  <p:tag name="KSO_WM_SLIDE_THEME_NAME" val="Red Minimalist"/>
</p:tagLst>
</file>

<file path=ppt/tags/tag1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7990_7*a*1"/>
  <p:tag name="KSO_WM_TEMPLATE_CATEGORY" val="custom"/>
  <p:tag name="KSO_WM_TEMPLATE_INDEX" val="20237990"/>
  <p:tag name="KSO_WM_UNIT_LAYERLEVEL" val="1"/>
  <p:tag name="KSO_WM_TAG_VERSION" val="3.0"/>
  <p:tag name="KSO_WM_BEAUTIFY_FLAG" val="#wm#"/>
  <p:tag name="KSO_WM_UNIT_PRESET_TEXT" val="Your title here"/>
</p:tagLst>
</file>

<file path=ppt/tags/tag177.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7"/>
  <p:tag name="KSO_WM_TEMPLATE_SUBCATEGORY" val="29"/>
  <p:tag name="KSO_WM_TEMPLATE_MASTER_TYPE" val="0"/>
  <p:tag name="KSO_WM_TEMPLATE_COLOR_TYPE" val="0"/>
  <p:tag name="KSO_WM_SLIDE_TYPE" val="sectionTitle"/>
  <p:tag name="KSO_WM_SLIDE_SUBTYPE" val="pureTxt"/>
  <p:tag name="KSO_WM_SLIDE_ITEM_CNT" val="0"/>
  <p:tag name="KSO_WM_SLIDE_INDEX" val="7"/>
  <p:tag name="KSO_WM_TAG_VERSION" val="3.0"/>
  <p:tag name="KSO_WM_BEAUTIFY_FLAG" val="#wm#"/>
  <p:tag name="KSO_WM_TEMPLATE_CATEGORY" val="custom"/>
  <p:tag name="KSO_WM_TEMPLATE_INDEX" val="20237990"/>
  <p:tag name="KSO_WM_SLIDE_LAYOUT" val="a_e"/>
  <p:tag name="KSO_WM_SLIDE_LAYOUT_CNT" val="1_1"/>
  <p:tag name="KSO_WM_SLIDE_THEME_ID" val="3312678"/>
  <p:tag name="KSO_WM_SLIDE_THEME_NAME" val="Red Minimalist"/>
</p:tagLst>
</file>

<file path=ppt/tags/tag1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7990_7*a*1"/>
  <p:tag name="KSO_WM_TEMPLATE_CATEGORY" val="custom"/>
  <p:tag name="KSO_WM_TEMPLATE_INDEX" val="20237990"/>
  <p:tag name="KSO_WM_UNIT_LAYERLEVEL" val="1"/>
  <p:tag name="KSO_WM_TAG_VERSION" val="3.0"/>
  <p:tag name="KSO_WM_BEAUTIFY_FLAG" val="#wm#"/>
  <p:tag name="KSO_WM_UNIT_PRESET_TEXT" val="Your title here"/>
</p:tagLst>
</file>

<file path=ppt/tags/tag179.xml><?xml version="1.0" encoding="utf-8"?>
<p:tagLst xmlns:a="http://schemas.openxmlformats.org/drawingml/2006/main" xmlns:r="http://schemas.openxmlformats.org/officeDocument/2006/relationships" xmlns:p="http://schemas.openxmlformats.org/presentationml/2006/main">
  <p:tag name="KSO_WM_SPECIAL_SOURCE" val="bdnull"/>
  <p:tag name="KSO_WM_SLIDE_ID" val="custom20237990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7990"/>
  <p:tag name="KSO_WM_SLIDE_LAYOUT" val="a_f"/>
  <p:tag name="KSO_WM_SLIDE_LAYOUT_CNT" val="1_2"/>
  <p:tag name="KSO_WM_SLIDE_THEME_ID" val="3312678"/>
  <p:tag name="KSO_WM_SLIDE_THEME_NAME" val="Red Minimalist"/>
</p:tagLst>
</file>

<file path=ppt/tags/tag1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37990_9*a*1"/>
  <p:tag name="KSO_WM_TEMPLATE_CATEGORY" val="custom"/>
  <p:tag name="KSO_WM_TEMPLATE_INDEX" val="20237990"/>
  <p:tag name="KSO_WM_UNIT_LAYERLEVEL" val="1"/>
  <p:tag name="KSO_WM_TAG_VERSION" val="3.0"/>
  <p:tag name="KSO_WM_BEAUTIFY_FLAG" val="#wm#"/>
  <p:tag name="KSO_WM_UNIT_PRESET_TEXT" val="THANK YOU"/>
</p:tagLst>
</file>

<file path=ppt/theme/theme1.xml><?xml version="1.0" encoding="utf-8"?>
<a:theme xmlns:a="http://schemas.openxmlformats.org/drawingml/2006/main" name="1_Office Theme">
  <a:themeElements>
    <a:clrScheme name="自定义 112">
      <a:dk1>
        <a:srgbClr val="000000"/>
      </a:dk1>
      <a:lt1>
        <a:srgbClr val="FFFFFF"/>
      </a:lt1>
      <a:dk2>
        <a:srgbClr val="61514D"/>
      </a:dk2>
      <a:lt2>
        <a:srgbClr val="E7E6E6"/>
      </a:lt2>
      <a:accent1>
        <a:srgbClr val="E03835"/>
      </a:accent1>
      <a:accent2>
        <a:srgbClr val="E65235"/>
      </a:accent2>
      <a:accent3>
        <a:srgbClr val="EC6C36"/>
      </a:accent3>
      <a:accent4>
        <a:srgbClr val="F38736"/>
      </a:accent4>
      <a:accent5>
        <a:srgbClr val="F9A137"/>
      </a:accent5>
      <a:accent6>
        <a:srgbClr val="FFB31F"/>
      </a:accent6>
      <a:hlink>
        <a:srgbClr val="0563C1"/>
      </a:hlink>
      <a:folHlink>
        <a:srgbClr val="954F72"/>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accent3">
                <a:lumMod val="80000"/>
                <a:lumOff val="20000"/>
              </a:schemeClr>
            </a:gs>
            <a:gs pos="50000">
              <a:schemeClr val="accent2"/>
            </a:gs>
            <a:gs pos="100000">
              <a:schemeClr val="accent1"/>
            </a:gs>
          </a:gsLst>
          <a:lin ang="10800000" scaled="0"/>
        </a:gradFill>
        <a:ln w="28575">
          <a:noFill/>
        </a:ln>
      </a:spPr>
      <a:bodyPr vertOverflow="overflow" horzOverflow="overflow" vert="horz" wrap="square" numCol="1" spcCol="0" rtlCol="0" fromWordArt="0" anchor="ctr" anchorCtr="0" forceAA="0" compatLnSpc="1">
        <a:noAutofit/>
      </a:bodyP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lang="en-US" b="1">
            <a:gradFill>
              <a:gsLst>
                <a:gs pos="0">
                  <a:schemeClr val="accent2">
                    <a:lumMod val="70000"/>
                    <a:lumOff val="30000"/>
                  </a:schemeClr>
                </a:gs>
                <a:gs pos="35000">
                  <a:schemeClr val="accent2"/>
                </a:gs>
                <a:gs pos="100000">
                  <a:schemeClr val="accent1"/>
                </a:gs>
              </a:gsLst>
              <a:lin ang="3000000" scaled="0"/>
            </a:gra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7632</Words>
  <Application>Microsoft Office PowerPoint</Application>
  <PresentationFormat>Widescreen</PresentationFormat>
  <Paragraphs>1424</Paragraphs>
  <Slides>129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129</vt:i4>
      </vt:variant>
    </vt:vector>
  </HeadingPairs>
  <TitlesOfParts>
    <vt:vector size="134" baseType="lpstr">
      <vt:lpstr>Arial</vt:lpstr>
      <vt:lpstr>Calibri</vt:lpstr>
      <vt:lpstr>Lato</vt:lpstr>
      <vt:lpstr>Manrope ExtraBold</vt:lpstr>
      <vt:lpstr>1_Office Theme</vt:lpstr>
      <vt:lpstr>SE421: Intellectual Property Rights and Cyber Laws</vt:lpstr>
      <vt:lpstr>Concept of Intellectual Property Rights (IPR)</vt:lpstr>
      <vt:lpstr>What is Intellectual Property (IP)?</vt:lpstr>
      <vt:lpstr>What are Intellectual Property Rights (IPR)?</vt:lpstr>
      <vt:lpstr>Definitions of IPR</vt:lpstr>
      <vt:lpstr>Why are Intellectual Property Rights Needed?</vt:lpstr>
      <vt:lpstr>Objectives of IPR</vt:lpstr>
      <vt:lpstr>Characteristics of Intellectual Property Rights</vt:lpstr>
      <vt:lpstr>Components of Intellectual Property</vt:lpstr>
      <vt:lpstr>Real-Life Examples</vt:lpstr>
      <vt:lpstr>Advantages of IPR</vt:lpstr>
      <vt:lpstr>Limitations of IPR</vt:lpstr>
      <vt:lpstr>Importance of IPR in the Digital Era</vt:lpstr>
      <vt:lpstr>Summary</vt:lpstr>
      <vt:lpstr>Historical Development of Intellectual Property Rights (IPR)</vt:lpstr>
      <vt:lpstr>Introduction</vt:lpstr>
      <vt:lpstr>Timeline of the Historical Development of IPR 1. Statute of Monopolies (1624) – England</vt:lpstr>
      <vt:lpstr>2. Statute of Anne (1710) – England</vt:lpstr>
      <vt:lpstr>3. Industrial Revolution (18th–19th Century)</vt:lpstr>
      <vt:lpstr>4. Paris Convention (1883)</vt:lpstr>
      <vt:lpstr>5. Berne Convention (1886)</vt:lpstr>
      <vt:lpstr>6. Establishment of WIPO (1967)</vt:lpstr>
      <vt:lpstr>7. WIPO Becomes a UN Specialized Agency (1974)</vt:lpstr>
      <vt:lpstr>8. TRIPS Agreement (1995)</vt:lpstr>
      <vt:lpstr>Evolution of IPR in India</vt:lpstr>
      <vt:lpstr>Evolution of IPR in India</vt:lpstr>
      <vt:lpstr>Evolution of IPR in India</vt:lpstr>
      <vt:lpstr>Timeline Summary</vt:lpstr>
      <vt:lpstr>Significance of the Historical Development of IPR</vt:lpstr>
      <vt:lpstr>Types of Intellectual Property Rights (IPR)</vt:lpstr>
      <vt:lpstr>Kinds of IPR</vt:lpstr>
      <vt:lpstr>Four Major IPRs</vt:lpstr>
      <vt:lpstr>Patent</vt:lpstr>
      <vt:lpstr>Requirements for a Patent</vt:lpstr>
      <vt:lpstr>Rights of a Patent Owner</vt:lpstr>
      <vt:lpstr>Patent Example</vt:lpstr>
      <vt:lpstr>Trademark</vt:lpstr>
      <vt:lpstr>Functions of a Trademark</vt:lpstr>
      <vt:lpstr>Examples of Trademarks</vt:lpstr>
      <vt:lpstr>Copyright</vt:lpstr>
      <vt:lpstr>Copyright and Software</vt:lpstr>
      <vt:lpstr>Rights of Copyright Owner</vt:lpstr>
      <vt:lpstr>Copyright Duration</vt:lpstr>
      <vt:lpstr>Industrial Design</vt:lpstr>
      <vt:lpstr>Examples of Industrial Design</vt:lpstr>
      <vt:lpstr>What Industrial Design Does NOT Protect</vt:lpstr>
      <vt:lpstr>Duration of Industrial Design</vt:lpstr>
      <vt:lpstr>Comparison of Four Major IPRs</vt:lpstr>
      <vt:lpstr>Importance of Intellectual Property Rights (IPR)</vt:lpstr>
      <vt:lpstr>Why is IPR Important?</vt:lpstr>
      <vt:lpstr>Protection of Innovation</vt:lpstr>
      <vt:lpstr>Encourages Research and Development</vt:lpstr>
      <vt:lpstr>Provides Economic Benefits</vt:lpstr>
      <vt:lpstr>Promotes Technology Transfer</vt:lpstr>
      <vt:lpstr>Supports Startups and Entrepreneurship</vt:lpstr>
      <vt:lpstr>Protects Brand Reputation</vt:lpstr>
      <vt:lpstr>Prevents Piracy and Counterfeiting</vt:lpstr>
      <vt:lpstr>Benefits of IPR to Different Stakeholders</vt:lpstr>
      <vt:lpstr>IPR AUTHORITIES</vt:lpstr>
      <vt:lpstr>What are IPR Authorities?</vt:lpstr>
      <vt:lpstr>World Intellectual Property Organization (WIPO)</vt:lpstr>
      <vt:lpstr>Functions of WIPO</vt:lpstr>
      <vt:lpstr>World Trade Organization (WTO) and TRIPS</vt:lpstr>
      <vt:lpstr>What Does TRIPS Cover?</vt:lpstr>
      <vt:lpstr>IPR Authorities in India</vt:lpstr>
      <vt:lpstr>CGPDTM</vt:lpstr>
      <vt:lpstr>Indian Patent Office</vt:lpstr>
      <vt:lpstr>Trade Marks Registry</vt:lpstr>
      <vt:lpstr>Designs Wing</vt:lpstr>
      <vt:lpstr>Geographical Indications Registry</vt:lpstr>
      <vt:lpstr>Copyright Office</vt:lpstr>
      <vt:lpstr>Intellectual Property Appellate Board – Historical Note</vt:lpstr>
      <vt:lpstr>International vs Indian IPR Authorities</vt:lpstr>
      <vt:lpstr>Patent</vt:lpstr>
      <vt:lpstr>What is a Patent?</vt:lpstr>
      <vt:lpstr>Why are Patents Important?</vt:lpstr>
      <vt:lpstr>What Can a Patent Protect?</vt:lpstr>
      <vt:lpstr>Patentability Requirements</vt:lpstr>
      <vt:lpstr>Understanding Novelty</vt:lpstr>
      <vt:lpstr>Understanding Inventive Step</vt:lpstr>
      <vt:lpstr>Industrial Applicability</vt:lpstr>
      <vt:lpstr>Indian Patent Law – Historical Background</vt:lpstr>
      <vt:lpstr>Indian Patents Act, 1970</vt:lpstr>
      <vt:lpstr>Why was the 1970 Act Important?</vt:lpstr>
      <vt:lpstr>2002 Amendment to the Patents Act</vt:lpstr>
      <vt:lpstr>2005 Amendment – Important Context</vt:lpstr>
      <vt:lpstr>Patentable Invention</vt:lpstr>
      <vt:lpstr>Non-Patentable Inventions</vt:lpstr>
      <vt:lpstr>Section 3 – Important Exclusions</vt:lpstr>
      <vt:lpstr>Section 4 – Atomic Energy</vt:lpstr>
      <vt:lpstr>Patent Application Process</vt:lpstr>
      <vt:lpstr>Step 1 – Identify the Invention</vt:lpstr>
      <vt:lpstr>Step 2 – Patent Search</vt:lpstr>
      <vt:lpstr>Step 3 – Filing the Application</vt:lpstr>
      <vt:lpstr>Provisional Specification</vt:lpstr>
      <vt:lpstr>Complete Specification</vt:lpstr>
      <vt:lpstr>Provisional vs Complete Specification</vt:lpstr>
      <vt:lpstr>Publication of Patent Application</vt:lpstr>
      <vt:lpstr>Request for Examination</vt:lpstr>
      <vt:lpstr>First Examination Report (FER)</vt:lpstr>
      <vt:lpstr>Grant of Patent</vt:lpstr>
      <vt:lpstr>Rights Conferred on a Patentee</vt:lpstr>
      <vt:lpstr>Commercial Rights of a Patentee</vt:lpstr>
      <vt:lpstr>Transfer of Patent</vt:lpstr>
      <vt:lpstr>Assignment vs Licensing</vt:lpstr>
      <vt:lpstr>Types of Patent Licenses</vt:lpstr>
      <vt:lpstr>Compulsory Licensing</vt:lpstr>
      <vt:lpstr>Surrender of Patent</vt:lpstr>
      <vt:lpstr>Revocation of Patent</vt:lpstr>
      <vt:lpstr>Who Can Seek Revocation?</vt:lpstr>
      <vt:lpstr>Patent Infringement</vt:lpstr>
      <vt:lpstr>Types of Patent Infringement</vt:lpstr>
      <vt:lpstr>Patent Infringement Example</vt:lpstr>
      <vt:lpstr>Action for Patent Infringement</vt:lpstr>
      <vt:lpstr>Defenses in Patent Infringement</vt:lpstr>
      <vt:lpstr>Patent Agents</vt:lpstr>
      <vt:lpstr>Qualification of Patent Agent</vt:lpstr>
      <vt:lpstr>Patent Agent vs Patent Attorney/Lawyer</vt:lpstr>
      <vt:lpstr>Patents and Computer Programs</vt:lpstr>
      <vt:lpstr>Software Copyright vs Software Patent</vt:lpstr>
      <vt:lpstr>Computer Program – Examples</vt:lpstr>
      <vt:lpstr>Patentability of AI-Based Inventions</vt:lpstr>
      <vt:lpstr>Patent Lifecycle</vt:lpstr>
      <vt:lpstr>Complete Patent Process – Example</vt:lpstr>
      <vt:lpstr>Patent vs Copyright</vt:lpstr>
      <vt:lpstr>Patent vs Trade Secret</vt:lpstr>
      <vt:lpstr>Advantages of Patenting</vt:lpstr>
      <vt:lpstr>Limitations of Patents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SE421: Intellectual Property Rights and Cyber Laws</dc:title>
  <dc:creator>girdh</dc:creator>
  <cp:lastModifiedBy>JATIN</cp:lastModifiedBy>
  <cp:revision>118</cp:revision>
  <dcterms:created xsi:type="dcterms:W3CDTF">2026-08-07T06:12:09Z</dcterms:created>
  <dcterms:modified xsi:type="dcterms:W3CDTF">2026-09-14T13:08:43Z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C4115015FDE04F2481B42636D3B4E394_11</vt:lpwstr>
  </property>
</Properties>
</file>